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58" r:id="rId2"/>
    <p:sldId id="256" r:id="rId3"/>
    <p:sldId id="259" r:id="rId4"/>
    <p:sldId id="260" r:id="rId5"/>
    <p:sldId id="261" r:id="rId6"/>
    <p:sldId id="266" r:id="rId7"/>
    <p:sldId id="267" r:id="rId8"/>
    <p:sldId id="263" r:id="rId9"/>
    <p:sldId id="268" r:id="rId10"/>
    <p:sldId id="264" r:id="rId11"/>
    <p:sldId id="269"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72223"/>
    <a:srgbClr val="C44831"/>
    <a:srgbClr val="E1A039"/>
    <a:srgbClr val="BF39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73" autoAdjust="0"/>
    <p:restoredTop sz="94660"/>
  </p:normalViewPr>
  <p:slideViewPr>
    <p:cSldViewPr snapToGrid="0">
      <p:cViewPr>
        <p:scale>
          <a:sx n="100" d="100"/>
          <a:sy n="100" d="100"/>
        </p:scale>
        <p:origin x="1152" y="408"/>
      </p:cViewPr>
      <p:guideLst/>
    </p:cSldViewPr>
  </p:slideViewPr>
  <p:notesTextViewPr>
    <p:cViewPr>
      <p:scale>
        <a:sx n="1" d="1"/>
        <a:sy n="1" d="1"/>
      </p:scale>
      <p:origin x="0" y="0"/>
    </p:cViewPr>
  </p:notesText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12DE2D2-FA68-483A-A21B-3A126BEA84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7FC5ACCE-BB7F-4C20-99B3-65798B079C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DE0CE69-4601-45EC-8CEC-6DC9CEADC5F1}" type="datetimeFigureOut">
              <a:rPr lang="en-IN" smtClean="0"/>
              <a:t>09-11-2020</a:t>
            </a:fld>
            <a:endParaRPr lang="en-IN"/>
          </a:p>
        </p:txBody>
      </p:sp>
      <p:sp>
        <p:nvSpPr>
          <p:cNvPr id="4" name="Footer Placeholder 3">
            <a:extLst>
              <a:ext uri="{FF2B5EF4-FFF2-40B4-BE49-F238E27FC236}">
                <a16:creationId xmlns:a16="http://schemas.microsoft.com/office/drawing/2014/main" id="{55163B68-C691-4AAD-9EA6-19D9F2985B3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3D803000-12A6-4729-AA24-2D2D7D20F06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629C97F-618B-454E-9422-2DE8CEAF59DB}" type="slidenum">
              <a:rPr lang="en-IN" smtClean="0"/>
              <a:t>‹#›</a:t>
            </a:fld>
            <a:endParaRPr lang="en-IN"/>
          </a:p>
        </p:txBody>
      </p:sp>
    </p:spTree>
    <p:extLst>
      <p:ext uri="{BB962C8B-B14F-4D97-AF65-F5344CB8AC3E}">
        <p14:creationId xmlns:p14="http://schemas.microsoft.com/office/powerpoint/2010/main" val="3728440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ECA289-70DA-4AB5-8CDA-BB1B8BCD13B8}" type="datetimeFigureOut">
              <a:rPr lang="en-IN" smtClean="0"/>
              <a:t>09-11-2020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79B379-8E63-438D-8B84-B9D28B8A73D0}" type="slidenum">
              <a:rPr lang="en-IN" smtClean="0"/>
              <a:t>‹#›</a:t>
            </a:fld>
            <a:endParaRPr lang="en-IN"/>
          </a:p>
        </p:txBody>
      </p:sp>
    </p:spTree>
    <p:extLst>
      <p:ext uri="{BB962C8B-B14F-4D97-AF65-F5344CB8AC3E}">
        <p14:creationId xmlns:p14="http://schemas.microsoft.com/office/powerpoint/2010/main" val="2181789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8" name="Group 27"/>
          <p:cNvGrpSpPr/>
          <p:nvPr userDrawn="1"/>
        </p:nvGrpSpPr>
        <p:grpSpPr>
          <a:xfrm>
            <a:off x="2285999" y="836566"/>
            <a:ext cx="9494109" cy="45719"/>
            <a:chOff x="2286000" y="836566"/>
            <a:chExt cx="6705600" cy="45719"/>
          </a:xfrm>
        </p:grpSpPr>
        <p:sp>
          <p:nvSpPr>
            <p:cNvPr id="19" name="Rectangle 18"/>
            <p:cNvSpPr/>
            <p:nvPr userDrawn="1"/>
          </p:nvSpPr>
          <p:spPr>
            <a:xfrm>
              <a:off x="2286000" y="836566"/>
              <a:ext cx="2286000" cy="45719"/>
            </a:xfrm>
            <a:prstGeom prst="rect">
              <a:avLst/>
            </a:prstGeom>
            <a:solidFill>
              <a:srgbClr val="B926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userDrawn="1"/>
          </p:nvSpPr>
          <p:spPr>
            <a:xfrm>
              <a:off x="4419600" y="836566"/>
              <a:ext cx="2286000" cy="45719"/>
            </a:xfrm>
            <a:prstGeom prst="rect">
              <a:avLst/>
            </a:prstGeom>
            <a:solidFill>
              <a:srgbClr val="CC5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userDrawn="1"/>
          </p:nvSpPr>
          <p:spPr>
            <a:xfrm>
              <a:off x="6705600" y="836566"/>
              <a:ext cx="2286000" cy="45719"/>
            </a:xfrm>
            <a:prstGeom prst="rect">
              <a:avLst/>
            </a:prstGeom>
            <a:solidFill>
              <a:srgbClr val="E2A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p:cNvGrpSpPr/>
          <p:nvPr userDrawn="1"/>
        </p:nvGrpSpPr>
        <p:grpSpPr>
          <a:xfrm>
            <a:off x="2969" y="6564630"/>
            <a:ext cx="12189031" cy="296454"/>
            <a:chOff x="2969" y="6564630"/>
            <a:chExt cx="9135589" cy="296454"/>
          </a:xfrm>
        </p:grpSpPr>
        <p:sp>
          <p:nvSpPr>
            <p:cNvPr id="22" name="Rectangle 21"/>
            <p:cNvSpPr/>
            <p:nvPr userDrawn="1"/>
          </p:nvSpPr>
          <p:spPr>
            <a:xfrm>
              <a:off x="2969" y="6564630"/>
              <a:ext cx="3044952" cy="293370"/>
            </a:xfrm>
            <a:prstGeom prst="rect">
              <a:avLst/>
            </a:prstGeom>
            <a:solidFill>
              <a:srgbClr val="B926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userDrawn="1"/>
          </p:nvSpPr>
          <p:spPr>
            <a:xfrm>
              <a:off x="3047921" y="6564630"/>
              <a:ext cx="3044952" cy="293370"/>
            </a:xfrm>
            <a:prstGeom prst="rect">
              <a:avLst/>
            </a:prstGeom>
            <a:solidFill>
              <a:srgbClr val="CC5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buNone/>
              </a:pPr>
              <a:r>
                <a:rPr lang="en-US" sz="1600" b="1" u="none" dirty="0">
                  <a:solidFill>
                    <a:schemeClr val="bg1"/>
                  </a:solidFill>
                  <a:latin typeface="Calibri" panose="020F0502020204030204" pitchFamily="34" charset="0"/>
                  <a:cs typeface="Calibri" panose="020F0502020204030204" pitchFamily="34" charset="0"/>
                </a:rPr>
                <a:t>www.infiiot.com</a:t>
              </a:r>
            </a:p>
          </p:txBody>
        </p:sp>
        <p:sp>
          <p:nvSpPr>
            <p:cNvPr id="24" name="Rectangle 23"/>
            <p:cNvSpPr/>
            <p:nvPr userDrawn="1"/>
          </p:nvSpPr>
          <p:spPr>
            <a:xfrm>
              <a:off x="6093606" y="6567714"/>
              <a:ext cx="3044952" cy="293370"/>
            </a:xfrm>
            <a:prstGeom prst="rect">
              <a:avLst/>
            </a:prstGeom>
            <a:solidFill>
              <a:srgbClr val="E2A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B0A99504-5BDB-4460-9058-8EBDE5D0107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2621" y="232497"/>
            <a:ext cx="1553340" cy="649788"/>
          </a:xfrm>
          <a:prstGeom prst="rect">
            <a:avLst/>
          </a:prstGeom>
        </p:spPr>
      </p:pic>
    </p:spTree>
    <p:extLst>
      <p:ext uri="{BB962C8B-B14F-4D97-AF65-F5344CB8AC3E}">
        <p14:creationId xmlns:p14="http://schemas.microsoft.com/office/powerpoint/2010/main" val="1674860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25495A9-5BB3-4911-89C3-EF4E5DEB1193}" type="datetimeFigureOut">
              <a:rPr lang="en-IN" smtClean="0"/>
              <a:t>09-11-2020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684040-9B12-496D-95BB-8499C2D37C6B}" type="slidenum">
              <a:rPr lang="en-IN" smtClean="0"/>
              <a:t>‹#›</a:t>
            </a:fld>
            <a:endParaRPr lang="en-IN"/>
          </a:p>
        </p:txBody>
      </p:sp>
    </p:spTree>
    <p:extLst>
      <p:ext uri="{BB962C8B-B14F-4D97-AF65-F5344CB8AC3E}">
        <p14:creationId xmlns:p14="http://schemas.microsoft.com/office/powerpoint/2010/main" val="2631959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25495A9-5BB3-4911-89C3-EF4E5DEB1193}" type="datetimeFigureOut">
              <a:rPr lang="en-IN" smtClean="0"/>
              <a:t>09-11-2020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684040-9B12-496D-95BB-8499C2D37C6B}" type="slidenum">
              <a:rPr lang="en-IN" smtClean="0"/>
              <a:t>‹#›</a:t>
            </a:fld>
            <a:endParaRPr lang="en-IN"/>
          </a:p>
        </p:txBody>
      </p:sp>
    </p:spTree>
    <p:extLst>
      <p:ext uri="{BB962C8B-B14F-4D97-AF65-F5344CB8AC3E}">
        <p14:creationId xmlns:p14="http://schemas.microsoft.com/office/powerpoint/2010/main" val="2955274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25495A9-5BB3-4911-89C3-EF4E5DEB1193}" type="datetimeFigureOut">
              <a:rPr lang="en-IN" smtClean="0"/>
              <a:t>09-11-2020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684040-9B12-496D-95BB-8499C2D37C6B}" type="slidenum">
              <a:rPr lang="en-IN" smtClean="0"/>
              <a:t>‹#›</a:t>
            </a:fld>
            <a:endParaRPr lang="en-IN"/>
          </a:p>
        </p:txBody>
      </p:sp>
    </p:spTree>
    <p:extLst>
      <p:ext uri="{BB962C8B-B14F-4D97-AF65-F5344CB8AC3E}">
        <p14:creationId xmlns:p14="http://schemas.microsoft.com/office/powerpoint/2010/main" val="1551597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25495A9-5BB3-4911-89C3-EF4E5DEB1193}" type="datetimeFigureOut">
              <a:rPr lang="en-IN" smtClean="0"/>
              <a:t>09-11-2020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1684040-9B12-496D-95BB-8499C2D37C6B}" type="slidenum">
              <a:rPr lang="en-IN" smtClean="0"/>
              <a:t>‹#›</a:t>
            </a:fld>
            <a:endParaRPr lang="en-IN"/>
          </a:p>
        </p:txBody>
      </p:sp>
    </p:spTree>
    <p:extLst>
      <p:ext uri="{BB962C8B-B14F-4D97-AF65-F5344CB8AC3E}">
        <p14:creationId xmlns:p14="http://schemas.microsoft.com/office/powerpoint/2010/main" val="2573356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25495A9-5BB3-4911-89C3-EF4E5DEB1193}" type="datetimeFigureOut">
              <a:rPr lang="en-IN" smtClean="0"/>
              <a:t>09-11-2020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1684040-9B12-496D-95BB-8499C2D37C6B}" type="slidenum">
              <a:rPr lang="en-IN" smtClean="0"/>
              <a:t>‹#›</a:t>
            </a:fld>
            <a:endParaRPr lang="en-IN"/>
          </a:p>
        </p:txBody>
      </p:sp>
    </p:spTree>
    <p:extLst>
      <p:ext uri="{BB962C8B-B14F-4D97-AF65-F5344CB8AC3E}">
        <p14:creationId xmlns:p14="http://schemas.microsoft.com/office/powerpoint/2010/main" val="2424009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5495A9-5BB3-4911-89C3-EF4E5DEB1193}" type="datetimeFigureOut">
              <a:rPr lang="en-IN" smtClean="0"/>
              <a:t>09-11-2020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1684040-9B12-496D-95BB-8499C2D37C6B}" type="slidenum">
              <a:rPr lang="en-IN" smtClean="0"/>
              <a:t>‹#›</a:t>
            </a:fld>
            <a:endParaRPr lang="en-IN"/>
          </a:p>
        </p:txBody>
      </p:sp>
    </p:spTree>
    <p:extLst>
      <p:ext uri="{BB962C8B-B14F-4D97-AF65-F5344CB8AC3E}">
        <p14:creationId xmlns:p14="http://schemas.microsoft.com/office/powerpoint/2010/main" val="3252634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25495A9-5BB3-4911-89C3-EF4E5DEB1193}" type="datetimeFigureOut">
              <a:rPr lang="en-IN" smtClean="0"/>
              <a:t>09-11-2020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684040-9B12-496D-95BB-8499C2D37C6B}" type="slidenum">
              <a:rPr lang="en-IN" smtClean="0"/>
              <a:t>‹#›</a:t>
            </a:fld>
            <a:endParaRPr lang="en-IN"/>
          </a:p>
        </p:txBody>
      </p:sp>
    </p:spTree>
    <p:extLst>
      <p:ext uri="{BB962C8B-B14F-4D97-AF65-F5344CB8AC3E}">
        <p14:creationId xmlns:p14="http://schemas.microsoft.com/office/powerpoint/2010/main" val="2140832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25495A9-5BB3-4911-89C3-EF4E5DEB1193}" type="datetimeFigureOut">
              <a:rPr lang="en-IN" smtClean="0"/>
              <a:t>09-11-2020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684040-9B12-496D-95BB-8499C2D37C6B}" type="slidenum">
              <a:rPr lang="en-IN" smtClean="0"/>
              <a:t>‹#›</a:t>
            </a:fld>
            <a:endParaRPr lang="en-IN"/>
          </a:p>
        </p:txBody>
      </p:sp>
    </p:spTree>
    <p:extLst>
      <p:ext uri="{BB962C8B-B14F-4D97-AF65-F5344CB8AC3E}">
        <p14:creationId xmlns:p14="http://schemas.microsoft.com/office/powerpoint/2010/main" val="695624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25495A9-5BB3-4911-89C3-EF4E5DEB1193}" type="datetimeFigureOut">
              <a:rPr lang="en-IN" smtClean="0"/>
              <a:t>09-11-2020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684040-9B12-496D-95BB-8499C2D37C6B}" type="slidenum">
              <a:rPr lang="en-IN" smtClean="0"/>
              <a:t>‹#›</a:t>
            </a:fld>
            <a:endParaRPr lang="en-IN"/>
          </a:p>
        </p:txBody>
      </p:sp>
    </p:spTree>
    <p:extLst>
      <p:ext uri="{BB962C8B-B14F-4D97-AF65-F5344CB8AC3E}">
        <p14:creationId xmlns:p14="http://schemas.microsoft.com/office/powerpoint/2010/main" val="2973848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25495A9-5BB3-4911-89C3-EF4E5DEB1193}" type="datetimeFigureOut">
              <a:rPr lang="en-IN" smtClean="0"/>
              <a:t>09-11-2020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684040-9B12-496D-95BB-8499C2D37C6B}" type="slidenum">
              <a:rPr lang="en-IN" smtClean="0"/>
              <a:t>‹#›</a:t>
            </a:fld>
            <a:endParaRPr lang="en-IN"/>
          </a:p>
        </p:txBody>
      </p:sp>
    </p:spTree>
    <p:extLst>
      <p:ext uri="{BB962C8B-B14F-4D97-AF65-F5344CB8AC3E}">
        <p14:creationId xmlns:p14="http://schemas.microsoft.com/office/powerpoint/2010/main" val="48814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5495A9-5BB3-4911-89C3-EF4E5DEB1193}" type="datetimeFigureOut">
              <a:rPr lang="en-IN" smtClean="0"/>
              <a:t>09-11-2020</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684040-9B12-496D-95BB-8499C2D37C6B}" type="slidenum">
              <a:rPr lang="en-IN" smtClean="0"/>
              <a:t>‹#›</a:t>
            </a:fld>
            <a:endParaRPr lang="en-IN"/>
          </a:p>
        </p:txBody>
      </p:sp>
    </p:spTree>
    <p:extLst>
      <p:ext uri="{BB962C8B-B14F-4D97-AF65-F5344CB8AC3E}">
        <p14:creationId xmlns:p14="http://schemas.microsoft.com/office/powerpoint/2010/main" val="39748421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5238DAB-E306-4301-BAF7-22C5E27C4582}"/>
              </a:ext>
            </a:extLst>
          </p:cNvPr>
          <p:cNvSpPr/>
          <p:nvPr/>
        </p:nvSpPr>
        <p:spPr>
          <a:xfrm>
            <a:off x="6756725" y="4723002"/>
            <a:ext cx="3603678" cy="707886"/>
          </a:xfrm>
          <a:prstGeom prst="rect">
            <a:avLst/>
          </a:prstGeom>
          <a:noFill/>
        </p:spPr>
        <p:txBody>
          <a:bodyPr wrap="square" lIns="91440" tIns="45720" rIns="91440" bIns="45720">
            <a:spAutoFit/>
          </a:bodyPr>
          <a:lstStyle/>
          <a:p>
            <a:pPr algn="ctr"/>
            <a:r>
              <a:rPr lang="en-US" sz="4000" b="0" cap="none" spc="0" dirty="0">
                <a:ln w="0"/>
                <a:solidFill>
                  <a:srgbClr val="B72223"/>
                </a:solidFill>
                <a:effectLst>
                  <a:outerShdw blurRad="38100" dist="19050" dir="2700000" algn="tl" rotWithShape="0">
                    <a:schemeClr val="dk1">
                      <a:alpha val="40000"/>
                    </a:schemeClr>
                  </a:outerShdw>
                </a:effectLst>
              </a:rPr>
              <a:t>-Pitch Deck</a:t>
            </a:r>
          </a:p>
        </p:txBody>
      </p:sp>
      <p:pic>
        <p:nvPicPr>
          <p:cNvPr id="8" name="Picture 7">
            <a:extLst>
              <a:ext uri="{FF2B5EF4-FFF2-40B4-BE49-F238E27FC236}">
                <a16:creationId xmlns:a16="http://schemas.microsoft.com/office/drawing/2014/main" id="{58E05F2C-FC98-4AEC-A0EC-580C654A82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43104" y="742935"/>
            <a:ext cx="6305792" cy="3308980"/>
          </a:xfrm>
          <a:prstGeom prst="rect">
            <a:avLst/>
          </a:prstGeom>
        </p:spPr>
      </p:pic>
    </p:spTree>
    <p:extLst>
      <p:ext uri="{BB962C8B-B14F-4D97-AF65-F5344CB8AC3E}">
        <p14:creationId xmlns:p14="http://schemas.microsoft.com/office/powerpoint/2010/main" val="2224346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096000" y="125917"/>
            <a:ext cx="5742278" cy="769441"/>
          </a:xfrm>
          <a:prstGeom prst="rect">
            <a:avLst/>
          </a:prstGeom>
          <a:noFill/>
        </p:spPr>
        <p:txBody>
          <a:bodyPr wrap="none" rtlCol="0">
            <a:spAutoFit/>
          </a:bodyPr>
          <a:lstStyle/>
          <a:p>
            <a:r>
              <a:rPr lang="en-IN" sz="4400" b="1" dirty="0">
                <a:solidFill>
                  <a:srgbClr val="C44831"/>
                </a:solidFill>
              </a:rPr>
              <a:t>OUR VISION &amp; MISSION</a:t>
            </a:r>
          </a:p>
        </p:txBody>
      </p:sp>
      <p:sp>
        <p:nvSpPr>
          <p:cNvPr id="9" name="TextBox 8"/>
          <p:cNvSpPr txBox="1"/>
          <p:nvPr/>
        </p:nvSpPr>
        <p:spPr>
          <a:xfrm>
            <a:off x="517669" y="1238271"/>
            <a:ext cx="10521631" cy="5493812"/>
          </a:xfrm>
          <a:prstGeom prst="rect">
            <a:avLst/>
          </a:prstGeom>
          <a:noFill/>
        </p:spPr>
        <p:txBody>
          <a:bodyPr wrap="square" rtlCol="0">
            <a:spAutoFit/>
          </a:bodyPr>
          <a:lstStyle/>
          <a:p>
            <a:pPr marL="431800">
              <a:lnSpc>
                <a:spcPct val="150000"/>
              </a:lnSpc>
              <a:spcAft>
                <a:spcPts val="0"/>
              </a:spcAft>
            </a:pPr>
            <a:endParaRPr lang="en-US" sz="1800" dirty="0">
              <a:solidFill>
                <a:srgbClr val="808080"/>
              </a:solidFill>
              <a:effectLst/>
              <a:latin typeface="Verdana" panose="020B0604030504040204" pitchFamily="34" charset="0"/>
              <a:ea typeface="Verdana" panose="020B0604030504040204" pitchFamily="34" charset="0"/>
              <a:cs typeface="Arial" panose="020B0604020202020204" pitchFamily="34" charset="0"/>
            </a:endParaRPr>
          </a:p>
          <a:p>
            <a:pPr marL="431800">
              <a:lnSpc>
                <a:spcPct val="150000"/>
              </a:lnSpc>
              <a:spcAft>
                <a:spcPts val="0"/>
              </a:spcAft>
            </a:pPr>
            <a:r>
              <a:rPr lang="en-US" sz="1800" dirty="0">
                <a:solidFill>
                  <a:srgbClr val="808080"/>
                </a:solidFill>
                <a:effectLst/>
                <a:latin typeface="Verdana" panose="020B0604030504040204" pitchFamily="34" charset="0"/>
                <a:ea typeface="Verdana" panose="020B0604030504040204" pitchFamily="34" charset="0"/>
                <a:cs typeface="Arial" panose="020B0604020202020204" pitchFamily="34" charset="0"/>
              </a:rPr>
              <a:t>Our Vision:  </a:t>
            </a:r>
            <a:endParaRPr lang="en-IN" sz="1800" dirty="0">
              <a:effectLst/>
              <a:latin typeface="Gill Sans MT" panose="020B0502020104020203" pitchFamily="34" charset="0"/>
              <a:ea typeface="Times New Roman" panose="02020603050405020304" pitchFamily="18" charset="0"/>
              <a:cs typeface="Mangal" panose="02040503050203030202" pitchFamily="18" charset="0"/>
            </a:endParaRPr>
          </a:p>
          <a:p>
            <a:pPr marL="431800">
              <a:lnSpc>
                <a:spcPct val="150000"/>
              </a:lnSpc>
              <a:spcAft>
                <a:spcPts val="0"/>
              </a:spcAft>
            </a:pPr>
            <a:r>
              <a:rPr lang="en-US" sz="1800" dirty="0">
                <a:solidFill>
                  <a:srgbClr val="808080"/>
                </a:solidFill>
                <a:effectLst/>
                <a:latin typeface="Verdana" panose="020B0604030504040204" pitchFamily="34" charset="0"/>
                <a:ea typeface="Verdana" panose="020B0604030504040204" pitchFamily="34" charset="0"/>
                <a:cs typeface="Arial" panose="020B0604020202020204" pitchFamily="34" charset="0"/>
              </a:rPr>
              <a:t>		</a:t>
            </a:r>
            <a:r>
              <a:rPr lang="en-US" sz="1800" dirty="0">
                <a:effectLst/>
                <a:latin typeface="Verdana" panose="020B0604030504040204" pitchFamily="34" charset="0"/>
                <a:ea typeface="Verdana" panose="020B0604030504040204" pitchFamily="34" charset="0"/>
                <a:cs typeface="Arial" panose="020B0604020202020204" pitchFamily="34" charset="0"/>
              </a:rPr>
              <a:t>To be a world class leader in creating fine technological solutions when it 		comes to Internet of Things and making a smooth and noteworthy 			transition of industries to Industry 4.0.</a:t>
            </a:r>
            <a:endParaRPr lang="en-IN" sz="1800" dirty="0">
              <a:effectLst/>
              <a:latin typeface="Gill Sans MT" panose="020B0502020104020203" pitchFamily="34" charset="0"/>
              <a:ea typeface="Times New Roman" panose="02020603050405020304" pitchFamily="18" charset="0"/>
              <a:cs typeface="Mangal" panose="02040503050203030202" pitchFamily="18" charset="0"/>
            </a:endParaRPr>
          </a:p>
          <a:p>
            <a:endParaRPr lang="en-US" dirty="0"/>
          </a:p>
          <a:p>
            <a:pPr marL="431800">
              <a:lnSpc>
                <a:spcPct val="150000"/>
              </a:lnSpc>
              <a:spcAft>
                <a:spcPts val="0"/>
              </a:spcAft>
            </a:pPr>
            <a:r>
              <a:rPr lang="en-US" sz="1800" dirty="0">
                <a:solidFill>
                  <a:srgbClr val="808080"/>
                </a:solidFill>
                <a:effectLst/>
                <a:latin typeface="Verdana" panose="020B0604030504040204" pitchFamily="34" charset="0"/>
                <a:ea typeface="Verdana" panose="020B0604030504040204" pitchFamily="34" charset="0"/>
                <a:cs typeface="Arial" panose="020B0604020202020204" pitchFamily="34" charset="0"/>
              </a:rPr>
              <a:t>Our Mission: </a:t>
            </a:r>
            <a:endParaRPr lang="en-IN" sz="1800" dirty="0">
              <a:effectLst/>
              <a:latin typeface="Gill Sans MT" panose="020B0502020104020203" pitchFamily="34" charset="0"/>
              <a:ea typeface="Times New Roman" panose="02020603050405020304" pitchFamily="18" charset="0"/>
              <a:cs typeface="Mangal" panose="02040503050203030202" pitchFamily="18" charset="0"/>
            </a:endParaRPr>
          </a:p>
          <a:p>
            <a:pPr marL="431800">
              <a:lnSpc>
                <a:spcPct val="150000"/>
              </a:lnSpc>
              <a:spcAft>
                <a:spcPts val="0"/>
              </a:spcAft>
            </a:pPr>
            <a:r>
              <a:rPr lang="en-US" sz="1800" dirty="0">
                <a:effectLst/>
                <a:latin typeface="Verdana" panose="020B0604030504040204" pitchFamily="34" charset="0"/>
                <a:ea typeface="Verdana" panose="020B0604030504040204" pitchFamily="34" charset="0"/>
                <a:cs typeface="Arial" panose="020B0604020202020204" pitchFamily="34" charset="0"/>
              </a:rPr>
              <a:t>		To offer a one-stop IoT Suite solution containing most advanced and easy 		to use IoT hardware and IoT Software platform and to exchange our 			expertise with students.</a:t>
            </a:r>
            <a:endParaRPr lang="en-IN" sz="1800" dirty="0">
              <a:effectLst/>
              <a:latin typeface="Gill Sans MT" panose="020B0502020104020203" pitchFamily="34" charset="0"/>
              <a:ea typeface="Times New Roman" panose="02020603050405020304" pitchFamily="18" charset="0"/>
              <a:cs typeface="Mangal" panose="02040503050203030202" pitchFamily="18" charset="0"/>
            </a:endParaRPr>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156481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9036270" y="152400"/>
            <a:ext cx="2626040" cy="769441"/>
          </a:xfrm>
          <a:prstGeom prst="rect">
            <a:avLst/>
          </a:prstGeom>
          <a:noFill/>
        </p:spPr>
        <p:txBody>
          <a:bodyPr wrap="none" rtlCol="0">
            <a:spAutoFit/>
          </a:bodyPr>
          <a:lstStyle/>
          <a:p>
            <a:r>
              <a:rPr lang="en-IN" sz="4400" b="1" dirty="0">
                <a:solidFill>
                  <a:srgbClr val="C44831"/>
                </a:solidFill>
              </a:rPr>
              <a:t>ABOUT</a:t>
            </a:r>
            <a:r>
              <a:rPr lang="en-IN" sz="4400" b="1" i="1" dirty="0">
                <a:solidFill>
                  <a:srgbClr val="C44831"/>
                </a:solidFill>
              </a:rPr>
              <a:t> US</a:t>
            </a:r>
          </a:p>
        </p:txBody>
      </p:sp>
      <p:sp>
        <p:nvSpPr>
          <p:cNvPr id="3" name="TextBox 2"/>
          <p:cNvSpPr txBox="1"/>
          <p:nvPr/>
        </p:nvSpPr>
        <p:spPr>
          <a:xfrm>
            <a:off x="856155" y="1987088"/>
            <a:ext cx="10670317" cy="646331"/>
          </a:xfrm>
          <a:prstGeom prst="rect">
            <a:avLst/>
          </a:prstGeom>
          <a:noFill/>
        </p:spPr>
        <p:txBody>
          <a:bodyPr wrap="square" rtlCol="0">
            <a:spAutoFit/>
          </a:bodyPr>
          <a:lstStyle/>
          <a:p>
            <a:r>
              <a:rPr lang="en-US" b="0" i="0" dirty="0">
                <a:effectLst/>
              </a:rPr>
              <a:t>We work in domains such as Embedded design, IoT, Industrial automation, Home Automation, Robotics, Product </a:t>
            </a:r>
            <a:r>
              <a:rPr lang="en-US" dirty="0"/>
              <a:t>D</a:t>
            </a:r>
            <a:r>
              <a:rPr lang="en-US" b="0" i="0" dirty="0">
                <a:effectLst/>
              </a:rPr>
              <a:t>esign, Electronics </a:t>
            </a:r>
            <a:r>
              <a:rPr lang="en-US" dirty="0"/>
              <a:t>P</a:t>
            </a:r>
            <a:r>
              <a:rPr lang="en-US" b="0" i="0" dirty="0">
                <a:effectLst/>
              </a:rPr>
              <a:t>roduct </a:t>
            </a:r>
            <a:r>
              <a:rPr lang="en-US" dirty="0"/>
              <a:t>C</a:t>
            </a:r>
            <a:r>
              <a:rPr lang="en-US" b="0" i="0" dirty="0">
                <a:effectLst/>
              </a:rPr>
              <a:t>onsultancy.</a:t>
            </a:r>
            <a:endParaRPr lang="en-US" cap="all" dirty="0"/>
          </a:p>
        </p:txBody>
      </p:sp>
      <p:sp>
        <p:nvSpPr>
          <p:cNvPr id="4" name="TextBox 3"/>
          <p:cNvSpPr txBox="1"/>
          <p:nvPr/>
        </p:nvSpPr>
        <p:spPr>
          <a:xfrm>
            <a:off x="856155" y="1454614"/>
            <a:ext cx="2279791" cy="553998"/>
          </a:xfrm>
          <a:prstGeom prst="rect">
            <a:avLst/>
          </a:prstGeom>
          <a:noFill/>
        </p:spPr>
        <p:txBody>
          <a:bodyPr wrap="none" rtlCol="0">
            <a:spAutoFit/>
          </a:bodyPr>
          <a:lstStyle/>
          <a:p>
            <a:r>
              <a:rPr lang="en-IN" sz="3000" b="1" dirty="0">
                <a:solidFill>
                  <a:srgbClr val="C44831"/>
                </a:solidFill>
              </a:rPr>
              <a:t>Our Domains</a:t>
            </a:r>
          </a:p>
        </p:txBody>
      </p:sp>
      <p:sp>
        <p:nvSpPr>
          <p:cNvPr id="5" name="TextBox 4"/>
          <p:cNvSpPr txBox="1"/>
          <p:nvPr/>
        </p:nvSpPr>
        <p:spPr>
          <a:xfrm>
            <a:off x="856155" y="4203057"/>
            <a:ext cx="10670316" cy="923330"/>
          </a:xfrm>
          <a:prstGeom prst="rect">
            <a:avLst/>
          </a:prstGeom>
          <a:noFill/>
        </p:spPr>
        <p:txBody>
          <a:bodyPr wrap="square" rtlCol="0">
            <a:spAutoFit/>
          </a:bodyPr>
          <a:lstStyle/>
          <a:p>
            <a:r>
              <a:rPr lang="en-US" b="0" i="0" dirty="0">
                <a:effectLst/>
                <a:latin typeface="Whitney"/>
              </a:rPr>
              <a:t>We help our clients to convert their electronics products idea into reality. We provide consultancy to sectors like industries, agricultural, medical, defense, and give technically viable solutions to them. Alongside, We also develop our product includes IoT platform solutions, precision sensors, and other application devices.</a:t>
            </a:r>
            <a:endParaRPr lang="en-US" cap="all" dirty="0"/>
          </a:p>
        </p:txBody>
      </p:sp>
      <p:sp>
        <p:nvSpPr>
          <p:cNvPr id="6" name="TextBox 5"/>
          <p:cNvSpPr txBox="1"/>
          <p:nvPr/>
        </p:nvSpPr>
        <p:spPr>
          <a:xfrm>
            <a:off x="856155" y="3654925"/>
            <a:ext cx="2381165" cy="553998"/>
          </a:xfrm>
          <a:prstGeom prst="rect">
            <a:avLst/>
          </a:prstGeom>
          <a:noFill/>
        </p:spPr>
        <p:txBody>
          <a:bodyPr wrap="none" rtlCol="0">
            <a:spAutoFit/>
          </a:bodyPr>
          <a:lstStyle/>
          <a:p>
            <a:r>
              <a:rPr lang="en-IN" sz="3000" b="1" dirty="0">
                <a:solidFill>
                  <a:srgbClr val="C44831"/>
                </a:solidFill>
              </a:rPr>
              <a:t>WHAT WE DO</a:t>
            </a:r>
          </a:p>
        </p:txBody>
      </p:sp>
    </p:spTree>
    <p:extLst>
      <p:ext uri="{BB962C8B-B14F-4D97-AF65-F5344CB8AC3E}">
        <p14:creationId xmlns:p14="http://schemas.microsoft.com/office/powerpoint/2010/main" val="1769690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036270" y="152400"/>
            <a:ext cx="2758640" cy="769441"/>
          </a:xfrm>
          <a:prstGeom prst="rect">
            <a:avLst/>
          </a:prstGeom>
          <a:noFill/>
        </p:spPr>
        <p:txBody>
          <a:bodyPr wrap="none" rtlCol="0">
            <a:spAutoFit/>
          </a:bodyPr>
          <a:lstStyle/>
          <a:p>
            <a:r>
              <a:rPr lang="en-IN" sz="4400" b="1" dirty="0">
                <a:solidFill>
                  <a:srgbClr val="C44831"/>
                </a:solidFill>
              </a:rPr>
              <a:t>OUR</a:t>
            </a:r>
            <a:r>
              <a:rPr lang="en-IN" sz="4400" b="1" i="1" dirty="0">
                <a:solidFill>
                  <a:srgbClr val="C44831"/>
                </a:solidFill>
              </a:rPr>
              <a:t> </a:t>
            </a:r>
            <a:r>
              <a:rPr lang="en-IN" sz="4400" b="1" dirty="0">
                <a:solidFill>
                  <a:srgbClr val="C44831"/>
                </a:solidFill>
              </a:rPr>
              <a:t>TEAM</a:t>
            </a:r>
          </a:p>
        </p:txBody>
      </p:sp>
      <p:pic>
        <p:nvPicPr>
          <p:cNvPr id="1030" name="Picture 6">
            <a:extLst>
              <a:ext uri="{FF2B5EF4-FFF2-40B4-BE49-F238E27FC236}">
                <a16:creationId xmlns:a16="http://schemas.microsoft.com/office/drawing/2014/main" id="{0D26290C-C9A3-4328-B282-D7C1DEF2C9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7874" y="1735430"/>
            <a:ext cx="1104900" cy="28670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DA680C6-2D41-4045-B2CE-751A442C3741}"/>
              </a:ext>
            </a:extLst>
          </p:cNvPr>
          <p:cNvSpPr txBox="1"/>
          <p:nvPr/>
        </p:nvSpPr>
        <p:spPr>
          <a:xfrm>
            <a:off x="5792772" y="1784855"/>
            <a:ext cx="1583059" cy="461665"/>
          </a:xfrm>
          <a:prstGeom prst="rect">
            <a:avLst/>
          </a:prstGeom>
          <a:noFill/>
        </p:spPr>
        <p:txBody>
          <a:bodyPr wrap="square" rtlCol="0">
            <a:spAutoFit/>
          </a:bodyPr>
          <a:lstStyle/>
          <a:p>
            <a:pPr algn="ctr"/>
            <a:r>
              <a:rPr lang="en-IN" sz="1200" b="1" dirty="0"/>
              <a:t>Narendra Rajpurohit</a:t>
            </a:r>
          </a:p>
          <a:p>
            <a:pPr algn="ctr"/>
            <a:r>
              <a:rPr lang="en-IN" sz="1200" b="1" dirty="0"/>
              <a:t>(Marketing Executive)</a:t>
            </a:r>
          </a:p>
        </p:txBody>
      </p:sp>
      <p:sp>
        <p:nvSpPr>
          <p:cNvPr id="6" name="TextBox 5">
            <a:extLst>
              <a:ext uri="{FF2B5EF4-FFF2-40B4-BE49-F238E27FC236}">
                <a16:creationId xmlns:a16="http://schemas.microsoft.com/office/drawing/2014/main" id="{297A7A3A-A9AF-4CE4-935F-8CDCFC3D2D12}"/>
              </a:ext>
            </a:extLst>
          </p:cNvPr>
          <p:cNvSpPr txBox="1"/>
          <p:nvPr/>
        </p:nvSpPr>
        <p:spPr>
          <a:xfrm>
            <a:off x="5792772" y="2757610"/>
            <a:ext cx="1583059" cy="461665"/>
          </a:xfrm>
          <a:prstGeom prst="rect">
            <a:avLst/>
          </a:prstGeom>
          <a:noFill/>
        </p:spPr>
        <p:txBody>
          <a:bodyPr wrap="square" rtlCol="0">
            <a:spAutoFit/>
          </a:bodyPr>
          <a:lstStyle/>
          <a:p>
            <a:pPr algn="ctr"/>
            <a:r>
              <a:rPr lang="en-IN" sz="1200" b="1" dirty="0"/>
              <a:t>Anil Rajpurohit</a:t>
            </a:r>
          </a:p>
          <a:p>
            <a:pPr algn="ctr"/>
            <a:r>
              <a:rPr lang="en-IN" sz="1200" b="1" dirty="0"/>
              <a:t>(Full Stack Developer)</a:t>
            </a:r>
          </a:p>
        </p:txBody>
      </p:sp>
      <p:sp>
        <p:nvSpPr>
          <p:cNvPr id="7" name="TextBox 6">
            <a:extLst>
              <a:ext uri="{FF2B5EF4-FFF2-40B4-BE49-F238E27FC236}">
                <a16:creationId xmlns:a16="http://schemas.microsoft.com/office/drawing/2014/main" id="{01A437EB-AED8-4033-ADB1-97882ADB16EC}"/>
              </a:ext>
            </a:extLst>
          </p:cNvPr>
          <p:cNvSpPr txBox="1"/>
          <p:nvPr/>
        </p:nvSpPr>
        <p:spPr>
          <a:xfrm>
            <a:off x="5792772" y="3806505"/>
            <a:ext cx="1583059" cy="461665"/>
          </a:xfrm>
          <a:prstGeom prst="rect">
            <a:avLst/>
          </a:prstGeom>
          <a:noFill/>
        </p:spPr>
        <p:txBody>
          <a:bodyPr wrap="square" rtlCol="0">
            <a:spAutoFit/>
          </a:bodyPr>
          <a:lstStyle/>
          <a:p>
            <a:pPr algn="ctr"/>
            <a:r>
              <a:rPr lang="en-IN" sz="1200" b="1" dirty="0"/>
              <a:t>Arpit Shrivastava</a:t>
            </a:r>
          </a:p>
          <a:p>
            <a:pPr algn="ctr"/>
            <a:r>
              <a:rPr lang="en-IN" sz="1200" b="1" dirty="0"/>
              <a:t>(Product Designer)</a:t>
            </a:r>
          </a:p>
        </p:txBody>
      </p:sp>
      <p:sp>
        <p:nvSpPr>
          <p:cNvPr id="13" name="TextBox 12">
            <a:extLst>
              <a:ext uri="{FF2B5EF4-FFF2-40B4-BE49-F238E27FC236}">
                <a16:creationId xmlns:a16="http://schemas.microsoft.com/office/drawing/2014/main" id="{3F10BC3C-EAE2-4D00-80C0-8B00BE3FE6C2}"/>
              </a:ext>
            </a:extLst>
          </p:cNvPr>
          <p:cNvSpPr txBox="1"/>
          <p:nvPr/>
        </p:nvSpPr>
        <p:spPr>
          <a:xfrm>
            <a:off x="1732326" y="5244030"/>
            <a:ext cx="8727347" cy="830997"/>
          </a:xfrm>
          <a:prstGeom prst="rect">
            <a:avLst/>
          </a:prstGeom>
          <a:noFill/>
        </p:spPr>
        <p:txBody>
          <a:bodyPr wrap="square" rtlCol="0">
            <a:spAutoFit/>
          </a:bodyPr>
          <a:lstStyle/>
          <a:p>
            <a:pPr algn="ctr"/>
            <a:r>
              <a:rPr lang="en-US" sz="1600" b="0" i="0" dirty="0">
                <a:effectLst/>
              </a:rPr>
              <a:t>We with our techie team of 24 members, are motivated to find better solutions, accelerate industrial and overall growth towards the India we dream, always stand on our front foot and walk extra mile to achieve the same.</a:t>
            </a:r>
            <a:endParaRPr lang="en-IN" sz="1600" dirty="0"/>
          </a:p>
        </p:txBody>
      </p:sp>
    </p:spTree>
    <p:extLst>
      <p:ext uri="{BB962C8B-B14F-4D97-AF65-F5344CB8AC3E}">
        <p14:creationId xmlns:p14="http://schemas.microsoft.com/office/powerpoint/2010/main" val="2736016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511941" y="117692"/>
            <a:ext cx="4249305" cy="769441"/>
          </a:xfrm>
          <a:prstGeom prst="rect">
            <a:avLst/>
          </a:prstGeom>
          <a:noFill/>
        </p:spPr>
        <p:txBody>
          <a:bodyPr wrap="none" rtlCol="0">
            <a:spAutoFit/>
          </a:bodyPr>
          <a:lstStyle/>
          <a:p>
            <a:r>
              <a:rPr lang="en-IN" sz="4400" b="1" dirty="0">
                <a:solidFill>
                  <a:srgbClr val="C44831"/>
                </a:solidFill>
              </a:rPr>
              <a:t>Business Concept</a:t>
            </a:r>
          </a:p>
        </p:txBody>
      </p:sp>
      <p:sp>
        <p:nvSpPr>
          <p:cNvPr id="5" name="TextBox 4">
            <a:extLst>
              <a:ext uri="{FF2B5EF4-FFF2-40B4-BE49-F238E27FC236}">
                <a16:creationId xmlns:a16="http://schemas.microsoft.com/office/drawing/2014/main" id="{4824C40E-2730-42B3-8BAE-2C9284301968}"/>
              </a:ext>
            </a:extLst>
          </p:cNvPr>
          <p:cNvSpPr txBox="1"/>
          <p:nvPr/>
        </p:nvSpPr>
        <p:spPr>
          <a:xfrm>
            <a:off x="849385" y="2801320"/>
            <a:ext cx="10299583" cy="1704121"/>
          </a:xfrm>
          <a:prstGeom prst="rect">
            <a:avLst/>
          </a:prstGeom>
          <a:noFill/>
        </p:spPr>
        <p:txBody>
          <a:bodyPr wrap="square">
            <a:spAutoFit/>
          </a:bodyPr>
          <a:lstStyle/>
          <a:p>
            <a:pPr marL="431800">
              <a:lnSpc>
                <a:spcPct val="150000"/>
              </a:lnSpc>
              <a:spcAft>
                <a:spcPts val="0"/>
              </a:spcAft>
            </a:pPr>
            <a:r>
              <a:rPr lang="en-US" sz="1800" dirty="0">
                <a:effectLst/>
                <a:ea typeface="Verdana" panose="020B0604030504040204" pitchFamily="34" charset="0"/>
                <a:cs typeface="Arial" panose="020B0604020202020204" pitchFamily="34" charset="0"/>
              </a:rPr>
              <a:t>IoT Cloud Platform and IoT Hardware to serve as a one-stop solution for Connecting IoT devices and securely access, monitor, analyze, predict, augment and act on data for Enhanced Asset utilization, Extended product life, better data perception and efficiency and productivity in Agriculture, Industry or Businesses.</a:t>
            </a:r>
            <a:endParaRPr lang="en-IN" sz="1400" dirty="0">
              <a:effectLst/>
              <a:ea typeface="Times New Roman" panose="02020603050405020304" pitchFamily="18" charset="0"/>
              <a:cs typeface="Mangal" panose="02040503050203030202" pitchFamily="18" charset="0"/>
            </a:endParaRPr>
          </a:p>
        </p:txBody>
      </p:sp>
      <p:sp>
        <p:nvSpPr>
          <p:cNvPr id="8" name="TextBox 7">
            <a:extLst>
              <a:ext uri="{FF2B5EF4-FFF2-40B4-BE49-F238E27FC236}">
                <a16:creationId xmlns:a16="http://schemas.microsoft.com/office/drawing/2014/main" id="{F98CA050-48C1-4F8F-AB8F-1EC10ADC0FCC}"/>
              </a:ext>
            </a:extLst>
          </p:cNvPr>
          <p:cNvSpPr txBox="1"/>
          <p:nvPr/>
        </p:nvSpPr>
        <p:spPr>
          <a:xfrm>
            <a:off x="849385" y="1848896"/>
            <a:ext cx="2183739" cy="553998"/>
          </a:xfrm>
          <a:prstGeom prst="rect">
            <a:avLst/>
          </a:prstGeom>
          <a:noFill/>
        </p:spPr>
        <p:txBody>
          <a:bodyPr wrap="none" rtlCol="0">
            <a:spAutoFit/>
          </a:bodyPr>
          <a:lstStyle/>
          <a:p>
            <a:r>
              <a:rPr lang="en-IN" sz="3000" b="1" dirty="0">
                <a:solidFill>
                  <a:srgbClr val="C44831"/>
                </a:solidFill>
              </a:rPr>
              <a:t>Our Concept</a:t>
            </a:r>
          </a:p>
        </p:txBody>
      </p:sp>
    </p:spTree>
    <p:extLst>
      <p:ext uri="{BB962C8B-B14F-4D97-AF65-F5344CB8AC3E}">
        <p14:creationId xmlns:p14="http://schemas.microsoft.com/office/powerpoint/2010/main" val="3490575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041418" y="124929"/>
            <a:ext cx="4729885" cy="769441"/>
          </a:xfrm>
          <a:prstGeom prst="rect">
            <a:avLst/>
          </a:prstGeom>
          <a:noFill/>
        </p:spPr>
        <p:txBody>
          <a:bodyPr wrap="none" rtlCol="0">
            <a:spAutoFit/>
          </a:bodyPr>
          <a:lstStyle/>
          <a:p>
            <a:r>
              <a:rPr lang="en-IN" sz="4400" b="1" dirty="0">
                <a:solidFill>
                  <a:srgbClr val="C44831"/>
                </a:solidFill>
              </a:rPr>
              <a:t>Problem Statement</a:t>
            </a:r>
          </a:p>
        </p:txBody>
      </p:sp>
      <p:sp>
        <p:nvSpPr>
          <p:cNvPr id="5" name="TextBox 4">
            <a:extLst>
              <a:ext uri="{FF2B5EF4-FFF2-40B4-BE49-F238E27FC236}">
                <a16:creationId xmlns:a16="http://schemas.microsoft.com/office/drawing/2014/main" id="{42068DB5-8BFE-4F16-9F81-C8634B274564}"/>
              </a:ext>
            </a:extLst>
          </p:cNvPr>
          <p:cNvSpPr txBox="1"/>
          <p:nvPr/>
        </p:nvSpPr>
        <p:spPr>
          <a:xfrm>
            <a:off x="1216403" y="1275128"/>
            <a:ext cx="10050011" cy="4741234"/>
          </a:xfrm>
          <a:prstGeom prst="rect">
            <a:avLst/>
          </a:prstGeom>
          <a:noFill/>
        </p:spPr>
        <p:txBody>
          <a:bodyPr wrap="square">
            <a:spAutoFit/>
          </a:bodyPr>
          <a:lstStyle/>
          <a:p>
            <a:pPr>
              <a:lnSpc>
                <a:spcPct val="107000"/>
              </a:lnSpc>
              <a:spcAft>
                <a:spcPts val="800"/>
              </a:spcAft>
            </a:pPr>
            <a:endParaRPr lang="en-US" sz="1800" b="1" dirty="0">
              <a:effectLst/>
              <a:latin typeface="Calibri" panose="020F0502020204030204" pitchFamily="34" charset="0"/>
              <a:ea typeface="Calibri" panose="020F0502020204030204" pitchFamily="34" charset="0"/>
              <a:cs typeface="SimSun" panose="02010600030101010101" pitchFamily="2" charset="-122"/>
            </a:endParaRPr>
          </a:p>
          <a:p>
            <a:pPr marL="285750" indent="-285750">
              <a:lnSpc>
                <a:spcPct val="107000"/>
              </a:lnSpc>
              <a:spcAft>
                <a:spcPts val="800"/>
              </a:spcAft>
              <a:buFont typeface="Arial" panose="020B0604020202020204" pitchFamily="34" charset="0"/>
              <a:buChar char="•"/>
            </a:pPr>
            <a:r>
              <a:rPr lang="en-US" sz="1800" b="1" dirty="0">
                <a:solidFill>
                  <a:srgbClr val="B72223"/>
                </a:solidFill>
                <a:effectLst/>
                <a:latin typeface="Calibri" panose="020F0502020204030204" pitchFamily="34" charset="0"/>
                <a:ea typeface="Calibri" panose="020F0502020204030204" pitchFamily="34" charset="0"/>
                <a:cs typeface="SimSun" panose="02010600030101010101" pitchFamily="2" charset="-122"/>
              </a:rPr>
              <a:t>Industries:</a:t>
            </a:r>
            <a:r>
              <a:rPr lang="en-US" sz="1800" dirty="0">
                <a:effectLst/>
                <a:latin typeface="Calibri" panose="020F0502020204030204" pitchFamily="34" charset="0"/>
                <a:ea typeface="Calibri" panose="020F0502020204030204" pitchFamily="34" charset="0"/>
                <a:cs typeface="SimSun" panose="02010600030101010101" pitchFamily="2" charset="-122"/>
              </a:rPr>
              <a:t> </a:t>
            </a:r>
            <a:endParaRPr lang="en-US" dirty="0">
              <a:latin typeface="Calibri" panose="020F0502020204030204" pitchFamily="34" charset="0"/>
              <a:ea typeface="Calibri" panose="020F0502020204030204" pitchFamily="34" charset="0"/>
              <a:cs typeface="SimSun" panose="02010600030101010101" pitchFamily="2" charset="-122"/>
            </a:endParaRPr>
          </a:p>
          <a:p>
            <a:pPr lvl="1">
              <a:lnSpc>
                <a:spcPct val="107000"/>
              </a:lnSpc>
              <a:spcAft>
                <a:spcPts val="800"/>
              </a:spcAft>
            </a:pPr>
            <a:r>
              <a:rPr lang="en-US" dirty="0">
                <a:effectLst/>
                <a:latin typeface="Calibri" panose="020F0502020204030204" pitchFamily="34" charset="0"/>
                <a:ea typeface="Calibri" panose="020F0502020204030204" pitchFamily="34" charset="0"/>
                <a:cs typeface="SimSun" panose="02010600030101010101" pitchFamily="2" charset="-122"/>
              </a:rPr>
              <a:t>	With Successive development in technology and innovative manufacturing methods at the world scale, it has become very crucial for our small and medium scale enterprises to adapt Industry 4.0 standards to keep up with the competition. Without connectedness in industrial assets and process it becomes very hard for industry to keep up the production schedules, having better quality, having lower downtimes and making preventive maintenance measures.</a:t>
            </a:r>
          </a:p>
          <a:p>
            <a:pPr>
              <a:lnSpc>
                <a:spcPct val="107000"/>
              </a:lnSpc>
              <a:spcAft>
                <a:spcPts val="800"/>
              </a:spcAft>
            </a:pPr>
            <a:endParaRPr lang="en-IN" sz="1800" dirty="0">
              <a:effectLst/>
              <a:latin typeface="Calibri" panose="020F0502020204030204" pitchFamily="34" charset="0"/>
              <a:ea typeface="Calibri" panose="020F0502020204030204" pitchFamily="34" charset="0"/>
              <a:cs typeface="SimSun" panose="02010600030101010101" pitchFamily="2" charset="-122"/>
            </a:endParaRPr>
          </a:p>
          <a:p>
            <a:pPr marL="285750" indent="-285750">
              <a:lnSpc>
                <a:spcPct val="107000"/>
              </a:lnSpc>
              <a:spcAft>
                <a:spcPts val="800"/>
              </a:spcAft>
              <a:buFont typeface="Arial" panose="020B0604020202020204" pitchFamily="34" charset="0"/>
              <a:buChar char="•"/>
            </a:pPr>
            <a:r>
              <a:rPr lang="en-US" sz="1800" b="1" dirty="0">
                <a:solidFill>
                  <a:srgbClr val="B72223"/>
                </a:solidFill>
                <a:effectLst/>
                <a:latin typeface="Calibri" panose="020F0502020204030204" pitchFamily="34" charset="0"/>
                <a:ea typeface="Calibri" panose="020F0502020204030204" pitchFamily="34" charset="0"/>
                <a:cs typeface="SimSun" panose="02010600030101010101" pitchFamily="2" charset="-122"/>
              </a:rPr>
              <a:t>Consultancy:</a:t>
            </a:r>
            <a:r>
              <a:rPr lang="en-US" sz="1800" dirty="0">
                <a:solidFill>
                  <a:srgbClr val="B72223"/>
                </a:solidFill>
                <a:effectLst/>
                <a:latin typeface="Calibri" panose="020F0502020204030204" pitchFamily="34" charset="0"/>
                <a:ea typeface="Calibri" panose="020F0502020204030204" pitchFamily="34" charset="0"/>
                <a:cs typeface="SimSun" panose="02010600030101010101" pitchFamily="2" charset="-122"/>
              </a:rPr>
              <a:t> </a:t>
            </a:r>
          </a:p>
          <a:p>
            <a:pPr lvl="1">
              <a:lnSpc>
                <a:spcPct val="107000"/>
              </a:lnSpc>
              <a:spcAft>
                <a:spcPts val="800"/>
              </a:spcAft>
            </a:pPr>
            <a:r>
              <a:rPr lang="en-US" dirty="0">
                <a:effectLst/>
                <a:latin typeface="Calibri" panose="020F0502020204030204" pitchFamily="34" charset="0"/>
                <a:ea typeface="Calibri" panose="020F0502020204030204" pitchFamily="34" charset="0"/>
                <a:cs typeface="SimSun" panose="02010600030101010101" pitchFamily="2" charset="-122"/>
              </a:rPr>
              <a:t>	Many of Software or non-technical firms in India strive getting their innovative product Idea into market due to unavailability of technical personnel within their organization with commitment to launch product into market considering the cost aspects and deadlines. We also help such firms get their product into market by using the best and latest technologies, making products reliable and launching at the appropriate times.</a:t>
            </a:r>
            <a:endParaRPr lang="en-IN" dirty="0">
              <a:effectLst/>
              <a:latin typeface="Calibri" panose="020F0502020204030204" pitchFamily="34" charset="0"/>
              <a:ea typeface="Calibri" panose="020F0502020204030204" pitchFamily="34" charset="0"/>
              <a:cs typeface="SimSun" panose="02010600030101010101" pitchFamily="2" charset="-122"/>
            </a:endParaRPr>
          </a:p>
        </p:txBody>
      </p:sp>
    </p:spTree>
    <p:extLst>
      <p:ext uri="{BB962C8B-B14F-4D97-AF65-F5344CB8AC3E}">
        <p14:creationId xmlns:p14="http://schemas.microsoft.com/office/powerpoint/2010/main" val="1640429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041418" y="124929"/>
            <a:ext cx="4729885" cy="769441"/>
          </a:xfrm>
          <a:prstGeom prst="rect">
            <a:avLst/>
          </a:prstGeom>
          <a:noFill/>
        </p:spPr>
        <p:txBody>
          <a:bodyPr wrap="none" rtlCol="0">
            <a:spAutoFit/>
          </a:bodyPr>
          <a:lstStyle/>
          <a:p>
            <a:r>
              <a:rPr lang="en-IN" sz="4400" b="1" dirty="0">
                <a:solidFill>
                  <a:srgbClr val="C44831"/>
                </a:solidFill>
              </a:rPr>
              <a:t>Problem Statement</a:t>
            </a:r>
          </a:p>
        </p:txBody>
      </p:sp>
      <p:sp>
        <p:nvSpPr>
          <p:cNvPr id="5" name="TextBox 4">
            <a:extLst>
              <a:ext uri="{FF2B5EF4-FFF2-40B4-BE49-F238E27FC236}">
                <a16:creationId xmlns:a16="http://schemas.microsoft.com/office/drawing/2014/main" id="{42068DB5-8BFE-4F16-9F81-C8634B274564}"/>
              </a:ext>
            </a:extLst>
          </p:cNvPr>
          <p:cNvSpPr txBox="1"/>
          <p:nvPr/>
        </p:nvSpPr>
        <p:spPr>
          <a:xfrm>
            <a:off x="1166069" y="894370"/>
            <a:ext cx="10050011" cy="5333961"/>
          </a:xfrm>
          <a:prstGeom prst="rect">
            <a:avLst/>
          </a:prstGeom>
          <a:noFill/>
        </p:spPr>
        <p:txBody>
          <a:bodyPr wrap="square">
            <a:spAutoFit/>
          </a:bodyPr>
          <a:lstStyle/>
          <a:p>
            <a:pPr>
              <a:lnSpc>
                <a:spcPct val="107000"/>
              </a:lnSpc>
              <a:spcAft>
                <a:spcPts val="800"/>
              </a:spcAft>
            </a:pPr>
            <a:endParaRPr lang="en-US" sz="1800" b="1" dirty="0">
              <a:effectLst/>
              <a:latin typeface="Calibri" panose="020F0502020204030204" pitchFamily="34" charset="0"/>
              <a:ea typeface="Calibri" panose="020F0502020204030204" pitchFamily="34" charset="0"/>
              <a:cs typeface="SimSun" panose="02010600030101010101" pitchFamily="2" charset="-122"/>
            </a:endParaRPr>
          </a:p>
          <a:p>
            <a:pPr marL="285750" indent="-285750">
              <a:lnSpc>
                <a:spcPct val="107000"/>
              </a:lnSpc>
              <a:spcAft>
                <a:spcPts val="800"/>
              </a:spcAft>
              <a:buFont typeface="Arial" panose="020B0604020202020204" pitchFamily="34" charset="0"/>
              <a:buChar char="•"/>
            </a:pPr>
            <a:r>
              <a:rPr lang="en-US" sz="1800" b="1" dirty="0">
                <a:solidFill>
                  <a:srgbClr val="B72223"/>
                </a:solidFill>
                <a:effectLst/>
                <a:latin typeface="Calibri" panose="020F0502020204030204" pitchFamily="34" charset="0"/>
                <a:ea typeface="Calibri" panose="020F0502020204030204" pitchFamily="34" charset="0"/>
                <a:cs typeface="SimSun" panose="02010600030101010101" pitchFamily="2" charset="-122"/>
              </a:rPr>
              <a:t>Agriculture: </a:t>
            </a:r>
            <a:r>
              <a:rPr lang="en-US" sz="1800" dirty="0">
                <a:solidFill>
                  <a:srgbClr val="B72223"/>
                </a:solidFill>
                <a:effectLst/>
                <a:latin typeface="Calibri" panose="020F0502020204030204" pitchFamily="34" charset="0"/>
                <a:ea typeface="Calibri" panose="020F0502020204030204" pitchFamily="34" charset="0"/>
                <a:cs typeface="SimSun" panose="02010600030101010101" pitchFamily="2" charset="-122"/>
              </a:rPr>
              <a:t> </a:t>
            </a:r>
            <a:endParaRPr lang="en-US" dirty="0">
              <a:solidFill>
                <a:srgbClr val="B72223"/>
              </a:solidFill>
              <a:latin typeface="Calibri" panose="020F0502020204030204" pitchFamily="34" charset="0"/>
              <a:ea typeface="Calibri" panose="020F0502020204030204" pitchFamily="34" charset="0"/>
              <a:cs typeface="SimSun" panose="02010600030101010101" pitchFamily="2" charset="-122"/>
            </a:endParaRPr>
          </a:p>
          <a:p>
            <a:pPr lvl="1">
              <a:lnSpc>
                <a:spcPct val="107000"/>
              </a:lnSpc>
              <a:spcAft>
                <a:spcPts val="800"/>
              </a:spcAft>
            </a:pPr>
            <a:r>
              <a:rPr lang="en-US" dirty="0">
                <a:effectLst/>
                <a:latin typeface="Calibri" panose="020F0502020204030204" pitchFamily="34" charset="0"/>
                <a:ea typeface="Calibri" panose="020F0502020204030204" pitchFamily="34" charset="0"/>
                <a:cs typeface="SimSun" panose="02010600030101010101" pitchFamily="2" charset="-122"/>
              </a:rPr>
              <a:t>	</a:t>
            </a:r>
            <a:r>
              <a:rPr lang="en-US" sz="1800" dirty="0">
                <a:effectLst/>
                <a:latin typeface="Calibri" panose="020F0502020204030204" pitchFamily="34" charset="0"/>
                <a:ea typeface="Calibri" panose="020F0502020204030204" pitchFamily="34" charset="0"/>
                <a:cs typeface="SimSun" panose="02010600030101010101" pitchFamily="2" charset="-122"/>
              </a:rPr>
              <a:t>India needs to step up our food production and processing practices to meet our own demand and for export needs. The need of the hour is to expand use cases and build and deploy solutions. Sensors that offer information on soil nutrients status, pest infestation, moisture conditions are either not precise to be reliable or not affordable. Collection of on-field data using precise sensor fleet, analytics of data and communicating the best solutions from experts is what Infiniti System is working to come up with a one-stop affordable solution.</a:t>
            </a:r>
          </a:p>
          <a:p>
            <a:pPr lvl="1">
              <a:lnSpc>
                <a:spcPct val="107000"/>
              </a:lnSpc>
              <a:spcAft>
                <a:spcPts val="800"/>
              </a:spcAft>
            </a:pPr>
            <a:endParaRPr lang="en-IN" sz="1800" dirty="0">
              <a:effectLst/>
              <a:latin typeface="Calibri" panose="020F0502020204030204" pitchFamily="34" charset="0"/>
              <a:ea typeface="Calibri" panose="020F0502020204030204" pitchFamily="34" charset="0"/>
              <a:cs typeface="SimSun" panose="02010600030101010101" pitchFamily="2" charset="-122"/>
            </a:endParaRPr>
          </a:p>
          <a:p>
            <a:pPr marL="285750" indent="-285750">
              <a:lnSpc>
                <a:spcPct val="107000"/>
              </a:lnSpc>
              <a:spcAft>
                <a:spcPts val="800"/>
              </a:spcAft>
              <a:buFont typeface="Arial" panose="020B0604020202020204" pitchFamily="34" charset="0"/>
              <a:buChar char="•"/>
            </a:pPr>
            <a:r>
              <a:rPr lang="en-US" sz="1800" b="1" dirty="0">
                <a:solidFill>
                  <a:srgbClr val="B72223"/>
                </a:solidFill>
                <a:effectLst/>
                <a:latin typeface="Calibri" panose="020F0502020204030204" pitchFamily="34" charset="0"/>
                <a:ea typeface="Calibri" panose="020F0502020204030204" pitchFamily="34" charset="0"/>
                <a:cs typeface="SimSun" panose="02010600030101010101" pitchFamily="2" charset="-122"/>
              </a:rPr>
              <a:t>IoT Cloud Platform:</a:t>
            </a:r>
            <a:r>
              <a:rPr lang="en-US" sz="1800" dirty="0">
                <a:solidFill>
                  <a:srgbClr val="B72223"/>
                </a:solidFill>
                <a:effectLst/>
                <a:latin typeface="Calibri" panose="020F0502020204030204" pitchFamily="34" charset="0"/>
                <a:ea typeface="Calibri" panose="020F0502020204030204" pitchFamily="34" charset="0"/>
                <a:cs typeface="SimSun" panose="02010600030101010101" pitchFamily="2" charset="-122"/>
              </a:rPr>
              <a:t> </a:t>
            </a:r>
          </a:p>
          <a:p>
            <a:pPr lvl="1">
              <a:lnSpc>
                <a:spcPct val="107000"/>
              </a:lnSpc>
              <a:spcAft>
                <a:spcPts val="800"/>
              </a:spcAft>
            </a:pPr>
            <a:r>
              <a:rPr lang="en-US" dirty="0">
                <a:effectLst/>
                <a:latin typeface="Calibri" panose="020F0502020204030204" pitchFamily="34" charset="0"/>
                <a:ea typeface="Calibri" panose="020F0502020204030204" pitchFamily="34" charset="0"/>
                <a:cs typeface="SimSun" panose="02010600030101010101" pitchFamily="2" charset="-122"/>
              </a:rPr>
              <a:t>	</a:t>
            </a:r>
            <a:r>
              <a:rPr lang="en-US" sz="1800" dirty="0">
                <a:effectLst/>
                <a:latin typeface="Calibri" panose="020F0502020204030204" pitchFamily="34" charset="0"/>
                <a:ea typeface="Calibri" panose="020F0502020204030204" pitchFamily="34" charset="0"/>
                <a:cs typeface="SimSun" panose="02010600030101010101" pitchFamily="2" charset="-122"/>
              </a:rPr>
              <a:t>Our team found out that market lags a IoT Cloud Platform made from electronics point of view which also includes latest predictive machine learning algorithms to make it easier for even a novice user to connect his/her premises to cloud, carry out analytics and making predictions on the go. Having a reliable, easy to use, latest technology packed IoT cloud platform will greatly have a potential for making enhanced asset utilization in organizations, extend product life, data perception, efficiency and productivity.</a:t>
            </a:r>
            <a:endParaRPr lang="en-IN" dirty="0">
              <a:effectLst/>
              <a:latin typeface="Calibri" panose="020F0502020204030204" pitchFamily="34" charset="0"/>
              <a:ea typeface="Calibri" panose="020F0502020204030204" pitchFamily="34" charset="0"/>
              <a:cs typeface="SimSun" panose="02010600030101010101" pitchFamily="2" charset="-122"/>
            </a:endParaRPr>
          </a:p>
        </p:txBody>
      </p:sp>
    </p:spTree>
    <p:extLst>
      <p:ext uri="{BB962C8B-B14F-4D97-AF65-F5344CB8AC3E}">
        <p14:creationId xmlns:p14="http://schemas.microsoft.com/office/powerpoint/2010/main" val="473828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486215" y="135045"/>
            <a:ext cx="3371436" cy="769441"/>
          </a:xfrm>
          <a:prstGeom prst="rect">
            <a:avLst/>
          </a:prstGeom>
          <a:noFill/>
        </p:spPr>
        <p:txBody>
          <a:bodyPr wrap="none" rtlCol="0">
            <a:spAutoFit/>
          </a:bodyPr>
          <a:lstStyle/>
          <a:p>
            <a:r>
              <a:rPr lang="en-IN" sz="4400" b="1" dirty="0">
                <a:solidFill>
                  <a:srgbClr val="C44831"/>
                </a:solidFill>
              </a:rPr>
              <a:t>Our Solutions</a:t>
            </a:r>
          </a:p>
        </p:txBody>
      </p:sp>
      <p:sp>
        <p:nvSpPr>
          <p:cNvPr id="5" name="TextBox 4">
            <a:extLst>
              <a:ext uri="{FF2B5EF4-FFF2-40B4-BE49-F238E27FC236}">
                <a16:creationId xmlns:a16="http://schemas.microsoft.com/office/drawing/2014/main" id="{CC6F6890-2CA6-4535-99F4-59F5460F4089}"/>
              </a:ext>
            </a:extLst>
          </p:cNvPr>
          <p:cNvSpPr txBox="1"/>
          <p:nvPr/>
        </p:nvSpPr>
        <p:spPr>
          <a:xfrm>
            <a:off x="791363" y="1636804"/>
            <a:ext cx="11400637" cy="4148508"/>
          </a:xfrm>
          <a:prstGeom prst="rect">
            <a:avLst/>
          </a:prstGeom>
          <a:noFill/>
        </p:spPr>
        <p:txBody>
          <a:bodyPr wrap="square">
            <a:spAutoFit/>
          </a:bodyPr>
          <a:lstStyle/>
          <a:p>
            <a:pPr marL="285750" indent="-285750">
              <a:lnSpc>
                <a:spcPct val="107000"/>
              </a:lnSpc>
              <a:spcAft>
                <a:spcPts val="800"/>
              </a:spcAft>
              <a:buFont typeface="Arial" panose="020B0604020202020204" pitchFamily="34" charset="0"/>
              <a:buChar char="•"/>
            </a:pPr>
            <a:r>
              <a:rPr lang="en-US" b="1" dirty="0">
                <a:solidFill>
                  <a:srgbClr val="B72223"/>
                </a:solidFill>
                <a:effectLst/>
                <a:latin typeface="Calibri" panose="020F0502020204030204" pitchFamily="34" charset="0"/>
                <a:ea typeface="Calibri" panose="020F0502020204030204" pitchFamily="34" charset="0"/>
                <a:cs typeface="SimSun" panose="02010600030101010101" pitchFamily="2" charset="-122"/>
              </a:rPr>
              <a:t>Industry:</a:t>
            </a:r>
            <a:r>
              <a:rPr lang="en-US" dirty="0">
                <a:solidFill>
                  <a:srgbClr val="B72223"/>
                </a:solidFill>
                <a:effectLst/>
                <a:latin typeface="Calibri" panose="020F0502020204030204" pitchFamily="34" charset="0"/>
                <a:ea typeface="Calibri" panose="020F0502020204030204" pitchFamily="34" charset="0"/>
                <a:cs typeface="SimSun" panose="02010600030101010101" pitchFamily="2" charset="-122"/>
              </a:rPr>
              <a:t> </a:t>
            </a:r>
          </a:p>
          <a:p>
            <a:pPr lvl="1">
              <a:lnSpc>
                <a:spcPct val="107000"/>
              </a:lnSpc>
              <a:spcAft>
                <a:spcPts val="800"/>
              </a:spcAft>
            </a:pPr>
            <a:r>
              <a:rPr lang="en-US" dirty="0">
                <a:effectLst/>
                <a:latin typeface="Calibri" panose="020F0502020204030204" pitchFamily="34" charset="0"/>
                <a:ea typeface="Calibri" panose="020F0502020204030204" pitchFamily="34" charset="0"/>
                <a:cs typeface="SimSun" panose="02010600030101010101" pitchFamily="2" charset="-122"/>
              </a:rPr>
              <a:t>	To solve the problems in Industries and to help make a smooth transition to industry 4.0 standards, we work with the technical people of company and workout what technological changes can be made in the processes followed by the Industry. </a:t>
            </a:r>
            <a:endParaRPr lang="en-IN" dirty="0">
              <a:effectLst/>
              <a:latin typeface="Calibri" panose="020F0502020204030204" pitchFamily="34" charset="0"/>
              <a:ea typeface="Calibri" panose="020F0502020204030204" pitchFamily="34" charset="0"/>
              <a:cs typeface="SimSun" panose="02010600030101010101" pitchFamily="2" charset="-122"/>
            </a:endParaRPr>
          </a:p>
          <a:p>
            <a:pPr>
              <a:lnSpc>
                <a:spcPct val="107000"/>
              </a:lnSpc>
              <a:spcAft>
                <a:spcPts val="800"/>
              </a:spcAft>
            </a:pPr>
            <a:r>
              <a:rPr lang="en-US" dirty="0">
                <a:effectLst/>
                <a:latin typeface="Calibri" panose="020F0502020204030204" pitchFamily="34" charset="0"/>
                <a:ea typeface="Calibri" panose="020F0502020204030204" pitchFamily="34" charset="0"/>
                <a:cs typeface="SimSun" panose="02010600030101010101" pitchFamily="2" charset="-122"/>
              </a:rPr>
              <a:t>	 </a:t>
            </a:r>
            <a:endParaRPr lang="en-IN" dirty="0">
              <a:effectLst/>
              <a:latin typeface="Calibri" panose="020F0502020204030204" pitchFamily="34" charset="0"/>
              <a:ea typeface="Calibri" panose="020F0502020204030204" pitchFamily="34" charset="0"/>
              <a:cs typeface="SimSun" panose="02010600030101010101" pitchFamily="2" charset="-122"/>
            </a:endParaRPr>
          </a:p>
          <a:p>
            <a:pPr marL="285750" indent="-285750">
              <a:lnSpc>
                <a:spcPct val="107000"/>
              </a:lnSpc>
              <a:spcAft>
                <a:spcPts val="800"/>
              </a:spcAft>
              <a:buFont typeface="Arial" panose="020B0604020202020204" pitchFamily="34" charset="0"/>
              <a:buChar char="•"/>
            </a:pPr>
            <a:r>
              <a:rPr lang="en-US" b="1" dirty="0">
                <a:solidFill>
                  <a:srgbClr val="B72223"/>
                </a:solidFill>
                <a:effectLst/>
                <a:latin typeface="Calibri" panose="020F0502020204030204" pitchFamily="34" charset="0"/>
                <a:ea typeface="Calibri" panose="020F0502020204030204" pitchFamily="34" charset="0"/>
                <a:cs typeface="SimSun" panose="02010600030101010101" pitchFamily="2" charset="-122"/>
              </a:rPr>
              <a:t>Consultancy: </a:t>
            </a:r>
          </a:p>
          <a:p>
            <a:pPr lvl="1">
              <a:lnSpc>
                <a:spcPct val="107000"/>
              </a:lnSpc>
              <a:spcAft>
                <a:spcPts val="800"/>
              </a:spcAft>
            </a:pPr>
            <a:r>
              <a:rPr lang="en-US" dirty="0">
                <a:latin typeface="Calibri" panose="020F0502020204030204" pitchFamily="34" charset="0"/>
                <a:ea typeface="Calibri" panose="020F0502020204030204" pitchFamily="34" charset="0"/>
                <a:cs typeface="SimSun" panose="02010600030101010101" pitchFamily="2" charset="-122"/>
              </a:rPr>
              <a:t>	</a:t>
            </a:r>
            <a:r>
              <a:rPr lang="en-US" dirty="0">
                <a:effectLst/>
                <a:latin typeface="Calibri" panose="020F0502020204030204" pitchFamily="34" charset="0"/>
                <a:ea typeface="Calibri" panose="020F0502020204030204" pitchFamily="34" charset="0"/>
                <a:cs typeface="SimSun" panose="02010600030101010101" pitchFamily="2" charset="-122"/>
              </a:rPr>
              <a:t>We have helped many companies till now to get their innovative product into market. We start with getting to know what the company exactly wants the product to be, then we perform a market survey, in order to look if such products are already there or to study what technologies must be used. After market survey detailed study is discussed with the firm and then we brainstorming on the idea in more depth considering hardware, software, networking, aesthetics, features and so on.</a:t>
            </a:r>
            <a:endParaRPr lang="en-IN" dirty="0">
              <a:effectLst/>
              <a:latin typeface="Calibri" panose="020F0502020204030204" pitchFamily="34" charset="0"/>
              <a:ea typeface="Calibri" panose="020F0502020204030204" pitchFamily="34" charset="0"/>
              <a:cs typeface="SimSun" panose="02010600030101010101" pitchFamily="2" charset="-122"/>
            </a:endParaRPr>
          </a:p>
          <a:p>
            <a:pPr>
              <a:lnSpc>
                <a:spcPct val="107000"/>
              </a:lnSpc>
              <a:spcAft>
                <a:spcPts val="800"/>
              </a:spcAft>
            </a:pPr>
            <a:r>
              <a:rPr lang="en-US" dirty="0">
                <a:effectLst/>
                <a:latin typeface="Calibri" panose="020F0502020204030204" pitchFamily="34" charset="0"/>
                <a:ea typeface="Calibri" panose="020F0502020204030204" pitchFamily="34" charset="0"/>
                <a:cs typeface="SimSun" panose="02010600030101010101" pitchFamily="2" charset="-122"/>
              </a:rPr>
              <a:t>	</a:t>
            </a:r>
            <a:endParaRPr lang="en-IN" dirty="0">
              <a:effectLst/>
              <a:latin typeface="Calibri" panose="020F0502020204030204" pitchFamily="34" charset="0"/>
              <a:ea typeface="Calibri" panose="020F0502020204030204" pitchFamily="34" charset="0"/>
              <a:cs typeface="SimSun" panose="02010600030101010101" pitchFamily="2" charset="-122"/>
            </a:endParaRPr>
          </a:p>
        </p:txBody>
      </p:sp>
    </p:spTree>
    <p:extLst>
      <p:ext uri="{BB962C8B-B14F-4D97-AF65-F5344CB8AC3E}">
        <p14:creationId xmlns:p14="http://schemas.microsoft.com/office/powerpoint/2010/main" val="1516893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486215" y="135045"/>
            <a:ext cx="3371436" cy="769441"/>
          </a:xfrm>
          <a:prstGeom prst="rect">
            <a:avLst/>
          </a:prstGeom>
          <a:noFill/>
        </p:spPr>
        <p:txBody>
          <a:bodyPr wrap="none" rtlCol="0">
            <a:spAutoFit/>
          </a:bodyPr>
          <a:lstStyle/>
          <a:p>
            <a:r>
              <a:rPr lang="en-IN" sz="4400" b="1" dirty="0">
                <a:solidFill>
                  <a:srgbClr val="C44831"/>
                </a:solidFill>
              </a:rPr>
              <a:t>Our Solutions</a:t>
            </a:r>
          </a:p>
        </p:txBody>
      </p:sp>
      <p:sp>
        <p:nvSpPr>
          <p:cNvPr id="5" name="TextBox 4">
            <a:extLst>
              <a:ext uri="{FF2B5EF4-FFF2-40B4-BE49-F238E27FC236}">
                <a16:creationId xmlns:a16="http://schemas.microsoft.com/office/drawing/2014/main" id="{CC6F6890-2CA6-4535-99F4-59F5460F4089}"/>
              </a:ext>
            </a:extLst>
          </p:cNvPr>
          <p:cNvSpPr txBox="1"/>
          <p:nvPr/>
        </p:nvSpPr>
        <p:spPr>
          <a:xfrm>
            <a:off x="791363" y="1494191"/>
            <a:ext cx="11400637" cy="4638642"/>
          </a:xfrm>
          <a:prstGeom prst="rect">
            <a:avLst/>
          </a:prstGeom>
          <a:noFill/>
        </p:spPr>
        <p:txBody>
          <a:bodyPr wrap="square">
            <a:spAutoFit/>
          </a:bodyPr>
          <a:lstStyle/>
          <a:p>
            <a:pPr marL="285750" indent="-285750">
              <a:lnSpc>
                <a:spcPct val="107000"/>
              </a:lnSpc>
              <a:spcAft>
                <a:spcPts val="800"/>
              </a:spcAft>
              <a:buFont typeface="Arial" panose="020B0604020202020204" pitchFamily="34" charset="0"/>
              <a:buChar char="•"/>
            </a:pPr>
            <a:r>
              <a:rPr lang="en-US" sz="1800" b="1" dirty="0">
                <a:solidFill>
                  <a:srgbClr val="B72223"/>
                </a:solidFill>
                <a:effectLst/>
                <a:latin typeface="Calibri" panose="020F0502020204030204" pitchFamily="34" charset="0"/>
                <a:ea typeface="Calibri" panose="020F0502020204030204" pitchFamily="34" charset="0"/>
                <a:cs typeface="SimSun" panose="02010600030101010101" pitchFamily="2" charset="-122"/>
              </a:rPr>
              <a:t>Agriculture:</a:t>
            </a:r>
            <a:r>
              <a:rPr lang="en-US" sz="1800" dirty="0">
                <a:solidFill>
                  <a:srgbClr val="B72223"/>
                </a:solidFill>
                <a:effectLst/>
                <a:latin typeface="Calibri" panose="020F0502020204030204" pitchFamily="34" charset="0"/>
                <a:ea typeface="Calibri" panose="020F0502020204030204" pitchFamily="34" charset="0"/>
                <a:cs typeface="SimSun" panose="02010600030101010101" pitchFamily="2" charset="-122"/>
              </a:rPr>
              <a:t> </a:t>
            </a:r>
          </a:p>
          <a:p>
            <a:pPr lvl="1">
              <a:lnSpc>
                <a:spcPct val="107000"/>
              </a:lnSpc>
              <a:spcAft>
                <a:spcPts val="800"/>
              </a:spcAft>
            </a:pPr>
            <a:r>
              <a:rPr lang="en-US" dirty="0">
                <a:effectLst/>
                <a:latin typeface="Calibri" panose="020F0502020204030204" pitchFamily="34" charset="0"/>
                <a:ea typeface="Calibri" panose="020F0502020204030204" pitchFamily="34" charset="0"/>
                <a:cs typeface="SimSun" panose="02010600030101010101" pitchFamily="2" charset="-122"/>
              </a:rPr>
              <a:t>	To solve problems in agriculture we are working on developing in-house precise sensors, Easy to use IoT Cloud platform, Mesh network based mobile sensors and many more. In respect to </a:t>
            </a:r>
            <a:r>
              <a:rPr lang="en-US" b="1" dirty="0">
                <a:effectLst/>
                <a:latin typeface="Calibri" panose="020F0502020204030204" pitchFamily="34" charset="0"/>
                <a:ea typeface="Calibri" panose="020F0502020204030204" pitchFamily="34" charset="0"/>
                <a:cs typeface="SimSun" panose="02010600030101010101" pitchFamily="2" charset="-122"/>
              </a:rPr>
              <a:t>Sensors</a:t>
            </a:r>
            <a:r>
              <a:rPr lang="en-US" dirty="0">
                <a:effectLst/>
                <a:latin typeface="Calibri" panose="020F0502020204030204" pitchFamily="34" charset="0"/>
                <a:ea typeface="Calibri" panose="020F0502020204030204" pitchFamily="34" charset="0"/>
                <a:cs typeface="SimSun" panose="02010600030101010101" pitchFamily="2" charset="-122"/>
              </a:rPr>
              <a:t> we found out that many of important sensors such as Leaf Humidity sensors, Soil ECE sensors are not available in India, are mostly imported from abroad, and are very costly. So, we took it as a challenge to come up with very low cost, yet more precise Indian alternative to these sensor products. </a:t>
            </a:r>
          </a:p>
          <a:p>
            <a:pPr lvl="1">
              <a:lnSpc>
                <a:spcPct val="107000"/>
              </a:lnSpc>
              <a:spcAft>
                <a:spcPts val="800"/>
              </a:spcAft>
            </a:pPr>
            <a:r>
              <a:rPr lang="en-US" dirty="0">
                <a:effectLst/>
                <a:latin typeface="Calibri" panose="020F0502020204030204" pitchFamily="34" charset="0"/>
                <a:ea typeface="Calibri" panose="020F0502020204030204" pitchFamily="34" charset="0"/>
                <a:cs typeface="SimSun" panose="02010600030101010101" pitchFamily="2" charset="-122"/>
              </a:rPr>
              <a:t>	 </a:t>
            </a:r>
            <a:endParaRPr lang="en-IN" dirty="0">
              <a:effectLst/>
              <a:latin typeface="Calibri" panose="020F0502020204030204" pitchFamily="34" charset="0"/>
              <a:ea typeface="Calibri" panose="020F0502020204030204" pitchFamily="34" charset="0"/>
              <a:cs typeface="SimSun" panose="02010600030101010101" pitchFamily="2" charset="-122"/>
            </a:endParaRPr>
          </a:p>
          <a:p>
            <a:pPr marL="285750" indent="-285750">
              <a:lnSpc>
                <a:spcPct val="107000"/>
              </a:lnSpc>
              <a:spcAft>
                <a:spcPts val="800"/>
              </a:spcAft>
              <a:buFont typeface="Arial" panose="020B0604020202020204" pitchFamily="34" charset="0"/>
              <a:buChar char="•"/>
            </a:pPr>
            <a:r>
              <a:rPr lang="en-US" sz="1800" b="1" dirty="0">
                <a:solidFill>
                  <a:srgbClr val="B72223"/>
                </a:solidFill>
                <a:effectLst/>
                <a:latin typeface="Calibri" panose="020F0502020204030204" pitchFamily="34" charset="0"/>
                <a:ea typeface="Calibri" panose="020F0502020204030204" pitchFamily="34" charset="0"/>
                <a:cs typeface="SimSun" panose="02010600030101010101" pitchFamily="2" charset="-122"/>
              </a:rPr>
              <a:t>InfiIoT Cloud: </a:t>
            </a:r>
            <a:endParaRPr lang="en-US" b="1" dirty="0">
              <a:solidFill>
                <a:srgbClr val="B72223"/>
              </a:solidFill>
              <a:latin typeface="Calibri" panose="020F0502020204030204" pitchFamily="34" charset="0"/>
              <a:ea typeface="Calibri" panose="020F0502020204030204" pitchFamily="34" charset="0"/>
              <a:cs typeface="SimSun" panose="02010600030101010101" pitchFamily="2" charset="-122"/>
            </a:endParaRPr>
          </a:p>
          <a:p>
            <a:pPr lvl="1">
              <a:lnSpc>
                <a:spcPct val="107000"/>
              </a:lnSpc>
              <a:spcAft>
                <a:spcPts val="800"/>
              </a:spcAft>
            </a:pPr>
            <a:r>
              <a:rPr lang="en-US" dirty="0">
                <a:effectLst/>
                <a:latin typeface="Calibri" panose="020F0502020204030204" pitchFamily="34" charset="0"/>
                <a:ea typeface="Calibri" panose="020F0502020204030204" pitchFamily="34" charset="0"/>
                <a:cs typeface="SimSun" panose="02010600030101010101" pitchFamily="2" charset="-122"/>
              </a:rPr>
              <a:t>	Infi-IoT Cloud Platform was developed to serve as a one-stop solution for Connecting IoT devices and securely access, monitor, analyze, predict, augment and act on data in newer and simpler ways. Infi-IoT is developed as a SAAS platform to ease the process of gathering data from the field. Infi-IoT is optimized to be used with Industries where data security and integrity is most important, for agriculture where bulk data need to be processed and analyzed, and for smart homes where large number of payload transmission and control is needed to be done within the least time possible (lesser latency) 	</a:t>
            </a:r>
            <a:endParaRPr lang="en-IN" dirty="0">
              <a:effectLst/>
              <a:latin typeface="Calibri" panose="020F0502020204030204" pitchFamily="34" charset="0"/>
              <a:ea typeface="Calibri" panose="020F0502020204030204" pitchFamily="34" charset="0"/>
              <a:cs typeface="SimSun" panose="02010600030101010101" pitchFamily="2" charset="-122"/>
            </a:endParaRPr>
          </a:p>
        </p:txBody>
      </p:sp>
    </p:spTree>
    <p:extLst>
      <p:ext uri="{BB962C8B-B14F-4D97-AF65-F5344CB8AC3E}">
        <p14:creationId xmlns:p14="http://schemas.microsoft.com/office/powerpoint/2010/main" val="456972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570105" y="143434"/>
            <a:ext cx="184731" cy="769441"/>
          </a:xfrm>
          <a:prstGeom prst="rect">
            <a:avLst/>
          </a:prstGeom>
          <a:noFill/>
        </p:spPr>
        <p:txBody>
          <a:bodyPr wrap="none" rtlCol="0">
            <a:spAutoFit/>
          </a:bodyPr>
          <a:lstStyle/>
          <a:p>
            <a:endParaRPr lang="en-IN" sz="4400" b="1" i="1" dirty="0">
              <a:solidFill>
                <a:srgbClr val="C44831"/>
              </a:solidFill>
            </a:endParaRPr>
          </a:p>
        </p:txBody>
      </p:sp>
      <p:sp>
        <p:nvSpPr>
          <p:cNvPr id="5" name="TextBox 4"/>
          <p:cNvSpPr txBox="1"/>
          <p:nvPr/>
        </p:nvSpPr>
        <p:spPr>
          <a:xfrm>
            <a:off x="8570105" y="134468"/>
            <a:ext cx="3255571" cy="769441"/>
          </a:xfrm>
          <a:prstGeom prst="rect">
            <a:avLst/>
          </a:prstGeom>
          <a:noFill/>
        </p:spPr>
        <p:txBody>
          <a:bodyPr wrap="none" rtlCol="0">
            <a:spAutoFit/>
          </a:bodyPr>
          <a:lstStyle/>
          <a:p>
            <a:r>
              <a:rPr lang="en-IN" sz="4400" b="1" dirty="0">
                <a:solidFill>
                  <a:srgbClr val="C44831"/>
                </a:solidFill>
              </a:rPr>
              <a:t>Our Products</a:t>
            </a:r>
          </a:p>
        </p:txBody>
      </p:sp>
      <p:sp>
        <p:nvSpPr>
          <p:cNvPr id="30" name="TextBox 29">
            <a:extLst>
              <a:ext uri="{FF2B5EF4-FFF2-40B4-BE49-F238E27FC236}">
                <a16:creationId xmlns:a16="http://schemas.microsoft.com/office/drawing/2014/main" id="{6F8A5C91-1098-438F-A913-1FC968674C7C}"/>
              </a:ext>
            </a:extLst>
          </p:cNvPr>
          <p:cNvSpPr txBox="1"/>
          <p:nvPr/>
        </p:nvSpPr>
        <p:spPr>
          <a:xfrm>
            <a:off x="1228725" y="2067996"/>
            <a:ext cx="6096000" cy="369332"/>
          </a:xfrm>
          <a:prstGeom prst="rect">
            <a:avLst/>
          </a:prstGeom>
          <a:noFill/>
        </p:spPr>
        <p:txBody>
          <a:bodyPr wrap="square">
            <a:spAutoFit/>
          </a:bodyPr>
          <a:lstStyle/>
          <a:p>
            <a:r>
              <a:rPr lang="en-US" sz="1800" dirty="0">
                <a:effectLst/>
                <a:latin typeface="Verdana" panose="020B0604030504040204" pitchFamily="34" charset="0"/>
                <a:ea typeface="Verdana" panose="020B0604030504040204" pitchFamily="34" charset="0"/>
                <a:cs typeface="Arial" panose="020B0604020202020204" pitchFamily="34" charset="0"/>
              </a:rPr>
              <a:t>Infi-IoT – Futuristic IoT Cloud Platform </a:t>
            </a:r>
            <a:endParaRPr lang="en-IN" dirty="0"/>
          </a:p>
        </p:txBody>
      </p:sp>
      <p:sp>
        <p:nvSpPr>
          <p:cNvPr id="32" name="TextBox 31">
            <a:extLst>
              <a:ext uri="{FF2B5EF4-FFF2-40B4-BE49-F238E27FC236}">
                <a16:creationId xmlns:a16="http://schemas.microsoft.com/office/drawing/2014/main" id="{83877E5C-98A4-434F-B5B4-4EE2E0E8A387}"/>
              </a:ext>
            </a:extLst>
          </p:cNvPr>
          <p:cNvSpPr txBox="1"/>
          <p:nvPr/>
        </p:nvSpPr>
        <p:spPr>
          <a:xfrm>
            <a:off x="1228725" y="2437328"/>
            <a:ext cx="6096000" cy="369332"/>
          </a:xfrm>
          <a:prstGeom prst="rect">
            <a:avLst/>
          </a:prstGeom>
          <a:noFill/>
        </p:spPr>
        <p:txBody>
          <a:bodyPr wrap="square">
            <a:spAutoFit/>
          </a:bodyPr>
          <a:lstStyle/>
          <a:p>
            <a:r>
              <a:rPr lang="en-US" sz="1800" dirty="0">
                <a:effectLst/>
                <a:latin typeface="Verdana" panose="020B0604030504040204" pitchFamily="34" charset="0"/>
                <a:ea typeface="Verdana" panose="020B0604030504040204" pitchFamily="34" charset="0"/>
                <a:cs typeface="Arial" panose="020B0604020202020204" pitchFamily="34" charset="0"/>
              </a:rPr>
              <a:t>Infi-Drive – Smart Motor driver</a:t>
            </a:r>
            <a:endParaRPr lang="en-IN" dirty="0"/>
          </a:p>
        </p:txBody>
      </p:sp>
      <p:sp>
        <p:nvSpPr>
          <p:cNvPr id="34" name="TextBox 33">
            <a:extLst>
              <a:ext uri="{FF2B5EF4-FFF2-40B4-BE49-F238E27FC236}">
                <a16:creationId xmlns:a16="http://schemas.microsoft.com/office/drawing/2014/main" id="{565FB607-E34D-486C-B05D-FC1B4F3D1FB6}"/>
              </a:ext>
            </a:extLst>
          </p:cNvPr>
          <p:cNvSpPr txBox="1"/>
          <p:nvPr/>
        </p:nvSpPr>
        <p:spPr>
          <a:xfrm>
            <a:off x="1228725" y="2806660"/>
            <a:ext cx="6096000" cy="369332"/>
          </a:xfrm>
          <a:prstGeom prst="rect">
            <a:avLst/>
          </a:prstGeom>
          <a:noFill/>
        </p:spPr>
        <p:txBody>
          <a:bodyPr wrap="square">
            <a:spAutoFit/>
          </a:bodyPr>
          <a:lstStyle/>
          <a:p>
            <a:r>
              <a:rPr lang="en-US" sz="1800" dirty="0">
                <a:effectLst/>
                <a:latin typeface="Verdana" panose="020B0604030504040204" pitchFamily="34" charset="0"/>
                <a:ea typeface="Verdana" panose="020B0604030504040204" pitchFamily="34" charset="0"/>
                <a:cs typeface="Arial" panose="020B0604020202020204" pitchFamily="34" charset="0"/>
              </a:rPr>
              <a:t>Infi Sense – IoT the smart way</a:t>
            </a:r>
            <a:endParaRPr lang="en-IN" dirty="0"/>
          </a:p>
        </p:txBody>
      </p:sp>
      <p:sp>
        <p:nvSpPr>
          <p:cNvPr id="36" name="TextBox 35">
            <a:extLst>
              <a:ext uri="{FF2B5EF4-FFF2-40B4-BE49-F238E27FC236}">
                <a16:creationId xmlns:a16="http://schemas.microsoft.com/office/drawing/2014/main" id="{F2168B77-6CCE-4718-BF60-28C40687D352}"/>
              </a:ext>
            </a:extLst>
          </p:cNvPr>
          <p:cNvSpPr txBox="1"/>
          <p:nvPr/>
        </p:nvSpPr>
        <p:spPr>
          <a:xfrm>
            <a:off x="1228725" y="3175992"/>
            <a:ext cx="7505700" cy="369332"/>
          </a:xfrm>
          <a:prstGeom prst="rect">
            <a:avLst/>
          </a:prstGeom>
          <a:noFill/>
        </p:spPr>
        <p:txBody>
          <a:bodyPr wrap="square">
            <a:spAutoFit/>
          </a:bodyPr>
          <a:lstStyle/>
          <a:p>
            <a:r>
              <a:rPr lang="en-US" sz="1800" dirty="0">
                <a:effectLst/>
                <a:latin typeface="Verdana" panose="020B0604030504040204" pitchFamily="34" charset="0"/>
                <a:ea typeface="Verdana" panose="020B0604030504040204" pitchFamily="34" charset="0"/>
                <a:cs typeface="Arial" panose="020B0604020202020204" pitchFamily="34" charset="0"/>
              </a:rPr>
              <a:t>Infi-Mesh – Dynamic Networking IoT Communication Modules</a:t>
            </a:r>
            <a:endParaRPr lang="en-IN" dirty="0"/>
          </a:p>
        </p:txBody>
      </p:sp>
      <p:sp>
        <p:nvSpPr>
          <p:cNvPr id="38" name="TextBox 37">
            <a:extLst>
              <a:ext uri="{FF2B5EF4-FFF2-40B4-BE49-F238E27FC236}">
                <a16:creationId xmlns:a16="http://schemas.microsoft.com/office/drawing/2014/main" id="{71DD1180-DB33-4F5E-B3DB-38B8EB251FE0}"/>
              </a:ext>
            </a:extLst>
          </p:cNvPr>
          <p:cNvSpPr txBox="1"/>
          <p:nvPr/>
        </p:nvSpPr>
        <p:spPr>
          <a:xfrm>
            <a:off x="1228725" y="3545324"/>
            <a:ext cx="8515350" cy="369332"/>
          </a:xfrm>
          <a:prstGeom prst="rect">
            <a:avLst/>
          </a:prstGeom>
          <a:noFill/>
        </p:spPr>
        <p:txBody>
          <a:bodyPr wrap="square">
            <a:spAutoFit/>
          </a:bodyPr>
          <a:lstStyle/>
          <a:p>
            <a:r>
              <a:rPr lang="en-US" sz="1800" dirty="0">
                <a:effectLst/>
                <a:latin typeface="Verdana" panose="020B0604030504040204" pitchFamily="34" charset="0"/>
                <a:ea typeface="Verdana" panose="020B0604030504040204" pitchFamily="34" charset="0"/>
                <a:cs typeface="Arial" panose="020B0604020202020204" pitchFamily="34" charset="0"/>
              </a:rPr>
              <a:t>Remote Industry Power Analysis System – Industrial Power Analysis</a:t>
            </a:r>
            <a:endParaRPr lang="en-IN" dirty="0"/>
          </a:p>
        </p:txBody>
      </p:sp>
      <p:sp>
        <p:nvSpPr>
          <p:cNvPr id="40" name="TextBox 39">
            <a:extLst>
              <a:ext uri="{FF2B5EF4-FFF2-40B4-BE49-F238E27FC236}">
                <a16:creationId xmlns:a16="http://schemas.microsoft.com/office/drawing/2014/main" id="{C8F28230-4854-4E8C-B0A5-BFBB8D12AF25}"/>
              </a:ext>
            </a:extLst>
          </p:cNvPr>
          <p:cNvSpPr txBox="1"/>
          <p:nvPr/>
        </p:nvSpPr>
        <p:spPr>
          <a:xfrm>
            <a:off x="1228725" y="4968454"/>
            <a:ext cx="6096000" cy="369332"/>
          </a:xfrm>
          <a:prstGeom prst="rect">
            <a:avLst/>
          </a:prstGeom>
          <a:noFill/>
        </p:spPr>
        <p:txBody>
          <a:bodyPr wrap="square">
            <a:spAutoFit/>
          </a:bodyPr>
          <a:lstStyle/>
          <a:p>
            <a:r>
              <a:rPr lang="en-US" sz="1800" dirty="0">
                <a:effectLst/>
                <a:latin typeface="Verdana" panose="020B0604030504040204" pitchFamily="34" charset="0"/>
                <a:ea typeface="Verdana" panose="020B0604030504040204" pitchFamily="34" charset="0"/>
                <a:cs typeface="Arial" panose="020B0604020202020204" pitchFamily="34" charset="0"/>
              </a:rPr>
              <a:t>Infi-Soil/ECE – Soil Electrical Conductivity Sensor</a:t>
            </a:r>
            <a:endParaRPr lang="en-IN" dirty="0"/>
          </a:p>
        </p:txBody>
      </p:sp>
      <p:sp>
        <p:nvSpPr>
          <p:cNvPr id="42" name="TextBox 41">
            <a:extLst>
              <a:ext uri="{FF2B5EF4-FFF2-40B4-BE49-F238E27FC236}">
                <a16:creationId xmlns:a16="http://schemas.microsoft.com/office/drawing/2014/main" id="{AA4D185F-1A37-4CFB-B4A8-A76861E6FECB}"/>
              </a:ext>
            </a:extLst>
          </p:cNvPr>
          <p:cNvSpPr txBox="1"/>
          <p:nvPr/>
        </p:nvSpPr>
        <p:spPr>
          <a:xfrm>
            <a:off x="1228725" y="4602544"/>
            <a:ext cx="6096000" cy="369332"/>
          </a:xfrm>
          <a:prstGeom prst="rect">
            <a:avLst/>
          </a:prstGeom>
          <a:noFill/>
        </p:spPr>
        <p:txBody>
          <a:bodyPr wrap="square">
            <a:spAutoFit/>
          </a:bodyPr>
          <a:lstStyle/>
          <a:p>
            <a:r>
              <a:rPr lang="en-US" sz="1800" dirty="0">
                <a:effectLst/>
                <a:latin typeface="Verdana" panose="020B0604030504040204" pitchFamily="34" charset="0"/>
                <a:ea typeface="Verdana" panose="020B0604030504040204" pitchFamily="34" charset="0"/>
                <a:cs typeface="Arial" panose="020B0604020202020204" pitchFamily="34" charset="0"/>
              </a:rPr>
              <a:t>Infi-Leaf – The Leaf Wetness Sensor</a:t>
            </a:r>
            <a:endParaRPr lang="en-IN" dirty="0"/>
          </a:p>
        </p:txBody>
      </p:sp>
      <p:sp>
        <p:nvSpPr>
          <p:cNvPr id="44" name="TextBox 43">
            <a:extLst>
              <a:ext uri="{FF2B5EF4-FFF2-40B4-BE49-F238E27FC236}">
                <a16:creationId xmlns:a16="http://schemas.microsoft.com/office/drawing/2014/main" id="{9F7D5F1E-E45B-4FD9-B69C-F3537F3BDE1B}"/>
              </a:ext>
            </a:extLst>
          </p:cNvPr>
          <p:cNvSpPr txBox="1"/>
          <p:nvPr/>
        </p:nvSpPr>
        <p:spPr>
          <a:xfrm>
            <a:off x="1228725" y="4233212"/>
            <a:ext cx="6096000" cy="369332"/>
          </a:xfrm>
          <a:prstGeom prst="rect">
            <a:avLst/>
          </a:prstGeom>
          <a:noFill/>
        </p:spPr>
        <p:txBody>
          <a:bodyPr wrap="square">
            <a:spAutoFit/>
          </a:bodyPr>
          <a:lstStyle/>
          <a:p>
            <a:r>
              <a:rPr lang="en-US" sz="1800" dirty="0">
                <a:effectLst/>
                <a:latin typeface="Verdana" panose="020B0604030504040204" pitchFamily="34" charset="0"/>
                <a:ea typeface="Verdana" panose="020B0604030504040204" pitchFamily="34" charset="0"/>
                <a:cs typeface="Arial" panose="020B0604020202020204" pitchFamily="34" charset="0"/>
              </a:rPr>
              <a:t>Infi-Gauge – A More accurate Rain Gauge</a:t>
            </a:r>
            <a:endParaRPr lang="en-IN" dirty="0"/>
          </a:p>
        </p:txBody>
      </p:sp>
      <p:sp>
        <p:nvSpPr>
          <p:cNvPr id="46" name="TextBox 45">
            <a:extLst>
              <a:ext uri="{FF2B5EF4-FFF2-40B4-BE49-F238E27FC236}">
                <a16:creationId xmlns:a16="http://schemas.microsoft.com/office/drawing/2014/main" id="{9B48EF18-782A-4787-A8BD-533D4D344375}"/>
              </a:ext>
            </a:extLst>
          </p:cNvPr>
          <p:cNvSpPr txBox="1"/>
          <p:nvPr/>
        </p:nvSpPr>
        <p:spPr>
          <a:xfrm>
            <a:off x="819150" y="3779008"/>
            <a:ext cx="8324850" cy="457626"/>
          </a:xfrm>
          <a:prstGeom prst="rect">
            <a:avLst/>
          </a:prstGeom>
          <a:noFill/>
        </p:spPr>
        <p:txBody>
          <a:bodyPr wrap="square">
            <a:spAutoFit/>
          </a:bodyPr>
          <a:lstStyle/>
          <a:p>
            <a:pPr marL="431800">
              <a:lnSpc>
                <a:spcPct val="150000"/>
              </a:lnSpc>
              <a:spcAft>
                <a:spcPts val="0"/>
              </a:spcAft>
            </a:pPr>
            <a:r>
              <a:rPr lang="en-US" sz="1800" dirty="0">
                <a:effectLst/>
                <a:latin typeface="Verdana" panose="020B0604030504040204" pitchFamily="34" charset="0"/>
                <a:ea typeface="Verdana" panose="020B0604030504040204" pitchFamily="34" charset="0"/>
                <a:cs typeface="Arial" panose="020B0604020202020204" pitchFamily="34" charset="0"/>
              </a:rPr>
              <a:t>Infi-Weather – Cutting-Edge weather station with AI Forecast</a:t>
            </a:r>
            <a:endParaRPr lang="en-IN" sz="1400" dirty="0">
              <a:effectLst/>
              <a:latin typeface="Gill Sans MT" panose="020B0502020104020203" pitchFamily="34" charset="0"/>
              <a:ea typeface="Times New Roman" panose="02020603050405020304" pitchFamily="18" charset="0"/>
              <a:cs typeface="Mangal" panose="02040503050203030202" pitchFamily="18" charset="0"/>
            </a:endParaRPr>
          </a:p>
        </p:txBody>
      </p:sp>
      <p:sp>
        <p:nvSpPr>
          <p:cNvPr id="48" name="TextBox 47">
            <a:extLst>
              <a:ext uri="{FF2B5EF4-FFF2-40B4-BE49-F238E27FC236}">
                <a16:creationId xmlns:a16="http://schemas.microsoft.com/office/drawing/2014/main" id="{82723778-6195-4167-B1C2-1CBE1F0D5381}"/>
              </a:ext>
            </a:extLst>
          </p:cNvPr>
          <p:cNvSpPr txBox="1"/>
          <p:nvPr/>
        </p:nvSpPr>
        <p:spPr>
          <a:xfrm>
            <a:off x="1743075" y="5337786"/>
            <a:ext cx="6096000" cy="457626"/>
          </a:xfrm>
          <a:prstGeom prst="rect">
            <a:avLst/>
          </a:prstGeom>
          <a:noFill/>
        </p:spPr>
        <p:txBody>
          <a:bodyPr wrap="square">
            <a:spAutoFit/>
          </a:bodyPr>
          <a:lstStyle/>
          <a:p>
            <a:pPr marL="431800">
              <a:lnSpc>
                <a:spcPct val="150000"/>
              </a:lnSpc>
              <a:spcAft>
                <a:spcPts val="0"/>
              </a:spcAft>
            </a:pPr>
            <a:r>
              <a:rPr lang="en-US" sz="1800" dirty="0">
                <a:effectLst/>
                <a:latin typeface="Verdana" panose="020B0604030504040204" pitchFamily="34" charset="0"/>
                <a:ea typeface="Verdana" panose="020B0604030504040204" pitchFamily="34" charset="0"/>
                <a:cs typeface="Arial" panose="020B0604020202020204" pitchFamily="34" charset="0"/>
              </a:rPr>
              <a:t>And many more..</a:t>
            </a:r>
            <a:endParaRPr lang="en-IN" sz="1400" dirty="0">
              <a:effectLst/>
              <a:latin typeface="Gill Sans MT" panose="020B0502020104020203" pitchFamily="34" charset="0"/>
              <a:ea typeface="Times New Roman" panose="02020603050405020304" pitchFamily="18" charset="0"/>
              <a:cs typeface="Mangal" panose="02040503050203030202" pitchFamily="18" charset="0"/>
            </a:endParaRPr>
          </a:p>
        </p:txBody>
      </p:sp>
      <p:pic>
        <p:nvPicPr>
          <p:cNvPr id="49" name="Picture 48">
            <a:extLst>
              <a:ext uri="{FF2B5EF4-FFF2-40B4-BE49-F238E27FC236}">
                <a16:creationId xmlns:a16="http://schemas.microsoft.com/office/drawing/2014/main" id="{94A3BAF4-CF7C-475F-AF3A-F8ECB91C9FC7}"/>
              </a:ext>
            </a:extLst>
          </p:cNvPr>
          <p:cNvPicPr/>
          <p:nvPr/>
        </p:nvPicPr>
        <p:blipFill>
          <a:blip r:embed="rId2"/>
          <a:stretch>
            <a:fillRect/>
          </a:stretch>
        </p:blipFill>
        <p:spPr>
          <a:xfrm>
            <a:off x="1085850" y="2219324"/>
            <a:ext cx="85725" cy="72559"/>
          </a:xfrm>
          <a:prstGeom prst="rect">
            <a:avLst/>
          </a:prstGeom>
        </p:spPr>
      </p:pic>
      <p:pic>
        <p:nvPicPr>
          <p:cNvPr id="50" name="Picture 49">
            <a:extLst>
              <a:ext uri="{FF2B5EF4-FFF2-40B4-BE49-F238E27FC236}">
                <a16:creationId xmlns:a16="http://schemas.microsoft.com/office/drawing/2014/main" id="{E9E92F51-30BB-43C6-BA41-B4FBF9B113B1}"/>
              </a:ext>
            </a:extLst>
          </p:cNvPr>
          <p:cNvPicPr/>
          <p:nvPr/>
        </p:nvPicPr>
        <p:blipFill>
          <a:blip r:embed="rId2"/>
          <a:stretch>
            <a:fillRect/>
          </a:stretch>
        </p:blipFill>
        <p:spPr>
          <a:xfrm>
            <a:off x="1085850" y="2590799"/>
            <a:ext cx="85725" cy="72559"/>
          </a:xfrm>
          <a:prstGeom prst="rect">
            <a:avLst/>
          </a:prstGeom>
        </p:spPr>
      </p:pic>
      <p:pic>
        <p:nvPicPr>
          <p:cNvPr id="51" name="Picture 50">
            <a:extLst>
              <a:ext uri="{FF2B5EF4-FFF2-40B4-BE49-F238E27FC236}">
                <a16:creationId xmlns:a16="http://schemas.microsoft.com/office/drawing/2014/main" id="{4174C0AA-96FC-4B15-B8C4-389D082F5449}"/>
              </a:ext>
            </a:extLst>
          </p:cNvPr>
          <p:cNvPicPr/>
          <p:nvPr/>
        </p:nvPicPr>
        <p:blipFill>
          <a:blip r:embed="rId2"/>
          <a:stretch>
            <a:fillRect/>
          </a:stretch>
        </p:blipFill>
        <p:spPr>
          <a:xfrm>
            <a:off x="1085850" y="2962274"/>
            <a:ext cx="85725" cy="72559"/>
          </a:xfrm>
          <a:prstGeom prst="rect">
            <a:avLst/>
          </a:prstGeom>
        </p:spPr>
      </p:pic>
      <p:pic>
        <p:nvPicPr>
          <p:cNvPr id="52" name="Picture 51">
            <a:extLst>
              <a:ext uri="{FF2B5EF4-FFF2-40B4-BE49-F238E27FC236}">
                <a16:creationId xmlns:a16="http://schemas.microsoft.com/office/drawing/2014/main" id="{D2EC2009-30A9-4F2F-BAA8-25DB2554DB61}"/>
              </a:ext>
            </a:extLst>
          </p:cNvPr>
          <p:cNvPicPr/>
          <p:nvPr/>
        </p:nvPicPr>
        <p:blipFill>
          <a:blip r:embed="rId2"/>
          <a:stretch>
            <a:fillRect/>
          </a:stretch>
        </p:blipFill>
        <p:spPr>
          <a:xfrm>
            <a:off x="1085850" y="3333749"/>
            <a:ext cx="85725" cy="72559"/>
          </a:xfrm>
          <a:prstGeom prst="rect">
            <a:avLst/>
          </a:prstGeom>
        </p:spPr>
      </p:pic>
      <p:pic>
        <p:nvPicPr>
          <p:cNvPr id="53" name="Picture 52">
            <a:extLst>
              <a:ext uri="{FF2B5EF4-FFF2-40B4-BE49-F238E27FC236}">
                <a16:creationId xmlns:a16="http://schemas.microsoft.com/office/drawing/2014/main" id="{88D5A1E0-2EE1-409A-B7F5-5CCE94CA7A5A}"/>
              </a:ext>
            </a:extLst>
          </p:cNvPr>
          <p:cNvPicPr/>
          <p:nvPr/>
        </p:nvPicPr>
        <p:blipFill>
          <a:blip r:embed="rId2"/>
          <a:stretch>
            <a:fillRect/>
          </a:stretch>
        </p:blipFill>
        <p:spPr>
          <a:xfrm>
            <a:off x="1085850" y="3705224"/>
            <a:ext cx="85725" cy="72559"/>
          </a:xfrm>
          <a:prstGeom prst="rect">
            <a:avLst/>
          </a:prstGeom>
        </p:spPr>
      </p:pic>
      <p:pic>
        <p:nvPicPr>
          <p:cNvPr id="54" name="Picture 53">
            <a:extLst>
              <a:ext uri="{FF2B5EF4-FFF2-40B4-BE49-F238E27FC236}">
                <a16:creationId xmlns:a16="http://schemas.microsoft.com/office/drawing/2014/main" id="{228E3859-F84A-4BCD-A946-18B75CCEDFC0}"/>
              </a:ext>
            </a:extLst>
          </p:cNvPr>
          <p:cNvPicPr/>
          <p:nvPr/>
        </p:nvPicPr>
        <p:blipFill>
          <a:blip r:embed="rId2"/>
          <a:stretch>
            <a:fillRect/>
          </a:stretch>
        </p:blipFill>
        <p:spPr>
          <a:xfrm>
            <a:off x="1085850" y="4029074"/>
            <a:ext cx="85725" cy="72559"/>
          </a:xfrm>
          <a:prstGeom prst="rect">
            <a:avLst/>
          </a:prstGeom>
        </p:spPr>
      </p:pic>
      <p:pic>
        <p:nvPicPr>
          <p:cNvPr id="55" name="Picture 54">
            <a:extLst>
              <a:ext uri="{FF2B5EF4-FFF2-40B4-BE49-F238E27FC236}">
                <a16:creationId xmlns:a16="http://schemas.microsoft.com/office/drawing/2014/main" id="{EC06E719-3A51-42AA-B80C-6EB4DF9842F4}"/>
              </a:ext>
            </a:extLst>
          </p:cNvPr>
          <p:cNvPicPr/>
          <p:nvPr/>
        </p:nvPicPr>
        <p:blipFill>
          <a:blip r:embed="rId2"/>
          <a:stretch>
            <a:fillRect/>
          </a:stretch>
        </p:blipFill>
        <p:spPr>
          <a:xfrm>
            <a:off x="1085850" y="4391024"/>
            <a:ext cx="85725" cy="72559"/>
          </a:xfrm>
          <a:prstGeom prst="rect">
            <a:avLst/>
          </a:prstGeom>
        </p:spPr>
      </p:pic>
      <p:pic>
        <p:nvPicPr>
          <p:cNvPr id="56" name="Picture 55">
            <a:extLst>
              <a:ext uri="{FF2B5EF4-FFF2-40B4-BE49-F238E27FC236}">
                <a16:creationId xmlns:a16="http://schemas.microsoft.com/office/drawing/2014/main" id="{A85D7414-615B-4B13-89CE-2D3A89CE2B56}"/>
              </a:ext>
            </a:extLst>
          </p:cNvPr>
          <p:cNvPicPr/>
          <p:nvPr/>
        </p:nvPicPr>
        <p:blipFill>
          <a:blip r:embed="rId2"/>
          <a:stretch>
            <a:fillRect/>
          </a:stretch>
        </p:blipFill>
        <p:spPr>
          <a:xfrm>
            <a:off x="1085850" y="4762499"/>
            <a:ext cx="85725" cy="72559"/>
          </a:xfrm>
          <a:prstGeom prst="rect">
            <a:avLst/>
          </a:prstGeom>
        </p:spPr>
      </p:pic>
      <p:pic>
        <p:nvPicPr>
          <p:cNvPr id="57" name="Picture 56">
            <a:extLst>
              <a:ext uri="{FF2B5EF4-FFF2-40B4-BE49-F238E27FC236}">
                <a16:creationId xmlns:a16="http://schemas.microsoft.com/office/drawing/2014/main" id="{150B1DF3-13A7-465A-8B20-960BFE674A74}"/>
              </a:ext>
            </a:extLst>
          </p:cNvPr>
          <p:cNvPicPr/>
          <p:nvPr/>
        </p:nvPicPr>
        <p:blipFill>
          <a:blip r:embed="rId2"/>
          <a:stretch>
            <a:fillRect/>
          </a:stretch>
        </p:blipFill>
        <p:spPr>
          <a:xfrm>
            <a:off x="1085850" y="5114924"/>
            <a:ext cx="85725" cy="72559"/>
          </a:xfrm>
          <a:prstGeom prst="rect">
            <a:avLst/>
          </a:prstGeom>
        </p:spPr>
      </p:pic>
    </p:spTree>
    <p:extLst>
      <p:ext uri="{BB962C8B-B14F-4D97-AF65-F5344CB8AC3E}">
        <p14:creationId xmlns:p14="http://schemas.microsoft.com/office/powerpoint/2010/main" val="1213239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570105" y="143434"/>
            <a:ext cx="184731" cy="769441"/>
          </a:xfrm>
          <a:prstGeom prst="rect">
            <a:avLst/>
          </a:prstGeom>
          <a:noFill/>
        </p:spPr>
        <p:txBody>
          <a:bodyPr wrap="none" rtlCol="0">
            <a:spAutoFit/>
          </a:bodyPr>
          <a:lstStyle/>
          <a:p>
            <a:endParaRPr lang="en-IN" sz="4400" b="1" i="1" dirty="0">
              <a:solidFill>
                <a:srgbClr val="C44831"/>
              </a:solidFill>
            </a:endParaRPr>
          </a:p>
        </p:txBody>
      </p:sp>
      <p:sp>
        <p:nvSpPr>
          <p:cNvPr id="5" name="TextBox 4"/>
          <p:cNvSpPr txBox="1"/>
          <p:nvPr/>
        </p:nvSpPr>
        <p:spPr>
          <a:xfrm>
            <a:off x="8227205" y="79355"/>
            <a:ext cx="3649910" cy="769441"/>
          </a:xfrm>
          <a:prstGeom prst="rect">
            <a:avLst/>
          </a:prstGeom>
          <a:noFill/>
        </p:spPr>
        <p:txBody>
          <a:bodyPr wrap="none" rtlCol="0">
            <a:spAutoFit/>
          </a:bodyPr>
          <a:lstStyle/>
          <a:p>
            <a:r>
              <a:rPr lang="en-IN" sz="4400" b="1" dirty="0">
                <a:solidFill>
                  <a:srgbClr val="C44831"/>
                </a:solidFill>
              </a:rPr>
              <a:t>Our Objectives</a:t>
            </a:r>
          </a:p>
        </p:txBody>
      </p:sp>
      <p:sp>
        <p:nvSpPr>
          <p:cNvPr id="24" name="TextBox 23">
            <a:extLst>
              <a:ext uri="{FF2B5EF4-FFF2-40B4-BE49-F238E27FC236}">
                <a16:creationId xmlns:a16="http://schemas.microsoft.com/office/drawing/2014/main" id="{47F08352-6F2E-4BF4-A22F-B94C36DF6B4F}"/>
              </a:ext>
            </a:extLst>
          </p:cNvPr>
          <p:cNvSpPr txBox="1"/>
          <p:nvPr/>
        </p:nvSpPr>
        <p:spPr>
          <a:xfrm>
            <a:off x="742948" y="1799465"/>
            <a:ext cx="9439275" cy="369332"/>
          </a:xfrm>
          <a:prstGeom prst="rect">
            <a:avLst/>
          </a:prstGeom>
          <a:noFill/>
        </p:spPr>
        <p:txBody>
          <a:bodyPr wrap="square">
            <a:spAutoFit/>
          </a:bodyPr>
          <a:lstStyle/>
          <a:p>
            <a:r>
              <a:rPr lang="en-US" sz="1800" dirty="0">
                <a:solidFill>
                  <a:srgbClr val="B72223"/>
                </a:solidFill>
                <a:effectLst/>
                <a:latin typeface="Verdana" panose="020B0604030504040204" pitchFamily="34" charset="0"/>
                <a:ea typeface="Verdana" panose="020B0604030504040204" pitchFamily="34" charset="0"/>
                <a:cs typeface="Arial" panose="020B0604020202020204" pitchFamily="34" charset="0"/>
              </a:rPr>
              <a:t>Concept Design </a:t>
            </a:r>
            <a:r>
              <a:rPr lang="en-US" sz="1800" dirty="0">
                <a:effectLst/>
                <a:latin typeface="Verdana" panose="020B0604030504040204" pitchFamily="34" charset="0"/>
                <a:ea typeface="Verdana" panose="020B0604030504040204" pitchFamily="34" charset="0"/>
                <a:cs typeface="Arial" panose="020B0604020202020204" pitchFamily="34" charset="0"/>
              </a:rPr>
              <a:t>– to come up with </a:t>
            </a:r>
            <a:r>
              <a:rPr lang="en-US" sz="1800" dirty="0">
                <a:effectLst/>
                <a:latin typeface="Verdana" panose="020B0604030504040204" pitchFamily="34" charset="0"/>
                <a:ea typeface="Times New Roman" panose="02020603050405020304" pitchFamily="18" charset="0"/>
                <a:cs typeface="Mangal" panose="02040503050203030202" pitchFamily="18" charset="0"/>
              </a:rPr>
              <a:t>fresh ideas with a global market perspective.</a:t>
            </a:r>
            <a:endParaRPr lang="en-IN" dirty="0"/>
          </a:p>
        </p:txBody>
      </p:sp>
      <p:sp>
        <p:nvSpPr>
          <p:cNvPr id="26" name="TextBox 25">
            <a:extLst>
              <a:ext uri="{FF2B5EF4-FFF2-40B4-BE49-F238E27FC236}">
                <a16:creationId xmlns:a16="http://schemas.microsoft.com/office/drawing/2014/main" id="{EA9FFB4D-047A-421B-88C0-16C0DCD6B4C1}"/>
              </a:ext>
            </a:extLst>
          </p:cNvPr>
          <p:cNvSpPr txBox="1"/>
          <p:nvPr/>
        </p:nvSpPr>
        <p:spPr>
          <a:xfrm>
            <a:off x="742948" y="2249542"/>
            <a:ext cx="8686800" cy="369332"/>
          </a:xfrm>
          <a:prstGeom prst="rect">
            <a:avLst/>
          </a:prstGeom>
          <a:noFill/>
        </p:spPr>
        <p:txBody>
          <a:bodyPr wrap="square">
            <a:spAutoFit/>
          </a:bodyPr>
          <a:lstStyle/>
          <a:p>
            <a:r>
              <a:rPr lang="en-US" sz="1800" dirty="0">
                <a:solidFill>
                  <a:srgbClr val="B72223"/>
                </a:solidFill>
                <a:effectLst/>
                <a:latin typeface="Verdana" panose="020B0604030504040204" pitchFamily="34" charset="0"/>
                <a:ea typeface="Verdana" panose="020B0604030504040204" pitchFamily="34" charset="0"/>
                <a:cs typeface="Arial" panose="020B0604020202020204" pitchFamily="34" charset="0"/>
              </a:rPr>
              <a:t>Innovation</a:t>
            </a:r>
            <a:r>
              <a:rPr lang="en-US" sz="1800" dirty="0">
                <a:effectLst/>
                <a:latin typeface="Verdana" panose="020B0604030504040204" pitchFamily="34" charset="0"/>
                <a:ea typeface="Verdana" panose="020B0604030504040204" pitchFamily="34" charset="0"/>
                <a:cs typeface="Arial" panose="020B0604020202020204" pitchFamily="34" charset="0"/>
              </a:rPr>
              <a:t> – </a:t>
            </a:r>
            <a:r>
              <a:rPr lang="en-US" sz="1800" dirty="0">
                <a:effectLst/>
                <a:latin typeface="Verdana" panose="020B0604030504040204" pitchFamily="34" charset="0"/>
                <a:ea typeface="Times New Roman" panose="02020603050405020304" pitchFamily="18" charset="0"/>
                <a:cs typeface="Mangal" panose="02040503050203030202" pitchFamily="18" charset="0"/>
              </a:rPr>
              <a:t>To offer multi-disciplinary product design and innovation.</a:t>
            </a:r>
            <a:endParaRPr lang="en-IN" dirty="0"/>
          </a:p>
        </p:txBody>
      </p:sp>
      <p:sp>
        <p:nvSpPr>
          <p:cNvPr id="28" name="TextBox 27">
            <a:extLst>
              <a:ext uri="{FF2B5EF4-FFF2-40B4-BE49-F238E27FC236}">
                <a16:creationId xmlns:a16="http://schemas.microsoft.com/office/drawing/2014/main" id="{22732367-7BA9-4239-9D45-4355B50F8240}"/>
              </a:ext>
            </a:extLst>
          </p:cNvPr>
          <p:cNvSpPr txBox="1"/>
          <p:nvPr/>
        </p:nvSpPr>
        <p:spPr>
          <a:xfrm>
            <a:off x="323848" y="2695184"/>
            <a:ext cx="10896600" cy="873124"/>
          </a:xfrm>
          <a:prstGeom prst="rect">
            <a:avLst/>
          </a:prstGeom>
          <a:noFill/>
        </p:spPr>
        <p:txBody>
          <a:bodyPr wrap="square">
            <a:spAutoFit/>
          </a:bodyPr>
          <a:lstStyle/>
          <a:p>
            <a:pPr marL="431800">
              <a:lnSpc>
                <a:spcPct val="150000"/>
              </a:lnSpc>
              <a:spcAft>
                <a:spcPts val="0"/>
              </a:spcAft>
            </a:pPr>
            <a:r>
              <a:rPr lang="en-US" sz="1800" dirty="0">
                <a:solidFill>
                  <a:srgbClr val="B72223"/>
                </a:solidFill>
                <a:effectLst/>
                <a:latin typeface="Verdana" panose="020B0604030504040204" pitchFamily="34" charset="0"/>
                <a:ea typeface="Times New Roman" panose="02020603050405020304" pitchFamily="18" charset="0"/>
                <a:cs typeface="Mangal" panose="02040503050203030202" pitchFamily="18" charset="0"/>
              </a:rPr>
              <a:t>Technology on the Edge </a:t>
            </a:r>
            <a:r>
              <a:rPr lang="en-US" sz="1800" dirty="0">
                <a:effectLst/>
                <a:latin typeface="Verdana" panose="020B0604030504040204" pitchFamily="34" charset="0"/>
                <a:ea typeface="Times New Roman" panose="02020603050405020304" pitchFamily="18" charset="0"/>
                <a:cs typeface="Mangal" panose="02040503050203030202" pitchFamily="18" charset="0"/>
              </a:rPr>
              <a:t>– To use latest Tech for our solutions, operate faster, Smoother 				and more Secure</a:t>
            </a:r>
            <a:endParaRPr lang="en-IN" sz="1400" dirty="0">
              <a:effectLst/>
              <a:latin typeface="Gill Sans MT" panose="020B0502020104020203" pitchFamily="34" charset="0"/>
              <a:ea typeface="Times New Roman" panose="02020603050405020304" pitchFamily="18" charset="0"/>
              <a:cs typeface="Mangal" panose="02040503050203030202" pitchFamily="18" charset="0"/>
            </a:endParaRPr>
          </a:p>
        </p:txBody>
      </p:sp>
      <p:sp>
        <p:nvSpPr>
          <p:cNvPr id="31" name="TextBox 30">
            <a:extLst>
              <a:ext uri="{FF2B5EF4-FFF2-40B4-BE49-F238E27FC236}">
                <a16:creationId xmlns:a16="http://schemas.microsoft.com/office/drawing/2014/main" id="{C582CBE4-874E-48E3-B6EE-41A9DD93C7D8}"/>
              </a:ext>
            </a:extLst>
          </p:cNvPr>
          <p:cNvSpPr txBox="1"/>
          <p:nvPr/>
        </p:nvSpPr>
        <p:spPr>
          <a:xfrm>
            <a:off x="742948" y="3647818"/>
            <a:ext cx="11334751" cy="646331"/>
          </a:xfrm>
          <a:prstGeom prst="rect">
            <a:avLst/>
          </a:prstGeom>
          <a:noFill/>
        </p:spPr>
        <p:txBody>
          <a:bodyPr wrap="square">
            <a:spAutoFit/>
          </a:bodyPr>
          <a:lstStyle/>
          <a:p>
            <a:r>
              <a:rPr lang="en-US" sz="1800" dirty="0">
                <a:solidFill>
                  <a:srgbClr val="B72223"/>
                </a:solidFill>
                <a:effectLst/>
                <a:latin typeface="Verdana" panose="020B0604030504040204" pitchFamily="34" charset="0"/>
                <a:ea typeface="Times New Roman" panose="02020603050405020304" pitchFamily="18" charset="0"/>
                <a:cs typeface="Mangal" panose="02040503050203030202" pitchFamily="18" charset="0"/>
              </a:rPr>
              <a:t>Value for money</a:t>
            </a:r>
            <a:r>
              <a:rPr lang="en-US" sz="1800" dirty="0">
                <a:effectLst/>
                <a:latin typeface="Verdana" panose="020B0604030504040204" pitchFamily="34" charset="0"/>
                <a:ea typeface="Times New Roman" panose="02020603050405020304" pitchFamily="18" charset="0"/>
                <a:cs typeface="Mangal" panose="02040503050203030202" pitchFamily="18" charset="0"/>
              </a:rPr>
              <a:t> - We believe our success lies in Clients Satisfaction; 							our team is always on front foot while serving Clients</a:t>
            </a:r>
            <a:endParaRPr lang="en-IN" dirty="0"/>
          </a:p>
        </p:txBody>
      </p:sp>
      <p:sp>
        <p:nvSpPr>
          <p:cNvPr id="33" name="TextBox 32">
            <a:extLst>
              <a:ext uri="{FF2B5EF4-FFF2-40B4-BE49-F238E27FC236}">
                <a16:creationId xmlns:a16="http://schemas.microsoft.com/office/drawing/2014/main" id="{B0A6C6D0-11A1-4AC9-AA5A-462B1C3D8643}"/>
              </a:ext>
            </a:extLst>
          </p:cNvPr>
          <p:cNvSpPr txBox="1"/>
          <p:nvPr/>
        </p:nvSpPr>
        <p:spPr>
          <a:xfrm>
            <a:off x="323848" y="4294149"/>
            <a:ext cx="10896600" cy="873124"/>
          </a:xfrm>
          <a:prstGeom prst="rect">
            <a:avLst/>
          </a:prstGeom>
          <a:noFill/>
        </p:spPr>
        <p:txBody>
          <a:bodyPr wrap="square">
            <a:spAutoFit/>
          </a:bodyPr>
          <a:lstStyle/>
          <a:p>
            <a:pPr marL="431800">
              <a:lnSpc>
                <a:spcPct val="150000"/>
              </a:lnSpc>
              <a:spcAft>
                <a:spcPts val="0"/>
              </a:spcAft>
            </a:pPr>
            <a:r>
              <a:rPr lang="en-US" sz="1800" dirty="0">
                <a:solidFill>
                  <a:srgbClr val="B72223"/>
                </a:solidFill>
                <a:effectLst/>
                <a:latin typeface="Verdana" panose="020B0604030504040204" pitchFamily="34" charset="0"/>
                <a:ea typeface="Times New Roman" panose="02020603050405020304" pitchFamily="18" charset="0"/>
                <a:cs typeface="Mangal" panose="02040503050203030202" pitchFamily="18" charset="0"/>
              </a:rPr>
              <a:t>Faster Turnaround Time </a:t>
            </a:r>
            <a:r>
              <a:rPr lang="en-US" sz="1800" dirty="0">
                <a:effectLst/>
                <a:latin typeface="Verdana" panose="020B0604030504040204" pitchFamily="34" charset="0"/>
                <a:ea typeface="Times New Roman" panose="02020603050405020304" pitchFamily="18" charset="0"/>
                <a:cs typeface="Mangal" panose="02040503050203030202" pitchFamily="18" charset="0"/>
              </a:rPr>
              <a:t>- With turnaround time of less than a week, we are set to serve our Clients at its best.</a:t>
            </a:r>
            <a:endParaRPr lang="en-IN" sz="1400" dirty="0">
              <a:effectLst/>
              <a:latin typeface="Gill Sans MT" panose="020B0502020104020203" pitchFamily="34" charset="0"/>
              <a:ea typeface="Times New Roman" panose="02020603050405020304" pitchFamily="18" charset="0"/>
              <a:cs typeface="Mangal" panose="02040503050203030202" pitchFamily="18" charset="0"/>
            </a:endParaRPr>
          </a:p>
        </p:txBody>
      </p:sp>
      <p:pic>
        <p:nvPicPr>
          <p:cNvPr id="9" name="Picture 8">
            <a:extLst>
              <a:ext uri="{FF2B5EF4-FFF2-40B4-BE49-F238E27FC236}">
                <a16:creationId xmlns:a16="http://schemas.microsoft.com/office/drawing/2014/main" id="{D96508E3-F0E9-4E20-A566-208AF29DBF64}"/>
              </a:ext>
            </a:extLst>
          </p:cNvPr>
          <p:cNvPicPr/>
          <p:nvPr/>
        </p:nvPicPr>
        <p:blipFill>
          <a:blip r:embed="rId2"/>
          <a:stretch>
            <a:fillRect/>
          </a:stretch>
        </p:blipFill>
        <p:spPr>
          <a:xfrm>
            <a:off x="600075" y="1943099"/>
            <a:ext cx="85725" cy="72559"/>
          </a:xfrm>
          <a:prstGeom prst="rect">
            <a:avLst/>
          </a:prstGeom>
        </p:spPr>
      </p:pic>
      <p:pic>
        <p:nvPicPr>
          <p:cNvPr id="37" name="Picture 36">
            <a:extLst>
              <a:ext uri="{FF2B5EF4-FFF2-40B4-BE49-F238E27FC236}">
                <a16:creationId xmlns:a16="http://schemas.microsoft.com/office/drawing/2014/main" id="{8136E1AB-303A-4E49-9DA0-99A5D16D9D3F}"/>
              </a:ext>
            </a:extLst>
          </p:cNvPr>
          <p:cNvPicPr/>
          <p:nvPr/>
        </p:nvPicPr>
        <p:blipFill>
          <a:blip r:embed="rId2"/>
          <a:stretch>
            <a:fillRect/>
          </a:stretch>
        </p:blipFill>
        <p:spPr>
          <a:xfrm>
            <a:off x="609600" y="2390774"/>
            <a:ext cx="85725" cy="72559"/>
          </a:xfrm>
          <a:prstGeom prst="rect">
            <a:avLst/>
          </a:prstGeom>
        </p:spPr>
      </p:pic>
      <p:pic>
        <p:nvPicPr>
          <p:cNvPr id="39" name="Picture 38">
            <a:extLst>
              <a:ext uri="{FF2B5EF4-FFF2-40B4-BE49-F238E27FC236}">
                <a16:creationId xmlns:a16="http://schemas.microsoft.com/office/drawing/2014/main" id="{07744CC0-EDD3-4A8A-A022-FC74DDFA5A9C}"/>
              </a:ext>
            </a:extLst>
          </p:cNvPr>
          <p:cNvPicPr/>
          <p:nvPr/>
        </p:nvPicPr>
        <p:blipFill>
          <a:blip r:embed="rId2"/>
          <a:stretch>
            <a:fillRect/>
          </a:stretch>
        </p:blipFill>
        <p:spPr>
          <a:xfrm>
            <a:off x="619125" y="2943224"/>
            <a:ext cx="85725" cy="72559"/>
          </a:xfrm>
          <a:prstGeom prst="rect">
            <a:avLst/>
          </a:prstGeom>
        </p:spPr>
      </p:pic>
      <p:pic>
        <p:nvPicPr>
          <p:cNvPr id="43" name="Picture 42">
            <a:extLst>
              <a:ext uri="{FF2B5EF4-FFF2-40B4-BE49-F238E27FC236}">
                <a16:creationId xmlns:a16="http://schemas.microsoft.com/office/drawing/2014/main" id="{CD536540-78F0-451D-9D6F-76F0193B5FC9}"/>
              </a:ext>
            </a:extLst>
          </p:cNvPr>
          <p:cNvPicPr/>
          <p:nvPr/>
        </p:nvPicPr>
        <p:blipFill>
          <a:blip r:embed="rId2"/>
          <a:stretch>
            <a:fillRect/>
          </a:stretch>
        </p:blipFill>
        <p:spPr>
          <a:xfrm>
            <a:off x="638175" y="3819524"/>
            <a:ext cx="85725" cy="72559"/>
          </a:xfrm>
          <a:prstGeom prst="rect">
            <a:avLst/>
          </a:prstGeom>
        </p:spPr>
      </p:pic>
      <p:pic>
        <p:nvPicPr>
          <p:cNvPr id="45" name="Picture 44">
            <a:extLst>
              <a:ext uri="{FF2B5EF4-FFF2-40B4-BE49-F238E27FC236}">
                <a16:creationId xmlns:a16="http://schemas.microsoft.com/office/drawing/2014/main" id="{6D937CF7-1D52-417A-9EFD-61B1DB4D529F}"/>
              </a:ext>
            </a:extLst>
          </p:cNvPr>
          <p:cNvPicPr/>
          <p:nvPr/>
        </p:nvPicPr>
        <p:blipFill>
          <a:blip r:embed="rId2"/>
          <a:stretch>
            <a:fillRect/>
          </a:stretch>
        </p:blipFill>
        <p:spPr>
          <a:xfrm>
            <a:off x="647700" y="4533899"/>
            <a:ext cx="85725" cy="72559"/>
          </a:xfrm>
          <a:prstGeom prst="rect">
            <a:avLst/>
          </a:prstGeom>
        </p:spPr>
      </p:pic>
    </p:spTree>
    <p:extLst>
      <p:ext uri="{BB962C8B-B14F-4D97-AF65-F5344CB8AC3E}">
        <p14:creationId xmlns:p14="http://schemas.microsoft.com/office/powerpoint/2010/main" val="3018583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570105" y="143434"/>
            <a:ext cx="184731" cy="769441"/>
          </a:xfrm>
          <a:prstGeom prst="rect">
            <a:avLst/>
          </a:prstGeom>
          <a:noFill/>
        </p:spPr>
        <p:txBody>
          <a:bodyPr wrap="none" rtlCol="0">
            <a:spAutoFit/>
          </a:bodyPr>
          <a:lstStyle/>
          <a:p>
            <a:endParaRPr lang="en-IN" sz="4400" b="1" i="1" dirty="0">
              <a:solidFill>
                <a:srgbClr val="C44831"/>
              </a:solidFill>
            </a:endParaRPr>
          </a:p>
        </p:txBody>
      </p:sp>
      <p:sp>
        <p:nvSpPr>
          <p:cNvPr id="5" name="TextBox 4"/>
          <p:cNvSpPr txBox="1"/>
          <p:nvPr/>
        </p:nvSpPr>
        <p:spPr>
          <a:xfrm>
            <a:off x="8227205" y="79355"/>
            <a:ext cx="3649910" cy="769441"/>
          </a:xfrm>
          <a:prstGeom prst="rect">
            <a:avLst/>
          </a:prstGeom>
          <a:noFill/>
        </p:spPr>
        <p:txBody>
          <a:bodyPr wrap="none" rtlCol="0">
            <a:spAutoFit/>
          </a:bodyPr>
          <a:lstStyle/>
          <a:p>
            <a:r>
              <a:rPr lang="en-IN" sz="4400" b="1" dirty="0">
                <a:solidFill>
                  <a:srgbClr val="C44831"/>
                </a:solidFill>
              </a:rPr>
              <a:t>Our Objectives</a:t>
            </a:r>
          </a:p>
        </p:txBody>
      </p:sp>
      <p:sp>
        <p:nvSpPr>
          <p:cNvPr id="15" name="TextBox 14">
            <a:extLst>
              <a:ext uri="{FF2B5EF4-FFF2-40B4-BE49-F238E27FC236}">
                <a16:creationId xmlns:a16="http://schemas.microsoft.com/office/drawing/2014/main" id="{62B1CA69-A2FD-4146-B470-849046D20B49}"/>
              </a:ext>
            </a:extLst>
          </p:cNvPr>
          <p:cNvSpPr txBox="1"/>
          <p:nvPr/>
        </p:nvSpPr>
        <p:spPr>
          <a:xfrm>
            <a:off x="1133474" y="4679792"/>
            <a:ext cx="9925050" cy="756169"/>
          </a:xfrm>
          <a:prstGeom prst="rect">
            <a:avLst/>
          </a:prstGeom>
          <a:noFill/>
        </p:spPr>
        <p:txBody>
          <a:bodyPr wrap="square">
            <a:spAutoFit/>
          </a:bodyPr>
          <a:lstStyle/>
          <a:p>
            <a:pPr algn="ctr">
              <a:lnSpc>
                <a:spcPct val="110000"/>
              </a:lnSpc>
              <a:spcAft>
                <a:spcPts val="600"/>
              </a:spcAft>
            </a:pPr>
            <a:r>
              <a:rPr lang="en-US" sz="1800" dirty="0">
                <a:solidFill>
                  <a:srgbClr val="808080"/>
                </a:solidFill>
                <a:effectLst/>
                <a:latin typeface="Verdana" panose="020B0604030504040204" pitchFamily="34" charset="0"/>
                <a:ea typeface="Verdana" panose="020B0604030504040204" pitchFamily="34" charset="0"/>
                <a:cs typeface="Arial" panose="020B0604020202020204" pitchFamily="34" charset="0"/>
              </a:rPr>
              <a:t>Thank you for taking the time to go through this business profile.</a:t>
            </a:r>
            <a:endParaRPr lang="en-IN" sz="1050" dirty="0">
              <a:effectLst/>
              <a:latin typeface="Gill Sans MT" panose="020B0502020104020203" pitchFamily="34" charset="0"/>
              <a:ea typeface="Times New Roman" panose="02020603050405020304" pitchFamily="18" charset="0"/>
              <a:cs typeface="Mangal" panose="02040503050203030202" pitchFamily="18" charset="0"/>
            </a:endParaRPr>
          </a:p>
          <a:p>
            <a:pPr algn="ctr">
              <a:lnSpc>
                <a:spcPct val="110000"/>
              </a:lnSpc>
              <a:spcAft>
                <a:spcPts val="600"/>
              </a:spcAft>
            </a:pPr>
            <a:r>
              <a:rPr lang="en-US" sz="1800" dirty="0">
                <a:solidFill>
                  <a:srgbClr val="808080"/>
                </a:solidFill>
                <a:effectLst/>
                <a:latin typeface="Verdana" panose="020B0604030504040204" pitchFamily="34" charset="0"/>
                <a:ea typeface="Verdana" panose="020B0604030504040204" pitchFamily="34" charset="0"/>
                <a:cs typeface="Arial" panose="020B0604020202020204" pitchFamily="34" charset="0"/>
              </a:rPr>
              <a:t>If there are any questions or comments, please feel free to contact us.</a:t>
            </a:r>
            <a:endParaRPr lang="en-IN" sz="1050" dirty="0">
              <a:effectLst/>
              <a:latin typeface="Gill Sans MT" panose="020B0502020104020203" pitchFamily="34" charset="0"/>
              <a:ea typeface="Times New Roman" panose="02020603050405020304" pitchFamily="18" charset="0"/>
              <a:cs typeface="Mangal" panose="02040503050203030202" pitchFamily="18" charset="0"/>
            </a:endParaRPr>
          </a:p>
        </p:txBody>
      </p:sp>
      <p:sp>
        <p:nvSpPr>
          <p:cNvPr id="3" name="Rectangle 2">
            <a:extLst>
              <a:ext uri="{FF2B5EF4-FFF2-40B4-BE49-F238E27FC236}">
                <a16:creationId xmlns:a16="http://schemas.microsoft.com/office/drawing/2014/main" id="{8C7C5510-95BA-440C-A4EE-69CD93A53FF4}"/>
              </a:ext>
            </a:extLst>
          </p:cNvPr>
          <p:cNvSpPr/>
          <p:nvPr/>
        </p:nvSpPr>
        <p:spPr>
          <a:xfrm>
            <a:off x="3808000" y="2405360"/>
            <a:ext cx="4575997" cy="1323439"/>
          </a:xfrm>
          <a:prstGeom prst="rect">
            <a:avLst/>
          </a:prstGeom>
          <a:noFill/>
        </p:spPr>
        <p:txBody>
          <a:bodyPr wrap="none" lIns="91440" tIns="45720" rIns="91440" bIns="45720">
            <a:spAutoFit/>
          </a:bodyPr>
          <a:lstStyle/>
          <a:p>
            <a:pPr algn="ctr"/>
            <a:r>
              <a:rPr lang="en-US" sz="8000" b="1" cap="none" spc="0" dirty="0">
                <a:ln w="0"/>
                <a:solidFill>
                  <a:srgbClr val="B72223"/>
                </a:solidFill>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13811209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345</TotalTime>
  <Words>1203</Words>
  <Application>Microsoft Office PowerPoint</Application>
  <PresentationFormat>Widescreen</PresentationFormat>
  <Paragraphs>75</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Gill Sans MT</vt:lpstr>
      <vt:lpstr>Verdana</vt:lpstr>
      <vt:lpstr>Whitney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Anil Rajpurohit</dc:creator>
  <cp:lastModifiedBy>Anil Rajpurohit</cp:lastModifiedBy>
  <cp:revision>29</cp:revision>
  <dcterms:created xsi:type="dcterms:W3CDTF">2019-12-20T13:55:52Z</dcterms:created>
  <dcterms:modified xsi:type="dcterms:W3CDTF">2020-11-09T08:08:14Z</dcterms:modified>
</cp:coreProperties>
</file>