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2" r:id="rId1"/>
  </p:sldMasterIdLst>
  <p:notesMasterIdLst>
    <p:notesMasterId r:id="rId30"/>
  </p:notesMasterIdLst>
  <p:sldIdLst>
    <p:sldId id="282" r:id="rId2"/>
    <p:sldId id="474" r:id="rId3"/>
    <p:sldId id="380" r:id="rId4"/>
    <p:sldId id="449" r:id="rId5"/>
    <p:sldId id="378" r:id="rId6"/>
    <p:sldId id="385" r:id="rId7"/>
    <p:sldId id="471" r:id="rId8"/>
    <p:sldId id="472" r:id="rId9"/>
    <p:sldId id="473" r:id="rId10"/>
    <p:sldId id="452" r:id="rId11"/>
    <p:sldId id="475" r:id="rId12"/>
    <p:sldId id="448" r:id="rId13"/>
    <p:sldId id="476" r:id="rId14"/>
    <p:sldId id="470" r:id="rId15"/>
    <p:sldId id="453" r:id="rId16"/>
    <p:sldId id="290" r:id="rId17"/>
    <p:sldId id="435" r:id="rId18"/>
    <p:sldId id="381" r:id="rId19"/>
    <p:sldId id="369" r:id="rId20"/>
    <p:sldId id="478" r:id="rId21"/>
    <p:sldId id="461" r:id="rId22"/>
    <p:sldId id="462" r:id="rId23"/>
    <p:sldId id="464" r:id="rId24"/>
    <p:sldId id="463" r:id="rId25"/>
    <p:sldId id="459" r:id="rId26"/>
    <p:sldId id="466" r:id="rId27"/>
    <p:sldId id="477" r:id="rId28"/>
    <p:sldId id="465"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128"/>
        <a:cs typeface="+mn-cs"/>
      </a:defRPr>
    </a:lvl1pPr>
    <a:lvl2pPr marL="457200" algn="l" rtl="0" fontAlgn="base">
      <a:spcBef>
        <a:spcPct val="0"/>
      </a:spcBef>
      <a:spcAft>
        <a:spcPct val="0"/>
      </a:spcAft>
      <a:defRPr kern="1200">
        <a:solidFill>
          <a:schemeClr val="tx1"/>
        </a:solidFill>
        <a:latin typeface="Arial" charset="0"/>
        <a:ea typeface="ＭＳ Ｐゴシック" charset="-128"/>
        <a:cs typeface="+mn-cs"/>
      </a:defRPr>
    </a:lvl2pPr>
    <a:lvl3pPr marL="914400" algn="l" rtl="0" fontAlgn="base">
      <a:spcBef>
        <a:spcPct val="0"/>
      </a:spcBef>
      <a:spcAft>
        <a:spcPct val="0"/>
      </a:spcAft>
      <a:defRPr kern="1200">
        <a:solidFill>
          <a:schemeClr val="tx1"/>
        </a:solidFill>
        <a:latin typeface="Arial" charset="0"/>
        <a:ea typeface="ＭＳ Ｐゴシック" charset="-128"/>
        <a:cs typeface="+mn-cs"/>
      </a:defRPr>
    </a:lvl3pPr>
    <a:lvl4pPr marL="1371600" algn="l" rtl="0" fontAlgn="base">
      <a:spcBef>
        <a:spcPct val="0"/>
      </a:spcBef>
      <a:spcAft>
        <a:spcPct val="0"/>
      </a:spcAft>
      <a:defRPr kern="1200">
        <a:solidFill>
          <a:schemeClr val="tx1"/>
        </a:solidFill>
        <a:latin typeface="Arial" charset="0"/>
        <a:ea typeface="ＭＳ Ｐゴシック" charset="-128"/>
        <a:cs typeface="+mn-cs"/>
      </a:defRPr>
    </a:lvl4pPr>
    <a:lvl5pPr marL="1828800" algn="l" rtl="0" fontAlgn="base">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0000"/>
    <a:srgbClr val="FFDB00"/>
    <a:srgbClr val="0000FF"/>
    <a:srgbClr val="3333FF"/>
    <a:srgbClr val="00CC00"/>
    <a:srgbClr val="000099"/>
    <a:srgbClr val="663300"/>
    <a:srgbClr val="FFFFFF"/>
    <a:srgbClr val="00FF00"/>
    <a:srgbClr val="6666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3261" autoAdjust="0"/>
    <p:restoredTop sz="93750" autoAdjust="0"/>
  </p:normalViewPr>
  <p:slideViewPr>
    <p:cSldViewPr>
      <p:cViewPr>
        <p:scale>
          <a:sx n="112" d="100"/>
          <a:sy n="112" d="100"/>
        </p:scale>
        <p:origin x="-754" y="206"/>
      </p:cViewPr>
      <p:guideLst>
        <p:guide orient="horz" pos="2160"/>
        <p:guide pos="2880"/>
      </p:guideLst>
    </p:cSldViewPr>
  </p:slideViewPr>
  <p:outlineViewPr>
    <p:cViewPr>
      <p:scale>
        <a:sx n="33" d="100"/>
        <a:sy n="33" d="100"/>
      </p:scale>
      <p:origin x="0" y="4968"/>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2623DCD0-4919-4FF6-9F2D-0C5A9CA7C75F}" type="slidenum">
              <a:rPr lang="en-US"/>
              <a:pPr/>
              <a:t>‹#›</a:t>
            </a:fld>
            <a:endParaRPr lang="en-US"/>
          </a:p>
        </p:txBody>
      </p:sp>
    </p:spTree>
    <p:extLst>
      <p:ext uri="{BB962C8B-B14F-4D97-AF65-F5344CB8AC3E}">
        <p14:creationId xmlns:p14="http://schemas.microsoft.com/office/powerpoint/2010/main" xmlns="" val="2120305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p>
            <a:fld id="{F1B6B364-62FF-42F1-B5BA-69381221CE74}" type="slidenum">
              <a:rPr lang="en-US"/>
              <a:pPr/>
              <a:t>1</a:t>
            </a:fld>
            <a:endParaRPr 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a:ln/>
        </p:spPr>
      </p:sp>
      <p:sp>
        <p:nvSpPr>
          <p:cNvPr id="68610" name="Notes Placeholder 2"/>
          <p:cNvSpPr>
            <a:spLocks noGrp="1"/>
          </p:cNvSpPr>
          <p:nvPr>
            <p:ph type="body" idx="1"/>
          </p:nvPr>
        </p:nvSpPr>
        <p:spPr>
          <a:noFill/>
          <a:ln/>
        </p:spPr>
        <p:txBody>
          <a:bodyPr lIns="90549" tIns="45274" rIns="90549" bIns="45274"/>
          <a:lstStyle/>
          <a:p>
            <a:pPr eaLnBrk="1" hangingPunct="1"/>
            <a:r>
              <a:rPr lang="en-US" dirty="0" smtClean="0">
                <a:latin typeface="Arial" pitchFamily="34" charset="0"/>
                <a:ea typeface="ＭＳ Ｐゴシック" charset="-128"/>
              </a:rPr>
              <a:t>This was done based on the feedback from a lighting vendors…</a:t>
            </a:r>
          </a:p>
          <a:p>
            <a:pPr eaLnBrk="1" hangingPunct="1"/>
            <a:endParaRPr lang="en-US" dirty="0" smtClean="0">
              <a:latin typeface="Arial" pitchFamily="34" charset="0"/>
              <a:ea typeface="ＭＳ Ｐゴシック" charset="-128"/>
            </a:endParaRPr>
          </a:p>
          <a:p>
            <a:pPr eaLnBrk="1" hangingPunct="1"/>
            <a:r>
              <a:rPr lang="en-US" dirty="0" smtClean="0">
                <a:latin typeface="Arial" pitchFamily="34" charset="0"/>
                <a:ea typeface="ＭＳ Ｐゴシック" charset="-128"/>
              </a:rPr>
              <a:t>Comparator</a:t>
            </a:r>
            <a:r>
              <a:rPr lang="en-US" baseline="0" dirty="0" smtClean="0">
                <a:latin typeface="Arial" pitchFamily="34" charset="0"/>
                <a:ea typeface="ＭＳ Ｐゴシック" charset="-128"/>
              </a:rPr>
              <a:t> </a:t>
            </a:r>
            <a:r>
              <a:rPr lang="en-US" dirty="0" smtClean="0">
                <a:latin typeface="Arial" pitchFamily="34" charset="0"/>
                <a:ea typeface="ＭＳ Ｐゴシック" charset="-128"/>
              </a:rPr>
              <a:t>is 50ns</a:t>
            </a:r>
          </a:p>
        </p:txBody>
      </p:sp>
      <p:sp>
        <p:nvSpPr>
          <p:cNvPr id="68611" name="Slide Number Placeholder 3"/>
          <p:cNvSpPr txBox="1">
            <a:spLocks noGrp="1"/>
          </p:cNvSpPr>
          <p:nvPr/>
        </p:nvSpPr>
        <p:spPr bwMode="auto">
          <a:xfrm>
            <a:off x="3885579" y="8684926"/>
            <a:ext cx="2970869" cy="457513"/>
          </a:xfrm>
          <a:prstGeom prst="rect">
            <a:avLst/>
          </a:prstGeom>
          <a:noFill/>
          <a:ln w="9525">
            <a:noFill/>
            <a:miter lim="800000"/>
            <a:headEnd/>
            <a:tailEnd/>
          </a:ln>
        </p:spPr>
        <p:txBody>
          <a:bodyPr lIns="90549" tIns="45274" rIns="90549" bIns="45274" anchor="b"/>
          <a:lstStyle/>
          <a:p>
            <a:pPr algn="r" defTabSz="904997"/>
            <a:fld id="{05547347-FC25-45E2-8C30-24BCE5C06D8A}" type="slidenum">
              <a:rPr lang="en-US" sz="1300"/>
              <a:pPr algn="r" defTabSz="904997"/>
              <a:t>2</a:t>
            </a:fld>
            <a:endParaRPr lang="en-US" sz="13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a:ln/>
        </p:spPr>
      </p:sp>
      <p:sp>
        <p:nvSpPr>
          <p:cNvPr id="68610" name="Notes Placeholder 2"/>
          <p:cNvSpPr>
            <a:spLocks noGrp="1"/>
          </p:cNvSpPr>
          <p:nvPr>
            <p:ph type="body" idx="1"/>
          </p:nvPr>
        </p:nvSpPr>
        <p:spPr>
          <a:noFill/>
          <a:ln/>
        </p:spPr>
        <p:txBody>
          <a:bodyPr lIns="90549" tIns="45274" rIns="90549" bIns="45274"/>
          <a:lstStyle/>
          <a:p>
            <a:endParaRPr lang="en-US" dirty="0" smtClean="0">
              <a:latin typeface="Arial" pitchFamily="34" charset="0"/>
            </a:endParaRPr>
          </a:p>
          <a:p>
            <a:pPr eaLnBrk="1" hangingPunct="1"/>
            <a:endParaRPr lang="en-US" dirty="0" smtClean="0">
              <a:latin typeface="Arial" pitchFamily="34" charset="0"/>
              <a:ea typeface="ＭＳ Ｐゴシック" charset="-128"/>
            </a:endParaRPr>
          </a:p>
        </p:txBody>
      </p:sp>
      <p:sp>
        <p:nvSpPr>
          <p:cNvPr id="68611" name="Slide Number Placeholder 3"/>
          <p:cNvSpPr txBox="1">
            <a:spLocks noGrp="1"/>
          </p:cNvSpPr>
          <p:nvPr/>
        </p:nvSpPr>
        <p:spPr bwMode="auto">
          <a:xfrm>
            <a:off x="3885579" y="8684926"/>
            <a:ext cx="2970869" cy="457513"/>
          </a:xfrm>
          <a:prstGeom prst="rect">
            <a:avLst/>
          </a:prstGeom>
          <a:noFill/>
          <a:ln w="9525">
            <a:noFill/>
            <a:miter lim="800000"/>
            <a:headEnd/>
            <a:tailEnd/>
          </a:ln>
        </p:spPr>
        <p:txBody>
          <a:bodyPr lIns="90549" tIns="45274" rIns="90549" bIns="45274" anchor="b"/>
          <a:lstStyle/>
          <a:p>
            <a:pPr algn="r" defTabSz="904997"/>
            <a:fld id="{05547347-FC25-45E2-8C30-24BCE5C06D8A}" type="slidenum">
              <a:rPr lang="en-US" sz="1300"/>
              <a:pPr algn="r" defTabSz="904997"/>
              <a:t>3</a:t>
            </a:fld>
            <a:endParaRPr lang="en-US" sz="13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noTextEdit="1"/>
          </p:cNvSpPr>
          <p:nvPr>
            <p:ph type="sldImg"/>
          </p:nvPr>
        </p:nvSpPr>
        <p:spPr>
          <a:ln/>
        </p:spPr>
      </p:sp>
      <p:sp>
        <p:nvSpPr>
          <p:cNvPr id="68610" name="Notes Placeholder 2"/>
          <p:cNvSpPr>
            <a:spLocks noGrp="1"/>
          </p:cNvSpPr>
          <p:nvPr>
            <p:ph type="body" idx="1"/>
          </p:nvPr>
        </p:nvSpPr>
        <p:spPr>
          <a:noFill/>
          <a:ln/>
        </p:spPr>
        <p:txBody>
          <a:bodyPr lIns="90549" tIns="45274" rIns="90549" bIns="45274"/>
          <a:lstStyle/>
          <a:p>
            <a:endParaRPr lang="en-US" dirty="0" smtClean="0">
              <a:latin typeface="Arial" pitchFamily="34" charset="0"/>
            </a:endParaRPr>
          </a:p>
          <a:p>
            <a:pPr eaLnBrk="1" hangingPunct="1"/>
            <a:endParaRPr lang="en-US" dirty="0" smtClean="0">
              <a:latin typeface="Arial" pitchFamily="34" charset="0"/>
              <a:ea typeface="ＭＳ Ｐゴシック" charset="-128"/>
            </a:endParaRPr>
          </a:p>
        </p:txBody>
      </p:sp>
      <p:sp>
        <p:nvSpPr>
          <p:cNvPr id="68611" name="Slide Number Placeholder 3"/>
          <p:cNvSpPr txBox="1">
            <a:spLocks noGrp="1"/>
          </p:cNvSpPr>
          <p:nvPr/>
        </p:nvSpPr>
        <p:spPr bwMode="auto">
          <a:xfrm>
            <a:off x="3885579" y="8684926"/>
            <a:ext cx="2970869" cy="457513"/>
          </a:xfrm>
          <a:prstGeom prst="rect">
            <a:avLst/>
          </a:prstGeom>
          <a:noFill/>
          <a:ln w="9525">
            <a:noFill/>
            <a:miter lim="800000"/>
            <a:headEnd/>
            <a:tailEnd/>
          </a:ln>
        </p:spPr>
        <p:txBody>
          <a:bodyPr lIns="90549" tIns="45274" rIns="90549" bIns="45274" anchor="b"/>
          <a:lstStyle/>
          <a:p>
            <a:pPr algn="r" defTabSz="904997"/>
            <a:fld id="{05547347-FC25-45E2-8C30-24BCE5C06D8A}" type="slidenum">
              <a:rPr lang="en-US" sz="1300"/>
              <a:pPr algn="r" defTabSz="904997"/>
              <a:t>4</a:t>
            </a:fld>
            <a:endParaRPr lang="en-US" sz="13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7B0514-BADD-4021-B42A-CC6526B31C08}" type="slidenum">
              <a:rPr lang="en-US" smtClean="0"/>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7B0514-BADD-4021-B42A-CC6526B31C08}" type="slidenum">
              <a:rPr lang="en-US" smtClean="0"/>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87B0514-BADD-4021-B42A-CC6526B31C08}" type="slidenum">
              <a:rPr lang="en-US" smtClean="0"/>
              <a:pPr/>
              <a:t>9</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lIns="92285" tIns="46142" rIns="92285" bIns="46142"/>
          <a:lstStyle/>
          <a:p>
            <a:pPr eaLnBrk="1" hangingPunct="1"/>
            <a:endParaRPr lang="en-US" dirty="0" smtClean="0"/>
          </a:p>
        </p:txBody>
      </p:sp>
      <p:sp>
        <p:nvSpPr>
          <p:cNvPr id="33796" name="Slide Number Placeholder 3"/>
          <p:cNvSpPr txBox="1">
            <a:spLocks noGrp="1"/>
          </p:cNvSpPr>
          <p:nvPr/>
        </p:nvSpPr>
        <p:spPr bwMode="auto">
          <a:xfrm>
            <a:off x="3885580" y="8684926"/>
            <a:ext cx="2970869" cy="457513"/>
          </a:xfrm>
          <a:prstGeom prst="rect">
            <a:avLst/>
          </a:prstGeom>
          <a:noFill/>
          <a:ln w="9525">
            <a:noFill/>
            <a:miter lim="800000"/>
            <a:headEnd/>
            <a:tailEnd/>
          </a:ln>
        </p:spPr>
        <p:txBody>
          <a:bodyPr lIns="92285" tIns="46142" rIns="92285" bIns="46142" anchor="b"/>
          <a:lstStyle/>
          <a:p>
            <a:pPr algn="r" defTabSz="922338"/>
            <a:fld id="{85586415-EA3E-4CFC-801D-460008668B60}" type="slidenum">
              <a:rPr lang="en-US" sz="1300"/>
              <a:pPr algn="r" defTabSz="922338"/>
              <a:t>11</a:t>
            </a:fld>
            <a:endParaRPr lang="en-US"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p:spPr>
        <p:txBody>
          <a:bodyPr/>
          <a:lstStyle/>
          <a:p>
            <a:fld id="{3D04B1DB-CDE6-4F04-8529-DD865AA7DF87}" type="slidenum">
              <a:rPr lang="en-US" smtClean="0"/>
              <a:pPr/>
              <a:t>12</a:t>
            </a:fld>
            <a:endParaRPr lang="en-US" dirty="0" smtClean="0"/>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lIns="92285" tIns="46142" rIns="92285" bIns="46142"/>
          <a:lstStyle/>
          <a:p>
            <a:pPr eaLnBrk="1" hangingPunct="1"/>
            <a:r>
              <a:rPr lang="en-US" dirty="0" smtClean="0"/>
              <a:t>w/o angular </a:t>
            </a:r>
            <a:r>
              <a:rPr lang="en-US" dirty="0" err="1" smtClean="0"/>
              <a:t>tmr</a:t>
            </a:r>
            <a:r>
              <a:rPr lang="en-US" dirty="0" smtClean="0"/>
              <a:t>: length</a:t>
            </a:r>
            <a:r>
              <a:rPr lang="en-US" baseline="0" dirty="0" smtClean="0"/>
              <a:t> of instruction is because 16-bit/DIV</a:t>
            </a:r>
            <a:endParaRPr lang="en-US" dirty="0" smtClean="0"/>
          </a:p>
        </p:txBody>
      </p:sp>
      <p:sp>
        <p:nvSpPr>
          <p:cNvPr id="33796" name="Slide Number Placeholder 3"/>
          <p:cNvSpPr txBox="1">
            <a:spLocks noGrp="1"/>
          </p:cNvSpPr>
          <p:nvPr/>
        </p:nvSpPr>
        <p:spPr bwMode="auto">
          <a:xfrm>
            <a:off x="3885580" y="8684926"/>
            <a:ext cx="2970869" cy="457513"/>
          </a:xfrm>
          <a:prstGeom prst="rect">
            <a:avLst/>
          </a:prstGeom>
          <a:noFill/>
          <a:ln w="9525">
            <a:noFill/>
            <a:miter lim="800000"/>
            <a:headEnd/>
            <a:tailEnd/>
          </a:ln>
        </p:spPr>
        <p:txBody>
          <a:bodyPr lIns="92285" tIns="46142" rIns="92285" bIns="46142" anchor="b"/>
          <a:lstStyle/>
          <a:p>
            <a:pPr algn="r" defTabSz="922338"/>
            <a:fld id="{85586415-EA3E-4CFC-801D-460008668B60}" type="slidenum">
              <a:rPr lang="en-US" sz="1300"/>
              <a:pPr algn="r" defTabSz="922338"/>
              <a:t>13</a:t>
            </a:fld>
            <a:endParaRPr lang="en-US" sz="13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323488B-873A-448D-AA8C-5603AE217392}" type="slidenum">
              <a:rPr lang="en-US"/>
              <a:pPr/>
              <a:t>16</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4323488B-873A-448D-AA8C-5603AE217392}" type="slidenum">
              <a:rPr lang="en-US"/>
              <a:pPr/>
              <a:t>17</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noChangeArrowheads="1"/>
          </p:cNvSpPr>
          <p:nvPr/>
        </p:nvSpPr>
        <p:spPr bwMode="auto">
          <a:xfrm>
            <a:off x="3884614" y="8686488"/>
            <a:ext cx="2971800" cy="455951"/>
          </a:xfrm>
          <a:prstGeom prst="rect">
            <a:avLst/>
          </a:prstGeom>
          <a:noFill/>
          <a:ln w="9525">
            <a:noFill/>
            <a:miter lim="800000"/>
            <a:headEnd/>
            <a:tailEnd/>
          </a:ln>
        </p:spPr>
        <p:txBody>
          <a:bodyPr lIns="93031" tIns="46516" rIns="93031" bIns="46516" anchor="b"/>
          <a:lstStyle/>
          <a:p>
            <a:pPr algn="r" defTabSz="465138"/>
            <a:fld id="{D4FA6CB5-8AAD-47AE-B0A9-878B4F68ED27}" type="slidenum">
              <a:rPr lang="en-US" sz="1200" b="1">
                <a:solidFill>
                  <a:srgbClr val="000000"/>
                </a:solidFill>
                <a:latin typeface="Calibri" pitchFamily="34" charset="0"/>
              </a:rPr>
              <a:pPr algn="r" defTabSz="465138"/>
              <a:t>18</a:t>
            </a:fld>
            <a:endParaRPr lang="en-US" sz="1200" b="1">
              <a:solidFill>
                <a:srgbClr val="000000"/>
              </a:solidFill>
              <a:latin typeface="Calibri" pitchFamily="34" charset="0"/>
            </a:endParaRPr>
          </a:p>
        </p:txBody>
      </p:sp>
      <p:sp>
        <p:nvSpPr>
          <p:cNvPr id="32770" name="Rectangle 7"/>
          <p:cNvSpPr txBox="1">
            <a:spLocks noGrp="1" noChangeArrowheads="1"/>
          </p:cNvSpPr>
          <p:nvPr/>
        </p:nvSpPr>
        <p:spPr bwMode="auto">
          <a:xfrm>
            <a:off x="3884614" y="8686488"/>
            <a:ext cx="2971800" cy="455951"/>
          </a:xfrm>
          <a:prstGeom prst="rect">
            <a:avLst/>
          </a:prstGeom>
          <a:noFill/>
          <a:ln w="9525">
            <a:noFill/>
            <a:miter lim="800000"/>
            <a:headEnd/>
            <a:tailEnd/>
          </a:ln>
        </p:spPr>
        <p:txBody>
          <a:bodyPr lIns="93026" tIns="46513" rIns="93026" bIns="46513" anchor="b"/>
          <a:lstStyle/>
          <a:p>
            <a:pPr algn="r" defTabSz="930275"/>
            <a:fld id="{E11A617B-A668-4375-881C-E60C743B66C8}" type="slidenum">
              <a:rPr lang="en-US" sz="1200" b="1">
                <a:solidFill>
                  <a:srgbClr val="000000"/>
                </a:solidFill>
                <a:latin typeface="Arial" pitchFamily="34" charset="0"/>
                <a:ea typeface="MS PGothic"/>
                <a:cs typeface="MS PGothic"/>
              </a:rPr>
              <a:pPr algn="r" defTabSz="930275"/>
              <a:t>18</a:t>
            </a:fld>
            <a:endParaRPr lang="en-US" sz="1200" b="1">
              <a:solidFill>
                <a:srgbClr val="000000"/>
              </a:solidFill>
              <a:latin typeface="Arial" pitchFamily="34" charset="0"/>
              <a:ea typeface="MS PGothic"/>
              <a:cs typeface="MS PGothic"/>
            </a:endParaRPr>
          </a:p>
        </p:txBody>
      </p:sp>
      <p:sp>
        <p:nvSpPr>
          <p:cNvPr id="32771" name="Rectangle 2"/>
          <p:cNvSpPr>
            <a:spLocks noGrp="1" noRot="1" noChangeAspect="1" noChangeArrowheads="1" noTextEdit="1"/>
          </p:cNvSpPr>
          <p:nvPr>
            <p:ph type="sldImg"/>
          </p:nvPr>
        </p:nvSpPr>
        <p:spPr>
          <a:xfrm>
            <a:off x="1143000" y="687388"/>
            <a:ext cx="4572000" cy="3429000"/>
          </a:xfrm>
          <a:ln/>
        </p:spPr>
      </p:sp>
      <p:sp>
        <p:nvSpPr>
          <p:cNvPr id="32772" name="Rectangle 3"/>
          <p:cNvSpPr>
            <a:spLocks noGrp="1" noChangeArrowheads="1"/>
          </p:cNvSpPr>
          <p:nvPr>
            <p:ph type="body" idx="1"/>
          </p:nvPr>
        </p:nvSpPr>
        <p:spPr>
          <a:xfrm>
            <a:off x="685800" y="4344026"/>
            <a:ext cx="5486400" cy="4112926"/>
          </a:xfrm>
          <a:noFill/>
          <a:ln/>
        </p:spPr>
        <p:txBody>
          <a:bodyPr lIns="93031" tIns="46516" rIns="93031" bIns="46516"/>
          <a:lstStyle/>
          <a:p>
            <a:pPr defTabSz="457200">
              <a:spcBef>
                <a:spcPct val="0"/>
              </a:spcBef>
            </a:pPr>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1C41FA42-E051-4977-ABE5-E95C1320DDA1}" type="slidenum">
              <a:rPr lang="en-US"/>
              <a:pPr/>
              <a:t>20</a:t>
            </a:fld>
            <a:endParaRPr lang="en-US" dirty="0"/>
          </a:p>
        </p:txBody>
      </p:sp>
      <p:sp>
        <p:nvSpPr>
          <p:cNvPr id="1504258"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93177" tIns="46589" rIns="93177" bIns="46589" anchor="b"/>
          <a:lstStyle/>
          <a:p>
            <a:pPr algn="r" defTabSz="931863"/>
            <a:fld id="{A8636CAE-F695-4BD3-8A40-0553424BC1D5}" type="slidenum">
              <a:rPr lang="en-US" sz="1200" b="0">
                <a:ea typeface="ＭＳ Ｐゴシック" pitchFamily="34" charset="-128"/>
              </a:rPr>
              <a:pPr algn="r" defTabSz="931863"/>
              <a:t>20</a:t>
            </a:fld>
            <a:endParaRPr lang="en-US" sz="1200" b="0" dirty="0">
              <a:ea typeface="ＭＳ Ｐゴシック" pitchFamily="34" charset="-128"/>
            </a:endParaRPr>
          </a:p>
        </p:txBody>
      </p:sp>
      <p:sp>
        <p:nvSpPr>
          <p:cNvPr id="1504259"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anchor="b"/>
          <a:lstStyle/>
          <a:p>
            <a:pPr algn="r"/>
            <a:fld id="{B9608E1D-BEFE-400E-A1ED-7EEF8DC06626}" type="slidenum">
              <a:rPr lang="en-US" sz="1200" b="0">
                <a:ea typeface="ＭＳ Ｐゴシック" pitchFamily="34" charset="-128"/>
              </a:rPr>
              <a:pPr algn="r"/>
              <a:t>20</a:t>
            </a:fld>
            <a:endParaRPr lang="en-US" sz="1200" b="0" dirty="0">
              <a:ea typeface="ＭＳ Ｐゴシック" pitchFamily="34" charset="-128"/>
            </a:endParaRPr>
          </a:p>
        </p:txBody>
      </p:sp>
      <p:sp>
        <p:nvSpPr>
          <p:cNvPr id="1504260" name="Rectangle 2"/>
          <p:cNvSpPr>
            <a:spLocks noGrp="1" noRot="1" noChangeAspect="1" noChangeArrowheads="1" noTextEdit="1"/>
          </p:cNvSpPr>
          <p:nvPr>
            <p:ph type="sldImg"/>
          </p:nvPr>
        </p:nvSpPr>
        <p:spPr>
          <a:ln/>
        </p:spPr>
      </p:sp>
      <p:sp>
        <p:nvSpPr>
          <p:cNvPr id="1504261" name="Rectangle 3"/>
          <p:cNvSpPr>
            <a:spLocks noGrp="1" noChangeArrowheads="1"/>
          </p:cNvSpPr>
          <p:nvPr>
            <p:ph type="body" idx="1"/>
          </p:nvPr>
        </p:nvSpPr>
        <p:spPr>
          <a:noFill/>
        </p:spPr>
        <p:txBody>
          <a:bodyPr lIns="91440" tIns="45720" rIns="91440" bIns="45720"/>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a:p>
            <a:pPr eaLnBrk="1" hangingPunct="1"/>
            <a:r>
              <a:rPr lang="en-US" dirty="0" smtClean="0">
                <a:latin typeface="Arial" pitchFamily="34" charset="0"/>
                <a:ea typeface="ＭＳ Ｐゴシック" pitchFamily="34" charset="-128"/>
              </a:rPr>
              <a:t> </a:t>
            </a:r>
          </a:p>
        </p:txBody>
      </p:sp>
      <p:sp>
        <p:nvSpPr>
          <p:cNvPr id="32772" name="Slide Number Placeholder 3"/>
          <p:cNvSpPr>
            <a:spLocks noGrp="1"/>
          </p:cNvSpPr>
          <p:nvPr>
            <p:ph type="sldNum" sz="quarter" idx="5"/>
          </p:nvPr>
        </p:nvSpPr>
        <p:spPr>
          <a:noFill/>
        </p:spPr>
        <p:txBody>
          <a:bodyPr/>
          <a:lstStyle/>
          <a:p>
            <a:fld id="{8B5023AF-66A1-4021-B549-357A6403AD06}" type="slidenum">
              <a:rPr lang="en-US" smtClean="0"/>
              <a:pPr/>
              <a:t>21</a:t>
            </a:fld>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1C41FA42-E051-4977-ABE5-E95C1320DDA1}" type="slidenum">
              <a:rPr lang="en-US"/>
              <a:pPr/>
              <a:t>22</a:t>
            </a:fld>
            <a:endParaRPr lang="en-US" dirty="0"/>
          </a:p>
        </p:txBody>
      </p:sp>
      <p:sp>
        <p:nvSpPr>
          <p:cNvPr id="1504258"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91435" tIns="45718" rIns="91435" bIns="45718" anchor="b"/>
          <a:lstStyle/>
          <a:p>
            <a:pPr algn="r" defTabSz="914437"/>
            <a:fld id="{A8636CAE-F695-4BD3-8A40-0553424BC1D5}" type="slidenum">
              <a:rPr lang="en-US" sz="1200">
                <a:ea typeface="ＭＳ Ｐゴシック" pitchFamily="34" charset="-128"/>
              </a:rPr>
              <a:pPr algn="r" defTabSz="914437"/>
              <a:t>22</a:t>
            </a:fld>
            <a:endParaRPr lang="en-US" sz="1200" dirty="0">
              <a:ea typeface="ＭＳ Ｐゴシック" pitchFamily="34" charset="-128"/>
            </a:endParaRPr>
          </a:p>
        </p:txBody>
      </p:sp>
      <p:sp>
        <p:nvSpPr>
          <p:cNvPr id="1504259"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89730" tIns="44865" rIns="89730" bIns="44865" anchor="b"/>
          <a:lstStyle/>
          <a:p>
            <a:pPr algn="r"/>
            <a:fld id="{B9608E1D-BEFE-400E-A1ED-7EEF8DC06626}" type="slidenum">
              <a:rPr lang="en-US" sz="1200">
                <a:ea typeface="ＭＳ Ｐゴシック" pitchFamily="34" charset="-128"/>
              </a:rPr>
              <a:pPr algn="r"/>
              <a:t>22</a:t>
            </a:fld>
            <a:endParaRPr lang="en-US" sz="1200" dirty="0">
              <a:ea typeface="ＭＳ Ｐゴシック" pitchFamily="34" charset="-128"/>
            </a:endParaRPr>
          </a:p>
        </p:txBody>
      </p:sp>
      <p:sp>
        <p:nvSpPr>
          <p:cNvPr id="1504260" name="Rectangle 2"/>
          <p:cNvSpPr>
            <a:spLocks noGrp="1" noRot="1" noChangeAspect="1" noChangeArrowheads="1" noTextEdit="1"/>
          </p:cNvSpPr>
          <p:nvPr>
            <p:ph type="sldImg"/>
          </p:nvPr>
        </p:nvSpPr>
        <p:spPr>
          <a:ln/>
        </p:spPr>
      </p:sp>
      <p:sp>
        <p:nvSpPr>
          <p:cNvPr id="1504261" name="Rectangle 3"/>
          <p:cNvSpPr>
            <a:spLocks noGrp="1" noChangeArrowheads="1"/>
          </p:cNvSpPr>
          <p:nvPr>
            <p:ph type="body" idx="1"/>
          </p:nvPr>
        </p:nvSpPr>
        <p:spPr>
          <a:noFill/>
        </p:spPr>
        <p:txBody>
          <a:bodyPr lIns="89730" tIns="44865" rIns="89730" bIns="44865"/>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1C41FA42-E051-4977-ABE5-E95C1320DDA1}" type="slidenum">
              <a:rPr lang="en-US"/>
              <a:pPr/>
              <a:t>23</a:t>
            </a:fld>
            <a:endParaRPr lang="en-US" dirty="0"/>
          </a:p>
        </p:txBody>
      </p:sp>
      <p:sp>
        <p:nvSpPr>
          <p:cNvPr id="1504258"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91435" tIns="45718" rIns="91435" bIns="45718" anchor="b"/>
          <a:lstStyle/>
          <a:p>
            <a:pPr algn="r" defTabSz="914437"/>
            <a:fld id="{A8636CAE-F695-4BD3-8A40-0553424BC1D5}" type="slidenum">
              <a:rPr lang="en-US" sz="1200">
                <a:ea typeface="ＭＳ Ｐゴシック" pitchFamily="34" charset="-128"/>
              </a:rPr>
              <a:pPr algn="r" defTabSz="914437"/>
              <a:t>23</a:t>
            </a:fld>
            <a:endParaRPr lang="en-US" sz="1200" dirty="0">
              <a:ea typeface="ＭＳ Ｐゴシック" pitchFamily="34" charset="-128"/>
            </a:endParaRPr>
          </a:p>
        </p:txBody>
      </p:sp>
      <p:sp>
        <p:nvSpPr>
          <p:cNvPr id="1504259"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89730" tIns="44865" rIns="89730" bIns="44865" anchor="b"/>
          <a:lstStyle/>
          <a:p>
            <a:pPr algn="r"/>
            <a:fld id="{B9608E1D-BEFE-400E-A1ED-7EEF8DC06626}" type="slidenum">
              <a:rPr lang="en-US" sz="1200">
                <a:ea typeface="ＭＳ Ｐゴシック" pitchFamily="34" charset="-128"/>
              </a:rPr>
              <a:pPr algn="r"/>
              <a:t>23</a:t>
            </a:fld>
            <a:endParaRPr lang="en-US" sz="1200" dirty="0">
              <a:ea typeface="ＭＳ Ｐゴシック" pitchFamily="34" charset="-128"/>
            </a:endParaRPr>
          </a:p>
        </p:txBody>
      </p:sp>
      <p:sp>
        <p:nvSpPr>
          <p:cNvPr id="1504260" name="Rectangle 2"/>
          <p:cNvSpPr>
            <a:spLocks noGrp="1" noRot="1" noChangeAspect="1" noChangeArrowheads="1" noTextEdit="1"/>
          </p:cNvSpPr>
          <p:nvPr>
            <p:ph type="sldImg"/>
          </p:nvPr>
        </p:nvSpPr>
        <p:spPr>
          <a:ln/>
        </p:spPr>
      </p:sp>
      <p:sp>
        <p:nvSpPr>
          <p:cNvPr id="1504261" name="Rectangle 3"/>
          <p:cNvSpPr>
            <a:spLocks noGrp="1" noChangeArrowheads="1"/>
          </p:cNvSpPr>
          <p:nvPr>
            <p:ph type="body" idx="1"/>
          </p:nvPr>
        </p:nvSpPr>
        <p:spPr>
          <a:noFill/>
        </p:spPr>
        <p:txBody>
          <a:bodyPr lIns="89730" tIns="44865" rIns="89730" bIns="44865"/>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1C41FA42-E051-4977-ABE5-E95C1320DDA1}" type="slidenum">
              <a:rPr lang="en-US"/>
              <a:pPr/>
              <a:t>24</a:t>
            </a:fld>
            <a:endParaRPr lang="en-US" dirty="0"/>
          </a:p>
        </p:txBody>
      </p:sp>
      <p:sp>
        <p:nvSpPr>
          <p:cNvPr id="1504258"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91435" tIns="45718" rIns="91435" bIns="45718" anchor="b"/>
          <a:lstStyle/>
          <a:p>
            <a:pPr algn="r" defTabSz="914437"/>
            <a:fld id="{A8636CAE-F695-4BD3-8A40-0553424BC1D5}" type="slidenum">
              <a:rPr lang="en-US" sz="1200">
                <a:ea typeface="ＭＳ Ｐゴシック" pitchFamily="34" charset="-128"/>
              </a:rPr>
              <a:pPr algn="r" defTabSz="914437"/>
              <a:t>24</a:t>
            </a:fld>
            <a:endParaRPr lang="en-US" sz="1200" dirty="0">
              <a:ea typeface="ＭＳ Ｐゴシック" pitchFamily="34" charset="-128"/>
            </a:endParaRPr>
          </a:p>
        </p:txBody>
      </p:sp>
      <p:sp>
        <p:nvSpPr>
          <p:cNvPr id="1504259"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89730" tIns="44865" rIns="89730" bIns="44865" anchor="b"/>
          <a:lstStyle/>
          <a:p>
            <a:pPr algn="r"/>
            <a:fld id="{B9608E1D-BEFE-400E-A1ED-7EEF8DC06626}" type="slidenum">
              <a:rPr lang="en-US" sz="1200">
                <a:ea typeface="ＭＳ Ｐゴシック" pitchFamily="34" charset="-128"/>
              </a:rPr>
              <a:pPr algn="r"/>
              <a:t>24</a:t>
            </a:fld>
            <a:endParaRPr lang="en-US" sz="1200" dirty="0">
              <a:ea typeface="ＭＳ Ｐゴシック" pitchFamily="34" charset="-128"/>
            </a:endParaRPr>
          </a:p>
        </p:txBody>
      </p:sp>
      <p:sp>
        <p:nvSpPr>
          <p:cNvPr id="1504260" name="Rectangle 2"/>
          <p:cNvSpPr>
            <a:spLocks noGrp="1" noRot="1" noChangeAspect="1" noChangeArrowheads="1" noTextEdit="1"/>
          </p:cNvSpPr>
          <p:nvPr>
            <p:ph type="sldImg"/>
          </p:nvPr>
        </p:nvSpPr>
        <p:spPr>
          <a:ln/>
        </p:spPr>
      </p:sp>
      <p:sp>
        <p:nvSpPr>
          <p:cNvPr id="1504261" name="Rectangle 3"/>
          <p:cNvSpPr>
            <a:spLocks noGrp="1" noChangeArrowheads="1"/>
          </p:cNvSpPr>
          <p:nvPr>
            <p:ph type="body" idx="1"/>
          </p:nvPr>
        </p:nvSpPr>
        <p:spPr>
          <a:noFill/>
        </p:spPr>
        <p:txBody>
          <a:bodyPr lIns="89730" tIns="44865" rIns="89730" bIns="44865"/>
          <a:lstStyle/>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1C41FA42-E051-4977-ABE5-E95C1320DDA1}" type="slidenum">
              <a:rPr lang="en-US"/>
              <a:pPr/>
              <a:t>25</a:t>
            </a:fld>
            <a:endParaRPr lang="en-US" dirty="0"/>
          </a:p>
        </p:txBody>
      </p:sp>
      <p:sp>
        <p:nvSpPr>
          <p:cNvPr id="1504258"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91435" tIns="45718" rIns="91435" bIns="45718" anchor="b"/>
          <a:lstStyle/>
          <a:p>
            <a:pPr algn="r" defTabSz="914437"/>
            <a:fld id="{A8636CAE-F695-4BD3-8A40-0553424BC1D5}" type="slidenum">
              <a:rPr lang="en-US" sz="1200">
                <a:ea typeface="ＭＳ Ｐゴシック" pitchFamily="34" charset="-128"/>
              </a:rPr>
              <a:pPr algn="r" defTabSz="914437"/>
              <a:t>25</a:t>
            </a:fld>
            <a:endParaRPr lang="en-US" sz="1200" dirty="0">
              <a:ea typeface="ＭＳ Ｐゴシック" pitchFamily="34" charset="-128"/>
            </a:endParaRPr>
          </a:p>
        </p:txBody>
      </p:sp>
      <p:sp>
        <p:nvSpPr>
          <p:cNvPr id="1504259" name="Rectangle 7"/>
          <p:cNvSpPr txBox="1">
            <a:spLocks noGrp="1" noChangeArrowheads="1"/>
          </p:cNvSpPr>
          <p:nvPr/>
        </p:nvSpPr>
        <p:spPr bwMode="auto">
          <a:xfrm>
            <a:off x="3884614" y="8684926"/>
            <a:ext cx="2971800" cy="457513"/>
          </a:xfrm>
          <a:prstGeom prst="rect">
            <a:avLst/>
          </a:prstGeom>
          <a:noFill/>
          <a:ln w="9525">
            <a:noFill/>
            <a:miter lim="800000"/>
            <a:headEnd/>
            <a:tailEnd/>
          </a:ln>
        </p:spPr>
        <p:txBody>
          <a:bodyPr lIns="89730" tIns="44865" rIns="89730" bIns="44865" anchor="b"/>
          <a:lstStyle/>
          <a:p>
            <a:pPr algn="r"/>
            <a:fld id="{B9608E1D-BEFE-400E-A1ED-7EEF8DC06626}" type="slidenum">
              <a:rPr lang="en-US" sz="1200">
                <a:ea typeface="ＭＳ Ｐゴシック" pitchFamily="34" charset="-128"/>
              </a:rPr>
              <a:pPr algn="r"/>
              <a:t>25</a:t>
            </a:fld>
            <a:endParaRPr lang="en-US" sz="1200" dirty="0">
              <a:ea typeface="ＭＳ Ｐゴシック" pitchFamily="34" charset="-128"/>
            </a:endParaRPr>
          </a:p>
        </p:txBody>
      </p:sp>
      <p:sp>
        <p:nvSpPr>
          <p:cNvPr id="1504260" name="Rectangle 2"/>
          <p:cNvSpPr>
            <a:spLocks noGrp="1" noRot="1" noChangeAspect="1" noChangeArrowheads="1" noTextEdit="1"/>
          </p:cNvSpPr>
          <p:nvPr>
            <p:ph type="sldImg"/>
          </p:nvPr>
        </p:nvSpPr>
        <p:spPr>
          <a:ln/>
        </p:spPr>
      </p:sp>
      <p:sp>
        <p:nvSpPr>
          <p:cNvPr id="1504261" name="Rectangle 3"/>
          <p:cNvSpPr>
            <a:spLocks noGrp="1" noChangeArrowheads="1"/>
          </p:cNvSpPr>
          <p:nvPr>
            <p:ph type="body" idx="1"/>
          </p:nvPr>
        </p:nvSpPr>
        <p:spPr>
          <a:noFill/>
        </p:spPr>
        <p:txBody>
          <a:bodyPr lIns="89730" tIns="44865" rIns="89730" bIns="44865"/>
          <a:lstStyle/>
          <a:p>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new implementation of PPS allows for any digital peripheral</a:t>
            </a:r>
            <a:r>
              <a:rPr lang="en-US" baseline="0" dirty="0" smtClean="0"/>
              <a:t> to be mapped to any digital pin.  This provides increased freedom and optimization of the integrated peripheral resources that designers use in their application.  So whether it’s avoiding “pin overlap” (especially in 14-, 20- and 28-pins), ensuring PCB traces for highest signal integrity, or to solve space constrained issues, PPS provides significant board level flexibility and freedom to end equipment designers.</a:t>
            </a:r>
            <a:endParaRPr lang="en-US" dirty="0" smtClean="0"/>
          </a:p>
          <a:p>
            <a:endParaRPr lang="en-US" dirty="0" smtClean="0"/>
          </a:p>
          <a:p>
            <a:r>
              <a:rPr lang="en-US" dirty="0" smtClean="0"/>
              <a:t>In</a:t>
            </a:r>
            <a:r>
              <a:rPr lang="en-US" baseline="0" dirty="0" smtClean="0"/>
              <a:t> addition</a:t>
            </a:r>
            <a:r>
              <a:rPr lang="en-US" dirty="0" smtClean="0"/>
              <a:t>, Microchip is known for giving long term life and flexibility for MIGRATION to our customers.  In the past, we’ve provided pin compatibility</a:t>
            </a:r>
            <a:r>
              <a:rPr lang="en-US" baseline="0" dirty="0" smtClean="0"/>
              <a:t> via dedicated pin configurations for simplified/easy migration.  Now our legacy customers can choose to utilize the historical pin configuration OR choose a new, more optimized pin configuration via PPS.</a:t>
            </a:r>
            <a:endParaRPr lang="en-US" dirty="0"/>
          </a:p>
        </p:txBody>
      </p:sp>
      <p:sp>
        <p:nvSpPr>
          <p:cNvPr id="4" name="Slide Number Placeholder 3"/>
          <p:cNvSpPr>
            <a:spLocks noGrp="1"/>
          </p:cNvSpPr>
          <p:nvPr>
            <p:ph type="sldNum" sz="quarter" idx="10"/>
          </p:nvPr>
        </p:nvSpPr>
        <p:spPr/>
        <p:txBody>
          <a:bodyPr/>
          <a:lstStyle/>
          <a:p>
            <a:fld id="{2623DCD0-4919-4FF6-9F2D-0C5A9CA7C75F}" type="slidenum">
              <a:rPr lang="en-US" smtClean="0"/>
              <a:pPr/>
              <a:t>26</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pPr eaLnBrk="1" hangingPunct="1"/>
            <a:endParaRPr lang="en-US" dirty="0" smtClean="0">
              <a:latin typeface="Arial" pitchFamily="34" charset="0"/>
              <a:ea typeface="ＭＳ Ｐゴシック" pitchFamily="34" charset="-128"/>
            </a:endParaRPr>
          </a:p>
        </p:txBody>
      </p:sp>
      <p:sp>
        <p:nvSpPr>
          <p:cNvPr id="37892" name="Slide Number Placeholder 3"/>
          <p:cNvSpPr>
            <a:spLocks noGrp="1"/>
          </p:cNvSpPr>
          <p:nvPr>
            <p:ph type="sldNum" sz="quarter" idx="5"/>
          </p:nvPr>
        </p:nvSpPr>
        <p:spPr>
          <a:noFill/>
        </p:spPr>
        <p:txBody>
          <a:bodyPr/>
          <a:lstStyle/>
          <a:p>
            <a:fld id="{B0A6B0F7-B3BB-43C0-9B4D-30DF1F111D89}" type="slidenum">
              <a:rPr lang="en-US" smtClean="0"/>
              <a:pPr/>
              <a:t>27</a:t>
            </a:fld>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p:spPr>
        <p:txBody>
          <a:bodyPr/>
          <a:lstStyle/>
          <a:p>
            <a:pPr eaLnBrk="1" hangingPunct="1"/>
            <a:endParaRPr lang="en-US" b="1" u="sng" dirty="0" smtClean="0">
              <a:latin typeface="Arial" pitchFamily="34" charset="0"/>
              <a:ea typeface="ＭＳ Ｐゴシック" pitchFamily="34" charset="-128"/>
            </a:endParaRPr>
          </a:p>
        </p:txBody>
      </p:sp>
      <p:sp>
        <p:nvSpPr>
          <p:cNvPr id="34820" name="Slide Number Placeholder 3"/>
          <p:cNvSpPr>
            <a:spLocks noGrp="1"/>
          </p:cNvSpPr>
          <p:nvPr>
            <p:ph type="sldNum" sz="quarter" idx="5"/>
          </p:nvPr>
        </p:nvSpPr>
        <p:spPr>
          <a:noFill/>
        </p:spPr>
        <p:txBody>
          <a:bodyPr/>
          <a:lstStyle/>
          <a:p>
            <a:fld id="{60F00189-BF0D-4C50-A1FB-D8FC16A77CF2}" type="slidenum">
              <a:rPr lang="en-US" smtClean="0"/>
              <a:pPr/>
              <a:t>28</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9463" name="Rectangle 7"/>
          <p:cNvSpPr>
            <a:spLocks noChangeArrowheads="1"/>
          </p:cNvSpPr>
          <p:nvPr/>
        </p:nvSpPr>
        <p:spPr bwMode="auto">
          <a:xfrm>
            <a:off x="0" y="0"/>
            <a:ext cx="9144000" cy="6858000"/>
          </a:xfrm>
          <a:prstGeom prst="rect">
            <a:avLst/>
          </a:prstGeom>
          <a:gradFill rotWithShape="1">
            <a:gsLst>
              <a:gs pos="0">
                <a:schemeClr val="bg2"/>
              </a:gs>
              <a:gs pos="50000">
                <a:schemeClr val="bg1"/>
              </a:gs>
              <a:gs pos="100000">
                <a:schemeClr val="bg2"/>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p>
        </p:txBody>
      </p:sp>
      <p:pic>
        <p:nvPicPr>
          <p:cNvPr id="19464" name="Picture 8" descr="MICV4C"/>
          <p:cNvPicPr>
            <a:picLocks noChangeAspect="1" noChangeArrowheads="1"/>
          </p:cNvPicPr>
          <p:nvPr/>
        </p:nvPicPr>
        <p:blipFill>
          <a:blip r:embed="rId2">
            <a:extLst>
              <a:ext uri="{28A0092B-C50C-407E-A947-70E740481C1C}">
                <a14:useLocalDpi xmlns:a14="http://schemas.microsoft.com/office/drawing/2010/main" xmlns=""/>
              </a:ext>
            </a:extLst>
          </a:blip>
          <a:srcRect/>
          <a:stretch>
            <a:fillRect/>
          </a:stretch>
        </p:blipFill>
        <p:spPr bwMode="auto">
          <a:xfrm>
            <a:off x="2819400" y="838200"/>
            <a:ext cx="3505200" cy="1828800"/>
          </a:xfrm>
          <a:prstGeom prst="rect">
            <a:avLst/>
          </a:prstGeom>
          <a:noFill/>
          <a:extLst>
            <a:ext uri="{909E8E84-426E-40dd-AFC4-6F175D3DCCD1}">
              <a14:hiddenFill xmlns:a14="http://schemas.microsoft.com/office/drawing/2010/main" xmlns="">
                <a:solidFill>
                  <a:srgbClr val="FFFFFF"/>
                </a:solidFill>
              </a14:hiddenFill>
            </a:ext>
          </a:extLst>
        </p:spPr>
      </p:pic>
      <p:sp>
        <p:nvSpPr>
          <p:cNvPr id="19458" name="Rectangle 2"/>
          <p:cNvSpPr>
            <a:spLocks noGrp="1" noChangeArrowheads="1"/>
          </p:cNvSpPr>
          <p:nvPr>
            <p:ph type="ctrTitle"/>
          </p:nvPr>
        </p:nvSpPr>
        <p:spPr>
          <a:xfrm>
            <a:off x="685800" y="2740025"/>
            <a:ext cx="7772400" cy="1470025"/>
          </a:xfrm>
        </p:spPr>
        <p:txBody>
          <a:bodyPr/>
          <a:lstStyle>
            <a:lvl1pPr>
              <a:defRPr/>
            </a:lvl1pPr>
          </a:lstStyle>
          <a:p>
            <a:pPr lvl="0"/>
            <a:r>
              <a:rPr lang="en-US" altLang="en-US" noProof="0" smtClean="0"/>
              <a:t>Click to edit Master title style</a:t>
            </a:r>
          </a:p>
        </p:txBody>
      </p:sp>
      <p:sp>
        <p:nvSpPr>
          <p:cNvPr id="19459" name="Rectangle 3"/>
          <p:cNvSpPr>
            <a:spLocks noGrp="1" noChangeArrowheads="1"/>
          </p:cNvSpPr>
          <p:nvPr>
            <p:ph type="subTitle" idx="1"/>
          </p:nvPr>
        </p:nvSpPr>
        <p:spPr>
          <a:xfrm>
            <a:off x="1371600" y="4495800"/>
            <a:ext cx="6400800" cy="1752600"/>
          </a:xfrm>
        </p:spPr>
        <p:txBody>
          <a:bodyPr/>
          <a:lstStyle>
            <a:lvl1pPr marL="0" indent="0" algn="ctr">
              <a:buFont typeface="Monotype Sorts" pitchFamily="2" charset="2"/>
              <a:buNone/>
              <a:defRPr sz="2800"/>
            </a:lvl1pPr>
          </a:lstStyle>
          <a:p>
            <a:pPr lvl="0"/>
            <a:r>
              <a:rPr lang="en-US" altLang="en-US" noProof="0" smtClean="0"/>
              <a:t>Click to edit Master subtitle style</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342900" indent="-342900">
              <a:buFont typeface="Wingdings" panose="05000000000000000000" pitchFamily="2" charset="2"/>
              <a:buChar char="l"/>
              <a:defRPr/>
            </a:lvl1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91218429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49049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3716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08599880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06859271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799152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929204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616713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155132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3467577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8438"/>
            <a:ext cx="2057400" cy="56991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8438"/>
            <a:ext cx="6019800" cy="56991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23566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905000" y="198438"/>
            <a:ext cx="6781800" cy="8683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371600"/>
            <a:ext cx="8229600" cy="5105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31" name="Line 7"/>
          <p:cNvSpPr>
            <a:spLocks noChangeShapeType="1"/>
          </p:cNvSpPr>
          <p:nvPr/>
        </p:nvSpPr>
        <p:spPr bwMode="auto">
          <a:xfrm>
            <a:off x="152400" y="1219200"/>
            <a:ext cx="8839200"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sp>
        <p:nvSpPr>
          <p:cNvPr id="1036" name="Text Box 12"/>
          <p:cNvSpPr txBox="1">
            <a:spLocks noChangeArrowheads="1"/>
          </p:cNvSpPr>
          <p:nvPr/>
        </p:nvSpPr>
        <p:spPr bwMode="auto">
          <a:xfrm>
            <a:off x="8458200" y="6629400"/>
            <a:ext cx="838200"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fld id="{68F2991B-757B-4518-890D-960426509884}" type="slidenum">
              <a:rPr lang="en-US" altLang="en-US" sz="1200"/>
              <a:pPr>
                <a:spcBef>
                  <a:spcPct val="50000"/>
                </a:spcBef>
              </a:pPr>
              <a:t>‹#›</a:t>
            </a:fld>
            <a:endParaRPr lang="en-US" altLang="en-US" sz="1200"/>
          </a:p>
        </p:txBody>
      </p:sp>
      <p:sp>
        <p:nvSpPr>
          <p:cNvPr id="1041" name="Line 17"/>
          <p:cNvSpPr>
            <a:spLocks noChangeShapeType="1"/>
          </p:cNvSpPr>
          <p:nvPr/>
        </p:nvSpPr>
        <p:spPr bwMode="auto">
          <a:xfrm rot="10800000">
            <a:off x="152400" y="6629400"/>
            <a:ext cx="8839200"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a:p>
        </p:txBody>
      </p:sp>
      <p:pic>
        <p:nvPicPr>
          <p:cNvPr id="9" name="Picture 19" descr="\\overseer\Marcom\Photo_ads\LogoArt\Microchip Logo\MCHP_Logo_Vertical_4C.jpg"/>
          <p:cNvPicPr>
            <a:picLocks noChangeAspect="1" noChangeArrowheads="1"/>
          </p:cNvPicPr>
          <p:nvPr/>
        </p:nvPicPr>
        <p:blipFill>
          <a:blip r:embed="rId13" cstate="screen">
            <a:extLst>
              <a:ext uri="{28A0092B-C50C-407E-A947-70E740481C1C}">
                <a14:useLocalDpi xmlns:a14="http://schemas.microsoft.com/office/drawing/2010/main" xmlns=""/>
              </a:ext>
            </a:extLst>
          </a:blip>
          <a:srcRect/>
          <a:stretch>
            <a:fillRect/>
          </a:stretch>
        </p:blipFill>
        <p:spPr bwMode="auto">
          <a:xfrm>
            <a:off x="254000" y="231775"/>
            <a:ext cx="1422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userDrawn="1"/>
        </p:nvSpPr>
        <p:spPr>
          <a:xfrm>
            <a:off x="76200" y="6581001"/>
            <a:ext cx="5105400" cy="276999"/>
          </a:xfrm>
          <a:prstGeom prst="rect">
            <a:avLst/>
          </a:prstGeom>
          <a:noFill/>
        </p:spPr>
        <p:txBody>
          <a:bodyPr wrap="square" rtlCol="0">
            <a:spAutoFit/>
          </a:bodyPr>
          <a:lstStyle/>
          <a:p>
            <a:r>
              <a:rPr lang="en-US" sz="1200" dirty="0" smtClean="0"/>
              <a:t>PIC16(L)F161X</a:t>
            </a:r>
            <a:r>
              <a:rPr lang="en-US" sz="1200" baseline="0" dirty="0" smtClean="0"/>
              <a:t> Product Family Introduction</a:t>
            </a:r>
            <a:endParaRPr lang="en-US" sz="1200" dirty="0"/>
          </a:p>
        </p:txBody>
      </p:sp>
    </p:spTree>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Lst>
  <p:timing>
    <p:tnLst>
      <p:par>
        <p:cTn id="1" dur="indefinite" restart="never" nodeType="tmRoot"/>
      </p:par>
    </p:tnLst>
  </p:timing>
  <p:txStyles>
    <p:titleStyle>
      <a:lvl1pPr algn="ctr" rtl="0" eaLnBrk="1" fontAlgn="base" hangingPunct="1">
        <a:lnSpc>
          <a:spcPct val="75000"/>
        </a:lnSpc>
        <a:spcBef>
          <a:spcPct val="0"/>
        </a:spcBef>
        <a:spcAft>
          <a:spcPct val="0"/>
        </a:spcAft>
        <a:defRPr sz="4000" b="1">
          <a:solidFill>
            <a:schemeClr val="tx2"/>
          </a:solidFill>
          <a:latin typeface="+mj-lt"/>
          <a:ea typeface="+mj-ea"/>
          <a:cs typeface="+mj-cs"/>
        </a:defRPr>
      </a:lvl1pPr>
      <a:lvl2pPr algn="ctr" rtl="0" eaLnBrk="1" fontAlgn="base" hangingPunct="1">
        <a:lnSpc>
          <a:spcPct val="75000"/>
        </a:lnSpc>
        <a:spcBef>
          <a:spcPct val="0"/>
        </a:spcBef>
        <a:spcAft>
          <a:spcPct val="0"/>
        </a:spcAft>
        <a:defRPr sz="4000" b="1">
          <a:solidFill>
            <a:schemeClr val="tx2"/>
          </a:solidFill>
          <a:latin typeface="Arial" charset="0"/>
        </a:defRPr>
      </a:lvl2pPr>
      <a:lvl3pPr algn="ctr" rtl="0" eaLnBrk="1" fontAlgn="base" hangingPunct="1">
        <a:lnSpc>
          <a:spcPct val="75000"/>
        </a:lnSpc>
        <a:spcBef>
          <a:spcPct val="0"/>
        </a:spcBef>
        <a:spcAft>
          <a:spcPct val="0"/>
        </a:spcAft>
        <a:defRPr sz="4000" b="1">
          <a:solidFill>
            <a:schemeClr val="tx2"/>
          </a:solidFill>
          <a:latin typeface="Arial" charset="0"/>
        </a:defRPr>
      </a:lvl3pPr>
      <a:lvl4pPr algn="ctr" rtl="0" eaLnBrk="1" fontAlgn="base" hangingPunct="1">
        <a:lnSpc>
          <a:spcPct val="75000"/>
        </a:lnSpc>
        <a:spcBef>
          <a:spcPct val="0"/>
        </a:spcBef>
        <a:spcAft>
          <a:spcPct val="0"/>
        </a:spcAft>
        <a:defRPr sz="4000" b="1">
          <a:solidFill>
            <a:schemeClr val="tx2"/>
          </a:solidFill>
          <a:latin typeface="Arial" charset="0"/>
        </a:defRPr>
      </a:lvl4pPr>
      <a:lvl5pPr algn="ctr" rtl="0" eaLnBrk="1" fontAlgn="base" hangingPunct="1">
        <a:lnSpc>
          <a:spcPct val="75000"/>
        </a:lnSpc>
        <a:spcBef>
          <a:spcPct val="0"/>
        </a:spcBef>
        <a:spcAft>
          <a:spcPct val="0"/>
        </a:spcAft>
        <a:defRPr sz="4000" b="1">
          <a:solidFill>
            <a:schemeClr val="tx2"/>
          </a:solidFill>
          <a:latin typeface="Arial" charset="0"/>
        </a:defRPr>
      </a:lvl5pPr>
      <a:lvl6pPr marL="457200" algn="ctr" rtl="0" eaLnBrk="1" fontAlgn="base" hangingPunct="1">
        <a:lnSpc>
          <a:spcPct val="75000"/>
        </a:lnSpc>
        <a:spcBef>
          <a:spcPct val="0"/>
        </a:spcBef>
        <a:spcAft>
          <a:spcPct val="0"/>
        </a:spcAft>
        <a:defRPr sz="4000" b="1">
          <a:solidFill>
            <a:schemeClr val="tx2"/>
          </a:solidFill>
          <a:latin typeface="Arial" charset="0"/>
        </a:defRPr>
      </a:lvl6pPr>
      <a:lvl7pPr marL="914400" algn="ctr" rtl="0" eaLnBrk="1" fontAlgn="base" hangingPunct="1">
        <a:lnSpc>
          <a:spcPct val="75000"/>
        </a:lnSpc>
        <a:spcBef>
          <a:spcPct val="0"/>
        </a:spcBef>
        <a:spcAft>
          <a:spcPct val="0"/>
        </a:spcAft>
        <a:defRPr sz="4000" b="1">
          <a:solidFill>
            <a:schemeClr val="tx2"/>
          </a:solidFill>
          <a:latin typeface="Arial" charset="0"/>
        </a:defRPr>
      </a:lvl7pPr>
      <a:lvl8pPr marL="1371600" algn="ctr" rtl="0" eaLnBrk="1" fontAlgn="base" hangingPunct="1">
        <a:lnSpc>
          <a:spcPct val="75000"/>
        </a:lnSpc>
        <a:spcBef>
          <a:spcPct val="0"/>
        </a:spcBef>
        <a:spcAft>
          <a:spcPct val="0"/>
        </a:spcAft>
        <a:defRPr sz="4000" b="1">
          <a:solidFill>
            <a:schemeClr val="tx2"/>
          </a:solidFill>
          <a:latin typeface="Arial" charset="0"/>
        </a:defRPr>
      </a:lvl8pPr>
      <a:lvl9pPr marL="1828800" algn="ctr" rtl="0" eaLnBrk="1" fontAlgn="base" hangingPunct="1">
        <a:lnSpc>
          <a:spcPct val="75000"/>
        </a:lnSpc>
        <a:spcBef>
          <a:spcPct val="0"/>
        </a:spcBef>
        <a:spcAft>
          <a:spcPct val="0"/>
        </a:spcAft>
        <a:defRPr sz="4000" b="1">
          <a:solidFill>
            <a:schemeClr val="tx2"/>
          </a:solidFill>
          <a:latin typeface="Arial" charset="0"/>
        </a:defRPr>
      </a:lvl9pPr>
    </p:titleStyle>
    <p:bodyStyle>
      <a:lvl1pPr marL="342900" indent="-342900" algn="l" rtl="0" eaLnBrk="1" fontAlgn="base" hangingPunct="1">
        <a:spcBef>
          <a:spcPct val="20000"/>
        </a:spcBef>
        <a:spcAft>
          <a:spcPct val="0"/>
        </a:spcAft>
        <a:buSzPct val="70000"/>
        <a:buFont typeface="Wingdings" panose="05000000000000000000" pitchFamily="2" charset="2"/>
        <a:buChar char="l"/>
        <a:defRPr sz="3200" b="1">
          <a:solidFill>
            <a:schemeClr val="tx1"/>
          </a:solidFill>
          <a:latin typeface="+mn-lt"/>
          <a:ea typeface="+mn-ea"/>
          <a:cs typeface="+mn-cs"/>
        </a:defRPr>
      </a:lvl1pPr>
      <a:lvl2pPr marL="742950" indent="-285750" algn="l" rtl="0" eaLnBrk="1" fontAlgn="base" hangingPunct="1">
        <a:spcBef>
          <a:spcPct val="20000"/>
        </a:spcBef>
        <a:spcAft>
          <a:spcPct val="0"/>
        </a:spcAft>
        <a:buSzPct val="70000"/>
        <a:buFont typeface="Wingdings" panose="05000000000000000000" pitchFamily="2" charset="2"/>
        <a:buChar char="l"/>
        <a:defRPr sz="2800" baseline="0">
          <a:solidFill>
            <a:schemeClr val="tx1"/>
          </a:solidFill>
          <a:latin typeface="+mn-lt"/>
        </a:defRPr>
      </a:lvl2pPr>
      <a:lvl3pPr marL="1143000" indent="-228600" algn="l" rtl="0" eaLnBrk="1" fontAlgn="base" hangingPunct="1">
        <a:spcBef>
          <a:spcPct val="20000"/>
        </a:spcBef>
        <a:spcAft>
          <a:spcPct val="0"/>
        </a:spcAft>
        <a:buSzPct val="70000"/>
        <a:buFont typeface="Wingdings" panose="05000000000000000000" pitchFamily="2" charset="2"/>
        <a:buChar char="l"/>
        <a:defRPr sz="2400" baseline="0">
          <a:solidFill>
            <a:schemeClr val="tx1"/>
          </a:solidFill>
          <a:latin typeface="+mn-lt"/>
        </a:defRPr>
      </a:lvl3pPr>
      <a:lvl4pPr marL="1600200" indent="-228600" algn="l" rtl="0" eaLnBrk="1" fontAlgn="base" hangingPunct="1">
        <a:spcBef>
          <a:spcPct val="20000"/>
        </a:spcBef>
        <a:spcAft>
          <a:spcPct val="0"/>
        </a:spcAft>
        <a:buSzPct val="70000"/>
        <a:buFont typeface="Wingdings" panose="05000000000000000000" pitchFamily="2" charset="2"/>
        <a:buChar char="l"/>
        <a:defRPr sz="2000" baseline="0">
          <a:solidFill>
            <a:schemeClr val="tx1"/>
          </a:solidFill>
          <a:latin typeface="+mn-lt"/>
        </a:defRPr>
      </a:lvl4pPr>
      <a:lvl5pPr marL="2057400" indent="-228600"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SzPct val="70000"/>
        <a:buFont typeface="Wingdings" panose="05000000000000000000" pitchFamily="2" charset="2"/>
        <a:buChar char="l"/>
        <a:defRPr sz="2000" baseline="0">
          <a:solidFill>
            <a:schemeClr val="tx1"/>
          </a:solidFill>
          <a:latin typeface="+mn-lt"/>
        </a:defRPr>
      </a:lvl6pPr>
      <a:lvl7pPr marL="2743200" indent="0" algn="l" rtl="0" eaLnBrk="1" fontAlgn="base" hangingPunct="1">
        <a:spcBef>
          <a:spcPct val="20000"/>
        </a:spcBef>
        <a:spcAft>
          <a:spcPct val="0"/>
        </a:spcAft>
        <a:buSzPct val="70000"/>
        <a:buFont typeface="Monotype Sorts" pitchFamily="2" charset="2"/>
        <a:buNone/>
        <a:defRPr sz="2000">
          <a:solidFill>
            <a:schemeClr val="tx1"/>
          </a:solidFill>
          <a:latin typeface="+mn-lt"/>
        </a:defRPr>
      </a:lvl7pPr>
      <a:lvl8pPr marL="3429000" indent="-228600" algn="l" rtl="0" eaLnBrk="1" fontAlgn="base" hangingPunct="1">
        <a:spcBef>
          <a:spcPct val="20000"/>
        </a:spcBef>
        <a:spcAft>
          <a:spcPct val="0"/>
        </a:spcAft>
        <a:buSzPct val="70000"/>
        <a:buFont typeface="Monotype Sorts" pitchFamily="2" charset="2"/>
        <a:buChar char="l"/>
        <a:defRPr sz="2000">
          <a:solidFill>
            <a:schemeClr val="tx1"/>
          </a:solidFill>
          <a:latin typeface="+mn-lt"/>
        </a:defRPr>
      </a:lvl8pPr>
      <a:lvl9pPr marL="3886200" indent="-228600" algn="l" rtl="0" eaLnBrk="1" fontAlgn="base" hangingPunct="1">
        <a:spcBef>
          <a:spcPct val="20000"/>
        </a:spcBef>
        <a:spcAft>
          <a:spcPct val="0"/>
        </a:spcAft>
        <a:buSzPct val="70000"/>
        <a:buFont typeface="Monotype Sorts" pitchFamily="2" charset="2"/>
        <a:buChar char="l"/>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jpeg"/></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microchip.com/angtmrdemo"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hyperlink" Target="http://www.microchip.com/MCC"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www.microchip.com/PIC16F161X"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1437" y="5867401"/>
            <a:ext cx="8915400" cy="990600"/>
          </a:xfrm>
        </p:spPr>
        <p:txBody>
          <a:bodyPr/>
          <a:lstStyle/>
          <a:p>
            <a:pPr>
              <a:lnSpc>
                <a:spcPct val="100000"/>
              </a:lnSpc>
            </a:pPr>
            <a:r>
              <a:rPr lang="en-US" sz="2800" dirty="0">
                <a:solidFill>
                  <a:schemeClr val="tx1"/>
                </a:solidFill>
              </a:rPr>
              <a:t/>
            </a:r>
            <a:br>
              <a:rPr lang="en-US" sz="2800" dirty="0">
                <a:solidFill>
                  <a:schemeClr val="tx1"/>
                </a:solidFill>
              </a:rPr>
            </a:br>
            <a:r>
              <a:rPr lang="en-US" sz="2800" dirty="0" smtClean="0">
                <a:solidFill>
                  <a:schemeClr val="tx1"/>
                </a:solidFill>
              </a:rPr>
              <a:t>Announcing the </a:t>
            </a:r>
            <a:br>
              <a:rPr lang="en-US" sz="2800" dirty="0" smtClean="0">
                <a:solidFill>
                  <a:schemeClr val="tx1"/>
                </a:solidFill>
              </a:rPr>
            </a:br>
            <a:r>
              <a:rPr lang="en-US" sz="2800" dirty="0" smtClean="0">
                <a:solidFill>
                  <a:schemeClr val="tx1"/>
                </a:solidFill>
              </a:rPr>
              <a:t>PIC16(L)F161X 8-bit MCUs </a:t>
            </a:r>
            <a:br>
              <a:rPr lang="en-US" sz="2800" dirty="0" smtClean="0">
                <a:solidFill>
                  <a:schemeClr val="tx1"/>
                </a:solidFill>
              </a:rPr>
            </a:br>
            <a:endParaRPr lang="en-US" sz="2800" dirty="0">
              <a:solidFill>
                <a:schemeClr val="tx1"/>
              </a:solidFill>
            </a:endParaRPr>
          </a:p>
        </p:txBody>
      </p:sp>
      <p:sp>
        <p:nvSpPr>
          <p:cNvPr id="6" name="TextBox 5"/>
          <p:cNvSpPr txBox="1"/>
          <p:nvPr/>
        </p:nvSpPr>
        <p:spPr>
          <a:xfrm>
            <a:off x="3276600" y="304800"/>
            <a:ext cx="2590800" cy="369332"/>
          </a:xfrm>
          <a:prstGeom prst="rect">
            <a:avLst/>
          </a:prstGeom>
          <a:noFill/>
        </p:spPr>
        <p:txBody>
          <a:bodyPr wrap="square" rtlCol="0">
            <a:spAutoFit/>
          </a:bodyPr>
          <a:lstStyle/>
          <a:p>
            <a:pPr algn="ctr"/>
            <a:r>
              <a:rPr lang="en-US" dirty="0" smtClean="0"/>
              <a:t>November 11, 2014</a:t>
            </a:r>
            <a:endParaRPr lang="en-US" dirty="0"/>
          </a:p>
        </p:txBody>
      </p:sp>
      <p:pic>
        <p:nvPicPr>
          <p:cNvPr id="3" name="Picture 2" descr="PR1.jpeg"/>
          <p:cNvPicPr>
            <a:picLocks noChangeAspect="1"/>
          </p:cNvPicPr>
          <p:nvPr/>
        </p:nvPicPr>
        <p:blipFill>
          <a:blip r:embed="rId3" cstate="screen">
            <a:extLst>
              <a:ext uri="{28A0092B-C50C-407E-A947-70E740481C1C}">
                <a14:useLocalDpi xmlns:a14="http://schemas.microsoft.com/office/drawing/2010/main" xmlns=""/>
              </a:ext>
            </a:extLst>
          </a:blip>
          <a:stretch>
            <a:fillRect/>
          </a:stretch>
        </p:blipFill>
        <p:spPr>
          <a:xfrm>
            <a:off x="2354474" y="2772282"/>
            <a:ext cx="4435053" cy="317106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4294967295"/>
          </p:nvPr>
        </p:nvSpPr>
        <p:spPr>
          <a:xfrm>
            <a:off x="0" y="1240972"/>
            <a:ext cx="9067800" cy="5424487"/>
          </a:xfrm>
        </p:spPr>
        <p:txBody>
          <a:bodyPr>
            <a:normAutofit fontScale="70000" lnSpcReduction="20000"/>
          </a:bodyPr>
          <a:lstStyle/>
          <a:p>
            <a:pPr marL="0" indent="0" eaLnBrk="1" hangingPunct="1">
              <a:buNone/>
              <a:defRPr/>
            </a:pPr>
            <a:r>
              <a:rPr lang="en-US" sz="2600" b="0" i="1" dirty="0" smtClean="0">
                <a:solidFill>
                  <a:schemeClr val="accent2"/>
                </a:solidFill>
              </a:rPr>
              <a:t>  Advanced Digital and </a:t>
            </a:r>
            <a:r>
              <a:rPr lang="en-US" sz="2600" b="0" i="1" dirty="0">
                <a:solidFill>
                  <a:schemeClr val="accent2"/>
                </a:solidFill>
              </a:rPr>
              <a:t>A</a:t>
            </a:r>
            <a:r>
              <a:rPr lang="en-US" sz="2600" b="0" i="1" dirty="0" smtClean="0">
                <a:solidFill>
                  <a:schemeClr val="accent2"/>
                </a:solidFill>
              </a:rPr>
              <a:t>nalog Integration in a Small Form Factor</a:t>
            </a:r>
            <a:endParaRPr lang="en-US" sz="2600" b="0" i="1" dirty="0">
              <a:solidFill>
                <a:schemeClr val="accent2"/>
              </a:solidFill>
            </a:endParaRPr>
          </a:p>
          <a:p>
            <a:pPr lvl="1" eaLnBrk="1" hangingPunct="1">
              <a:buSzPct val="100000"/>
              <a:buFont typeface="Arial"/>
              <a:buChar char="•"/>
              <a:defRPr/>
            </a:pPr>
            <a:r>
              <a:rPr lang="en-US" sz="2000" dirty="0" smtClean="0"/>
              <a:t>Family contains 6 product with up to 14KB of Flash and 1KB of RAM</a:t>
            </a:r>
          </a:p>
          <a:p>
            <a:pPr lvl="1">
              <a:buSzPct val="100000"/>
              <a:buFont typeface="Arial"/>
              <a:buChar char="•"/>
              <a:defRPr/>
            </a:pPr>
            <a:r>
              <a:rPr lang="en-US" sz="2000" dirty="0"/>
              <a:t>8-, 14- and 20-pin packages </a:t>
            </a:r>
            <a:endParaRPr lang="fr-FR" sz="2000" dirty="0"/>
          </a:p>
          <a:p>
            <a:pPr lvl="1" eaLnBrk="1" hangingPunct="1">
              <a:buSzPct val="100000"/>
              <a:buFont typeface="Arial"/>
              <a:buChar char="•"/>
              <a:defRPr/>
            </a:pPr>
            <a:r>
              <a:rPr lang="en-US" sz="2000" dirty="0" smtClean="0"/>
              <a:t>10-bit ADC (</a:t>
            </a:r>
            <a:r>
              <a:rPr lang="en-US" sz="2000" dirty="0"/>
              <a:t>up to 28 </a:t>
            </a:r>
            <a:r>
              <a:rPr lang="en-US" sz="2000" dirty="0" err="1"/>
              <a:t>ch</a:t>
            </a:r>
            <a:r>
              <a:rPr lang="en-US" sz="2000" dirty="0"/>
              <a:t>), </a:t>
            </a:r>
            <a:r>
              <a:rPr lang="en-US" sz="2000" dirty="0" smtClean="0"/>
              <a:t>8</a:t>
            </a:r>
            <a:r>
              <a:rPr lang="en-US" sz="2000" dirty="0"/>
              <a:t>-bit </a:t>
            </a:r>
            <a:r>
              <a:rPr lang="en-US" sz="2000" dirty="0" smtClean="0"/>
              <a:t>DAC, 2x Comparators, </a:t>
            </a:r>
            <a:r>
              <a:rPr lang="fr-FR" sz="2000" dirty="0"/>
              <a:t>2 x 10-bit </a:t>
            </a:r>
            <a:r>
              <a:rPr lang="fr-FR" sz="2000" dirty="0" err="1" smtClean="0"/>
              <a:t>PWMs</a:t>
            </a:r>
            <a:endParaRPr lang="fr-FR" sz="2000" dirty="0" smtClean="0"/>
          </a:p>
          <a:p>
            <a:pPr lvl="1" eaLnBrk="1" hangingPunct="1">
              <a:buSzPct val="100000"/>
              <a:buFont typeface="Arial"/>
              <a:buChar char="•"/>
              <a:defRPr/>
            </a:pPr>
            <a:endParaRPr lang="en-US" sz="1900" dirty="0" smtClean="0"/>
          </a:p>
          <a:p>
            <a:pPr marL="0" indent="0" eaLnBrk="1" hangingPunct="1">
              <a:buNone/>
              <a:defRPr/>
            </a:pPr>
            <a:r>
              <a:rPr lang="en-US" sz="2600" b="0" dirty="0" smtClean="0">
                <a:solidFill>
                  <a:srgbClr val="0000FF"/>
                </a:solidFill>
              </a:rPr>
              <a:t>  </a:t>
            </a:r>
            <a:r>
              <a:rPr lang="en-US" sz="2600" b="0" i="1" dirty="0" smtClean="0">
                <a:solidFill>
                  <a:schemeClr val="accent2"/>
                </a:solidFill>
              </a:rPr>
              <a:t>New Core Independent Peripherals that Empower Functional Enablement</a:t>
            </a:r>
            <a:endParaRPr lang="en-US" sz="2600" i="1" dirty="0" smtClean="0">
              <a:solidFill>
                <a:schemeClr val="accent2"/>
              </a:solidFill>
            </a:endParaRPr>
          </a:p>
          <a:p>
            <a:pPr lvl="1" eaLnBrk="1" hangingPunct="1">
              <a:buSzPct val="100000"/>
              <a:buFont typeface="Arial"/>
              <a:buChar char="•"/>
              <a:defRPr/>
            </a:pPr>
            <a:r>
              <a:rPr lang="en-US" sz="2000" dirty="0" smtClean="0"/>
              <a:t>Angular Timer (</a:t>
            </a:r>
            <a:r>
              <a:rPr lang="en-US" sz="2000" dirty="0" err="1" smtClean="0"/>
              <a:t>AngTmr</a:t>
            </a:r>
            <a:r>
              <a:rPr lang="en-US" sz="2000" dirty="0" smtClean="0"/>
              <a:t>)</a:t>
            </a:r>
            <a:endParaRPr lang="en-US" sz="2000" dirty="0"/>
          </a:p>
          <a:p>
            <a:pPr lvl="1" eaLnBrk="1" hangingPunct="1">
              <a:buSzPct val="100000"/>
              <a:buFont typeface="Arial"/>
              <a:buChar char="•"/>
              <a:defRPr/>
            </a:pPr>
            <a:r>
              <a:rPr lang="en-US" sz="2000" dirty="0"/>
              <a:t>Math </a:t>
            </a:r>
            <a:r>
              <a:rPr lang="en-US" sz="2000" dirty="0" smtClean="0"/>
              <a:t>Accelerator (</a:t>
            </a:r>
            <a:r>
              <a:rPr lang="en-US" sz="2000" dirty="0" err="1" smtClean="0"/>
              <a:t>MathACC</a:t>
            </a:r>
            <a:r>
              <a:rPr lang="en-US" sz="2000" dirty="0" smtClean="0"/>
              <a:t>)</a:t>
            </a:r>
            <a:endParaRPr lang="en-US" sz="2000" dirty="0"/>
          </a:p>
          <a:p>
            <a:pPr lvl="1">
              <a:buSzPct val="100000"/>
              <a:buFont typeface="Arial"/>
              <a:buChar char="•"/>
              <a:defRPr/>
            </a:pPr>
            <a:r>
              <a:rPr lang="en-US" sz="2000" dirty="0" smtClean="0"/>
              <a:t>2 </a:t>
            </a:r>
            <a:r>
              <a:rPr lang="en-US" sz="2000" dirty="0"/>
              <a:t>x High Current I/</a:t>
            </a:r>
            <a:r>
              <a:rPr lang="en-US" sz="2000" dirty="0" err="1"/>
              <a:t>Os</a:t>
            </a:r>
            <a:r>
              <a:rPr lang="en-US" sz="2000" dirty="0"/>
              <a:t> (100 mA)</a:t>
            </a:r>
          </a:p>
          <a:p>
            <a:pPr lvl="1">
              <a:buSzPct val="100000"/>
              <a:buFont typeface="Arial"/>
              <a:buChar char="•"/>
              <a:defRPr/>
            </a:pPr>
            <a:r>
              <a:rPr lang="en-US" sz="2000" dirty="0"/>
              <a:t>Peripheral Pin Select (PPS)</a:t>
            </a:r>
          </a:p>
          <a:p>
            <a:pPr marL="457200" lvl="1" indent="0" eaLnBrk="1" hangingPunct="1">
              <a:buSzPct val="100000"/>
              <a:buNone/>
              <a:defRPr/>
            </a:pPr>
            <a:endParaRPr lang="en-US" sz="1900" dirty="0" smtClean="0"/>
          </a:p>
          <a:p>
            <a:pPr marL="0" lvl="0" indent="0">
              <a:buNone/>
              <a:defRPr/>
            </a:pPr>
            <a:r>
              <a:rPr lang="en-US" sz="2600" b="0" i="1" dirty="0" smtClean="0">
                <a:solidFill>
                  <a:srgbClr val="333399"/>
                </a:solidFill>
              </a:rPr>
              <a:t>   Additional Core Independent Peripherals</a:t>
            </a:r>
          </a:p>
          <a:p>
            <a:pPr lvl="1">
              <a:buSzPct val="100000"/>
              <a:buFont typeface="Arial"/>
              <a:buChar char="•"/>
              <a:defRPr/>
            </a:pPr>
            <a:r>
              <a:rPr lang="en-US" sz="2000" dirty="0">
                <a:solidFill>
                  <a:srgbClr val="000000"/>
                </a:solidFill>
              </a:rPr>
              <a:t>Up to 4 Configurable Logic Cells (CLCs)</a:t>
            </a:r>
          </a:p>
          <a:p>
            <a:pPr lvl="1" eaLnBrk="1" hangingPunct="1">
              <a:buSzPct val="100000"/>
              <a:buFont typeface="Arial"/>
              <a:buChar char="•"/>
              <a:defRPr/>
            </a:pPr>
            <a:r>
              <a:rPr lang="en-US" sz="2000" dirty="0" smtClean="0"/>
              <a:t>2 x 24-bit Signal Measurement Timers (SMTs)</a:t>
            </a:r>
          </a:p>
          <a:p>
            <a:pPr lvl="1" eaLnBrk="1" hangingPunct="1">
              <a:buSzPct val="100000"/>
              <a:buFont typeface="Arial"/>
              <a:buChar char="•"/>
              <a:defRPr/>
            </a:pPr>
            <a:r>
              <a:rPr lang="en-US" sz="2000" dirty="0" smtClean="0"/>
              <a:t>Windowed Watchdog Timer (WWDT)</a:t>
            </a:r>
          </a:p>
          <a:p>
            <a:pPr lvl="1" eaLnBrk="1" hangingPunct="1">
              <a:buSzPct val="100000"/>
              <a:buFont typeface="Arial"/>
              <a:buChar char="•"/>
              <a:defRPr/>
            </a:pPr>
            <a:r>
              <a:rPr lang="en-US" sz="2000" dirty="0" smtClean="0"/>
              <a:t>Cyclic Redundancy Check with Memory Scan (CRC/SCAN)</a:t>
            </a:r>
          </a:p>
          <a:p>
            <a:pPr lvl="1" eaLnBrk="1" hangingPunct="1">
              <a:buSzPct val="100000"/>
              <a:buFont typeface="Arial"/>
              <a:buChar char="•"/>
              <a:defRPr/>
            </a:pPr>
            <a:r>
              <a:rPr lang="en-US" sz="2000" dirty="0" smtClean="0"/>
              <a:t>3 x Hardware Limit Timers (HLTs) and Zero Cross Detect (ZCD)</a:t>
            </a:r>
          </a:p>
          <a:p>
            <a:pPr lvl="1" eaLnBrk="1" hangingPunct="1">
              <a:buSzPct val="100000"/>
              <a:buFont typeface="Arial"/>
              <a:buChar char="•"/>
              <a:defRPr/>
            </a:pPr>
            <a:r>
              <a:rPr lang="en-US" sz="2000" dirty="0" smtClean="0"/>
              <a:t>Complementary Waveform Generator (CWG)</a:t>
            </a:r>
          </a:p>
          <a:p>
            <a:pPr lvl="1" eaLnBrk="1" hangingPunct="1">
              <a:buSzPct val="100000"/>
              <a:buFont typeface="Arial"/>
              <a:buChar char="•"/>
              <a:defRPr/>
            </a:pPr>
            <a:r>
              <a:rPr lang="en-US" sz="2000" dirty="0" smtClean="0"/>
              <a:t>Up to 4 Configurable Logic Cell (CLC)</a:t>
            </a:r>
          </a:p>
          <a:p>
            <a:pPr lvl="1" eaLnBrk="1" hangingPunct="1">
              <a:buSzPct val="100000"/>
              <a:buFont typeface="Arial"/>
              <a:buChar char="•"/>
              <a:defRPr/>
            </a:pPr>
            <a:r>
              <a:rPr lang="en-US" sz="2000" dirty="0" smtClean="0"/>
              <a:t>High Endurance Flash (HEF) (Non-volatile Data Storage)</a:t>
            </a:r>
          </a:p>
          <a:p>
            <a:pPr lvl="1" eaLnBrk="1" hangingPunct="1">
              <a:buSzPct val="100000"/>
              <a:buFont typeface="Arial"/>
              <a:buChar char="•"/>
              <a:defRPr/>
            </a:pPr>
            <a:endParaRPr lang="en-US" sz="1200" dirty="0" smtClean="0"/>
          </a:p>
          <a:p>
            <a:pPr marL="0" indent="0" eaLnBrk="1" hangingPunct="1">
              <a:buSzPct val="100000"/>
              <a:buNone/>
              <a:defRPr/>
            </a:pPr>
            <a:r>
              <a:rPr lang="en-US" sz="2600" b="0" i="1" dirty="0" smtClean="0">
                <a:solidFill>
                  <a:schemeClr val="accent2"/>
                </a:solidFill>
              </a:rPr>
              <a:t>Feature </a:t>
            </a:r>
            <a:r>
              <a:rPr lang="en-US" sz="2600" b="0" i="1" dirty="0" err="1" smtClean="0">
                <a:solidFill>
                  <a:schemeClr val="accent2"/>
                </a:solidFill>
              </a:rPr>
              <a:t>eXtreme</a:t>
            </a:r>
            <a:r>
              <a:rPr lang="en-US" sz="2600" b="0" i="1" dirty="0" smtClean="0">
                <a:solidFill>
                  <a:schemeClr val="accent2"/>
                </a:solidFill>
              </a:rPr>
              <a:t> Low Power Technology</a:t>
            </a:r>
          </a:p>
          <a:p>
            <a:pPr lvl="1">
              <a:buSzPct val="100000"/>
              <a:buFont typeface="Arial"/>
              <a:buChar char="•"/>
              <a:defRPr/>
            </a:pPr>
            <a:r>
              <a:rPr lang="en-US" sz="2000" dirty="0"/>
              <a:t>Sleep Current		20nA</a:t>
            </a:r>
          </a:p>
          <a:p>
            <a:pPr lvl="1">
              <a:buSzPct val="100000"/>
              <a:buFont typeface="Arial"/>
              <a:buChar char="•"/>
              <a:defRPr/>
            </a:pPr>
            <a:r>
              <a:rPr lang="en-US" sz="2000" dirty="0"/>
              <a:t>Active Current		</a:t>
            </a:r>
            <a:r>
              <a:rPr lang="en-US" sz="2000" dirty="0" smtClean="0"/>
              <a:t>29uA / MHz</a:t>
            </a: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p:txBody>
      </p:sp>
      <p:sp>
        <p:nvSpPr>
          <p:cNvPr id="5" name="Title 1"/>
          <p:cNvSpPr txBox="1">
            <a:spLocks/>
          </p:cNvSpPr>
          <p:nvPr/>
        </p:nvSpPr>
        <p:spPr>
          <a:xfrm>
            <a:off x="1752600" y="0"/>
            <a:ext cx="7391400" cy="1219200"/>
          </a:xfrm>
          <a:prstGeom prst="rect">
            <a:avLst/>
          </a:prstGeom>
        </p:spPr>
        <p:txBody>
          <a:bodyPr/>
          <a:lstStyle/>
          <a:p>
            <a:pPr algn="ctr">
              <a:defRPr/>
            </a:pPr>
            <a:r>
              <a:rPr kumimoji="0" lang="en-US" sz="4000" b="1" i="0" u="none" strike="noStrike" kern="0" cap="none" spc="0" normalizeH="0" baseline="0" noProof="0" dirty="0" smtClean="0">
                <a:ln>
                  <a:noFill/>
                </a:ln>
                <a:solidFill>
                  <a:schemeClr val="tx2"/>
                </a:solidFill>
                <a:effectLst/>
                <a:uLnTx/>
                <a:uFillTx/>
                <a:latin typeface="+mj-lt"/>
                <a:ea typeface="+mj-ea"/>
                <a:cs typeface="+mj-cs"/>
              </a:rPr>
              <a:t>PIC16(L)F161X</a:t>
            </a:r>
          </a:p>
          <a:p>
            <a:pPr algn="ctr">
              <a:defRPr/>
            </a:pPr>
            <a:r>
              <a:rPr lang="en-US" i="1" kern="0" dirty="0" smtClean="0">
                <a:solidFill>
                  <a:schemeClr val="tx2"/>
                </a:solidFill>
              </a:rPr>
              <a:t>Closed Loop control and Safety-Monitoring </a:t>
            </a:r>
          </a:p>
          <a:p>
            <a:pPr algn="ctr">
              <a:defRPr/>
            </a:pPr>
            <a:r>
              <a:rPr lang="en-US" i="1" kern="0" dirty="0" smtClean="0">
                <a:solidFill>
                  <a:schemeClr val="tx2"/>
                </a:solidFill>
              </a:rPr>
              <a:t>with Core Independent Peripherals</a:t>
            </a:r>
            <a:endParaRPr lang="en-US" b="1" i="1" kern="0" dirty="0"/>
          </a:p>
        </p:txBody>
      </p:sp>
    </p:spTree>
    <p:extLst>
      <p:ext uri="{BB962C8B-B14F-4D97-AF65-F5344CB8AC3E}">
        <p14:creationId xmlns:p14="http://schemas.microsoft.com/office/powerpoint/2010/main" xmlns="" val="439733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4294967295"/>
          </p:nvPr>
        </p:nvSpPr>
        <p:spPr>
          <a:xfrm>
            <a:off x="0" y="1219200"/>
            <a:ext cx="9144000" cy="5410200"/>
          </a:xfrm>
        </p:spPr>
        <p:txBody>
          <a:bodyPr/>
          <a:lstStyle/>
          <a:p>
            <a:pPr marL="0" lvl="1" indent="0" algn="ctr" eaLnBrk="1" hangingPunct="1">
              <a:buNone/>
              <a:defRPr/>
            </a:pPr>
            <a:r>
              <a:rPr lang="en-US" sz="2000" b="1" i="1" dirty="0" smtClean="0">
                <a:solidFill>
                  <a:schemeClr val="accent2"/>
                </a:solidFill>
              </a:rPr>
              <a:t>Reduced Code Complexity, Interrupt Latency, and Power Consumption </a:t>
            </a:r>
          </a:p>
          <a:p>
            <a:pPr marL="0" lvl="1" indent="0" algn="ctr" eaLnBrk="1" hangingPunct="1">
              <a:buNone/>
              <a:defRPr/>
            </a:pPr>
            <a:r>
              <a:rPr lang="en-US" sz="2000" b="1" i="1" dirty="0" smtClean="0">
                <a:solidFill>
                  <a:schemeClr val="accent2"/>
                </a:solidFill>
              </a:rPr>
              <a:t>with Increased Core Performance</a:t>
            </a:r>
          </a:p>
          <a:p>
            <a:pPr marL="0" lvl="1" indent="0" eaLnBrk="1" hangingPunct="1">
              <a:buNone/>
              <a:defRPr/>
            </a:pPr>
            <a:endParaRPr lang="en-US" sz="1400" i="1" dirty="0" smtClean="0">
              <a:solidFill>
                <a:schemeClr val="accent2"/>
              </a:solidFill>
            </a:endParaRPr>
          </a:p>
          <a:p>
            <a:pPr lvl="1" eaLnBrk="1" hangingPunct="1">
              <a:buSzPct val="100000"/>
              <a:buFont typeface="Arial"/>
              <a:buChar char="•"/>
              <a:defRPr/>
            </a:pPr>
            <a:r>
              <a:rPr lang="en-US" sz="1600" b="1" dirty="0" smtClean="0"/>
              <a:t>MATH Accelerator (</a:t>
            </a:r>
            <a:r>
              <a:rPr lang="en-US" sz="1600" b="1" dirty="0" err="1" smtClean="0"/>
              <a:t>MathACC</a:t>
            </a:r>
            <a:r>
              <a:rPr lang="en-US" sz="1600" b="1" dirty="0" smtClean="0"/>
              <a:t>)</a:t>
            </a:r>
          </a:p>
          <a:p>
            <a:pPr lvl="2" eaLnBrk="1" hangingPunct="1">
              <a:buSzPct val="100000"/>
              <a:buFont typeface="Arial"/>
              <a:buChar char="•"/>
              <a:defRPr/>
            </a:pPr>
            <a:r>
              <a:rPr lang="en-US" sz="1400" dirty="0" smtClean="0"/>
              <a:t>Complete </a:t>
            </a:r>
            <a:r>
              <a:rPr lang="en-US" sz="1400" dirty="0"/>
              <a:t>Core Independent calculations, with the capability to perform 16-bit math and PID </a:t>
            </a:r>
            <a:r>
              <a:rPr lang="en-US" sz="1400" dirty="0" smtClean="0"/>
              <a:t>operations</a:t>
            </a:r>
          </a:p>
          <a:p>
            <a:pPr lvl="2" eaLnBrk="1" hangingPunct="1">
              <a:buSzPct val="100000"/>
              <a:buFont typeface="Arial"/>
              <a:buChar char="•"/>
              <a:defRPr/>
            </a:pPr>
            <a:r>
              <a:rPr lang="en-US" sz="1400" dirty="0" smtClean="0"/>
              <a:t>Speeds math functions by performing tasks in hardware</a:t>
            </a:r>
          </a:p>
          <a:p>
            <a:pPr lvl="2" eaLnBrk="1" hangingPunct="1">
              <a:buSzPct val="100000"/>
              <a:buFont typeface="Arial"/>
              <a:buChar char="•"/>
              <a:defRPr/>
            </a:pPr>
            <a:endParaRPr lang="en-US" sz="1400" dirty="0"/>
          </a:p>
          <a:p>
            <a:pPr lvl="1" eaLnBrk="1" hangingPunct="1">
              <a:buSzPct val="100000"/>
              <a:buFont typeface="Arial"/>
              <a:buChar char="•"/>
              <a:defRPr/>
            </a:pPr>
            <a:r>
              <a:rPr lang="en-US" sz="1600" b="1" dirty="0" smtClean="0"/>
              <a:t>Angular Timer (</a:t>
            </a:r>
            <a:r>
              <a:rPr lang="en-US" sz="1600" b="1" dirty="0" err="1" smtClean="0"/>
              <a:t>AngTMR</a:t>
            </a:r>
            <a:r>
              <a:rPr lang="en-US" sz="1600" b="1" dirty="0" smtClean="0"/>
              <a:t>) </a:t>
            </a:r>
          </a:p>
          <a:p>
            <a:pPr lvl="2" eaLnBrk="1" hangingPunct="1">
              <a:buSzPct val="100000"/>
              <a:buFont typeface="Arial"/>
              <a:buChar char="•"/>
              <a:defRPr/>
            </a:pPr>
            <a:r>
              <a:rPr lang="en-US" sz="1400" dirty="0" smtClean="0"/>
              <a:t>Phase angle timer, measurement and control of rotational and periodic events</a:t>
            </a:r>
          </a:p>
          <a:p>
            <a:pPr lvl="3" eaLnBrk="1" hangingPunct="1">
              <a:buSzPct val="100000"/>
              <a:buFont typeface="Arial"/>
              <a:buChar char="•"/>
              <a:defRPr/>
            </a:pPr>
            <a:r>
              <a:rPr lang="en-US" sz="1400" dirty="0" smtClean="0"/>
              <a:t>Motor control, TRIAC or Capacitive Discharge Ignition (CDI) system</a:t>
            </a:r>
            <a:endParaRPr lang="en-US" dirty="0"/>
          </a:p>
          <a:p>
            <a:pPr lvl="2" eaLnBrk="1" hangingPunct="1">
              <a:buSzPct val="100000"/>
              <a:buFont typeface="Arial"/>
              <a:buChar char="•"/>
              <a:defRPr/>
            </a:pPr>
            <a:r>
              <a:rPr lang="en-US" sz="1400" dirty="0" smtClean="0"/>
              <a:t>Allows recurring </a:t>
            </a:r>
            <a:r>
              <a:rPr lang="en-US" sz="1400" dirty="0"/>
              <a:t>interrupts at a specific rotational or sinusoidal angle with no software setup </a:t>
            </a:r>
            <a:r>
              <a:rPr lang="en-US" sz="1400" dirty="0" smtClean="0"/>
              <a:t>hassles</a:t>
            </a:r>
            <a:endParaRPr lang="en-US" sz="800" dirty="0" smtClean="0"/>
          </a:p>
          <a:p>
            <a:pPr lvl="3">
              <a:lnSpc>
                <a:spcPct val="120000"/>
              </a:lnSpc>
              <a:buSzPct val="100000"/>
              <a:buFont typeface="Arial"/>
              <a:buChar char="•"/>
              <a:defRPr/>
            </a:pPr>
            <a:endParaRPr lang="en-US" sz="800" dirty="0"/>
          </a:p>
          <a:p>
            <a:pPr lvl="1">
              <a:buSzPct val="100000"/>
              <a:buFont typeface="Arial"/>
              <a:buChar char="•"/>
              <a:defRPr/>
            </a:pPr>
            <a:r>
              <a:rPr lang="en-US" sz="1600" b="1" dirty="0"/>
              <a:t>Two High Current I/</a:t>
            </a:r>
            <a:r>
              <a:rPr lang="en-US" sz="1600" b="1" dirty="0" err="1"/>
              <a:t>Os</a:t>
            </a:r>
            <a:r>
              <a:rPr lang="en-US" sz="1600" b="1" dirty="0"/>
              <a:t>  (</a:t>
            </a:r>
            <a:r>
              <a:rPr lang="en-US" sz="1600" b="1" dirty="0" smtClean="0"/>
              <a:t>100 mA</a:t>
            </a:r>
            <a:r>
              <a:rPr lang="en-US" sz="1600" b="1" dirty="0"/>
              <a:t>)</a:t>
            </a:r>
          </a:p>
          <a:p>
            <a:pPr lvl="2">
              <a:buSzPct val="100000"/>
              <a:buFont typeface="Arial"/>
              <a:buChar char="•"/>
              <a:defRPr/>
            </a:pPr>
            <a:r>
              <a:rPr lang="en-US" sz="1400" dirty="0">
                <a:solidFill>
                  <a:srgbClr val="000000"/>
                </a:solidFill>
              </a:rPr>
              <a:t>Eliminates the need for an external driver</a:t>
            </a:r>
          </a:p>
          <a:p>
            <a:pPr marL="914400" lvl="2" indent="0">
              <a:buSzPct val="100000"/>
              <a:buNone/>
              <a:defRPr/>
            </a:pPr>
            <a:endParaRPr lang="en-US" sz="800" dirty="0"/>
          </a:p>
          <a:p>
            <a:pPr lvl="2">
              <a:buSzPct val="100000"/>
              <a:buFont typeface="Arial"/>
              <a:buChar char="•"/>
              <a:defRPr/>
            </a:pPr>
            <a:endParaRPr lang="en-US" sz="800" dirty="0"/>
          </a:p>
          <a:p>
            <a:pPr lvl="1">
              <a:buSzPct val="100000"/>
              <a:buFont typeface="Arial"/>
              <a:buChar char="•"/>
              <a:defRPr/>
            </a:pPr>
            <a:r>
              <a:rPr lang="en-US" sz="1600" b="1" dirty="0"/>
              <a:t>Peripheral Pin Select (PPS)</a:t>
            </a:r>
          </a:p>
          <a:p>
            <a:pPr lvl="2">
              <a:buSzPct val="100000"/>
              <a:buFont typeface="Arial"/>
              <a:buChar char="•"/>
              <a:defRPr/>
            </a:pPr>
            <a:r>
              <a:rPr lang="en-US" sz="1400" dirty="0"/>
              <a:t>I/O pin remapping of any digital peripheral     </a:t>
            </a:r>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p:txBody>
      </p:sp>
      <p:sp>
        <p:nvSpPr>
          <p:cNvPr id="4" name="24-Point Star 3"/>
          <p:cNvSpPr/>
          <p:nvPr/>
        </p:nvSpPr>
        <p:spPr>
          <a:xfrm rot="21140520">
            <a:off x="7173086" y="2714613"/>
            <a:ext cx="1953838" cy="1428773"/>
          </a:xfrm>
          <a:prstGeom prst="star24">
            <a:avLst/>
          </a:prstGeom>
          <a:effectLst>
            <a:glow rad="63500">
              <a:schemeClr val="accent2">
                <a:satMod val="175000"/>
                <a:alpha val="40000"/>
              </a:schemeClr>
            </a:glow>
            <a:outerShdw blurRad="40000" dist="23000" dir="5400000" rotWithShape="0">
              <a:srgbClr val="000000">
                <a:alpha val="35000"/>
              </a:srgb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1600" dirty="0" smtClean="0"/>
              <a:t>2</a:t>
            </a:r>
          </a:p>
          <a:p>
            <a:pPr algn="ctr"/>
            <a:r>
              <a:rPr lang="en-US" sz="1600" dirty="0" smtClean="0"/>
              <a:t>NEW CIPs</a:t>
            </a:r>
            <a:endParaRPr lang="en-US" sz="1600" dirty="0"/>
          </a:p>
        </p:txBody>
      </p:sp>
      <p:sp>
        <p:nvSpPr>
          <p:cNvPr id="6" name="Title 1"/>
          <p:cNvSpPr txBox="1">
            <a:spLocks/>
          </p:cNvSpPr>
          <p:nvPr/>
        </p:nvSpPr>
        <p:spPr>
          <a:xfrm>
            <a:off x="1752600" y="0"/>
            <a:ext cx="7391400" cy="1219200"/>
          </a:xfrm>
          <a:prstGeom prst="rect">
            <a:avLst/>
          </a:prstGeom>
        </p:spPr>
        <p:txBody>
          <a:bodyPr/>
          <a:lstStyle/>
          <a:p>
            <a:pPr algn="ctr">
              <a:defRPr/>
            </a:pPr>
            <a:r>
              <a:rPr kumimoji="0" lang="en-US" sz="4000" b="1" i="0" u="none" strike="noStrike" kern="0" cap="none" spc="0" normalizeH="0" baseline="0" noProof="0" dirty="0" smtClean="0">
                <a:ln>
                  <a:noFill/>
                </a:ln>
                <a:solidFill>
                  <a:schemeClr val="tx2"/>
                </a:solidFill>
                <a:effectLst/>
                <a:uLnTx/>
                <a:uFillTx/>
                <a:latin typeface="+mj-lt"/>
                <a:ea typeface="+mj-ea"/>
                <a:cs typeface="+mj-cs"/>
              </a:rPr>
              <a:t>PIC16(L)F161X</a:t>
            </a:r>
          </a:p>
          <a:p>
            <a:pPr algn="ctr">
              <a:defRPr/>
            </a:pPr>
            <a:r>
              <a:rPr lang="en-US" i="1" kern="0" dirty="0" smtClean="0">
                <a:solidFill>
                  <a:schemeClr val="tx2"/>
                </a:solidFill>
              </a:rPr>
              <a:t>Closed Loop control and Safety-Monitoring </a:t>
            </a:r>
          </a:p>
          <a:p>
            <a:pPr algn="ctr">
              <a:defRPr/>
            </a:pPr>
            <a:r>
              <a:rPr lang="en-US" i="1" kern="0" dirty="0" smtClean="0">
                <a:solidFill>
                  <a:schemeClr val="tx2"/>
                </a:solidFill>
              </a:rPr>
              <a:t>with Core Independent Peripherals</a:t>
            </a:r>
            <a:endParaRPr lang="en-US" b="1" i="1" kern="0" dirty="0"/>
          </a:p>
        </p:txBody>
      </p:sp>
    </p:spTree>
    <p:extLst>
      <p:ext uri="{BB962C8B-B14F-4D97-AF65-F5344CB8AC3E}">
        <p14:creationId xmlns:p14="http://schemas.microsoft.com/office/powerpoint/2010/main" xmlns="" val="3594747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4294967295"/>
          </p:nvPr>
        </p:nvSpPr>
        <p:spPr>
          <a:xfrm>
            <a:off x="0" y="1295400"/>
            <a:ext cx="9144000" cy="5334000"/>
          </a:xfrm>
        </p:spPr>
        <p:txBody>
          <a:bodyPr>
            <a:normAutofit fontScale="92500" lnSpcReduction="10000"/>
          </a:bodyPr>
          <a:lstStyle/>
          <a:p>
            <a:pPr marL="0" lvl="1" indent="0" eaLnBrk="1" hangingPunct="1">
              <a:buNone/>
              <a:defRPr/>
            </a:pPr>
            <a:r>
              <a:rPr lang="en-US" sz="1800" i="1" dirty="0" smtClean="0">
                <a:solidFill>
                  <a:schemeClr val="accent2"/>
                </a:solidFill>
              </a:rPr>
              <a:t>Eases </a:t>
            </a:r>
            <a:r>
              <a:rPr lang="en-US" sz="1800" i="1" dirty="0">
                <a:solidFill>
                  <a:schemeClr val="accent2"/>
                </a:solidFill>
              </a:rPr>
              <a:t>I</a:t>
            </a:r>
            <a:r>
              <a:rPr lang="en-US" sz="1800" i="1" dirty="0" smtClean="0">
                <a:solidFill>
                  <a:schemeClr val="accent2"/>
                </a:solidFill>
              </a:rPr>
              <a:t>mplementation </a:t>
            </a:r>
            <a:r>
              <a:rPr lang="en-US" sz="1800" i="1" dirty="0">
                <a:solidFill>
                  <a:schemeClr val="accent2"/>
                </a:solidFill>
              </a:rPr>
              <a:t>of </a:t>
            </a:r>
            <a:r>
              <a:rPr lang="en-US" sz="1800" i="1" dirty="0" smtClean="0">
                <a:solidFill>
                  <a:schemeClr val="accent2"/>
                </a:solidFill>
              </a:rPr>
              <a:t>System Functions into New or Existing Designs</a:t>
            </a:r>
            <a:endParaRPr lang="en-US" sz="800" i="1" dirty="0">
              <a:solidFill>
                <a:schemeClr val="accent2"/>
              </a:solidFill>
            </a:endParaRPr>
          </a:p>
          <a:p>
            <a:pPr lvl="1" eaLnBrk="1" hangingPunct="1">
              <a:buSzPct val="100000"/>
              <a:buFont typeface="Arial"/>
              <a:buChar char="•"/>
              <a:defRPr/>
            </a:pPr>
            <a:r>
              <a:rPr lang="en-US" sz="1600" b="1" dirty="0"/>
              <a:t>Two 24-bit Signal Measurement Timers (SMT)</a:t>
            </a:r>
          </a:p>
          <a:p>
            <a:pPr lvl="2" eaLnBrk="1" hangingPunct="1">
              <a:buSzPct val="100000"/>
              <a:buFont typeface="Arial"/>
              <a:buChar char="•"/>
              <a:defRPr/>
            </a:pPr>
            <a:r>
              <a:rPr lang="en-US" sz="1400" dirty="0" smtClean="0"/>
              <a:t>High-resolution </a:t>
            </a:r>
            <a:r>
              <a:rPr lang="en-US" sz="1400" dirty="0"/>
              <a:t>signal measurement  </a:t>
            </a:r>
            <a:endParaRPr lang="en-US" sz="1400" dirty="0" smtClean="0"/>
          </a:p>
          <a:p>
            <a:pPr lvl="2" eaLnBrk="1" hangingPunct="1">
              <a:buSzPct val="100000"/>
              <a:buFont typeface="Arial"/>
              <a:buChar char="•"/>
              <a:defRPr/>
            </a:pPr>
            <a:r>
              <a:rPr lang="en-US" sz="1400" dirty="0" smtClean="0"/>
              <a:t>Independent </a:t>
            </a:r>
            <a:r>
              <a:rPr lang="en-US" sz="1400" dirty="0"/>
              <a:t>from the </a:t>
            </a:r>
            <a:r>
              <a:rPr lang="en-US" sz="1400" dirty="0" smtClean="0"/>
              <a:t>core; </a:t>
            </a:r>
            <a:r>
              <a:rPr lang="en-US" sz="1400" dirty="0"/>
              <a:t>allows the CPU to perform other complex tasks</a:t>
            </a:r>
          </a:p>
          <a:p>
            <a:pPr lvl="3" eaLnBrk="1" hangingPunct="1">
              <a:lnSpc>
                <a:spcPct val="120000"/>
              </a:lnSpc>
              <a:buSzPct val="100000"/>
              <a:buFont typeface="Arial"/>
              <a:buChar char="•"/>
              <a:defRPr/>
            </a:pPr>
            <a:r>
              <a:rPr lang="en-US" sz="1400" dirty="0" smtClean="0"/>
              <a:t>Eliminates Interrupts Latency </a:t>
            </a:r>
          </a:p>
          <a:p>
            <a:pPr lvl="3" eaLnBrk="1" hangingPunct="1">
              <a:lnSpc>
                <a:spcPct val="120000"/>
              </a:lnSpc>
              <a:buSzPct val="100000"/>
              <a:buFont typeface="Arial"/>
              <a:buChar char="•"/>
              <a:defRPr/>
            </a:pPr>
            <a:r>
              <a:rPr lang="en-US" sz="1400" dirty="0" smtClean="0"/>
              <a:t>Frees up Core to perform other Tasks</a:t>
            </a:r>
            <a:endParaRPr lang="en-US" sz="1400" dirty="0"/>
          </a:p>
          <a:p>
            <a:pPr lvl="3" eaLnBrk="1" hangingPunct="1">
              <a:lnSpc>
                <a:spcPct val="120000"/>
              </a:lnSpc>
              <a:buSzPct val="100000"/>
              <a:buFont typeface="Arial"/>
              <a:buChar char="•"/>
              <a:defRPr/>
            </a:pPr>
            <a:r>
              <a:rPr lang="en-US" sz="1400" dirty="0" smtClean="0"/>
              <a:t>Lowers power</a:t>
            </a:r>
          </a:p>
          <a:p>
            <a:pPr marL="914400" lvl="2" indent="0" eaLnBrk="1" hangingPunct="1">
              <a:buSzPct val="100000"/>
              <a:buNone/>
              <a:defRPr/>
            </a:pPr>
            <a:endParaRPr lang="en-US" sz="800" dirty="0" smtClean="0"/>
          </a:p>
          <a:p>
            <a:pPr lvl="1" eaLnBrk="1" hangingPunct="1">
              <a:buSzPct val="100000"/>
              <a:buFont typeface="Arial"/>
              <a:buChar char="•"/>
              <a:defRPr/>
            </a:pPr>
            <a:r>
              <a:rPr lang="en-US" sz="1600" b="1" dirty="0" smtClean="0"/>
              <a:t>Complementary Waveform Generator (CWG) </a:t>
            </a:r>
          </a:p>
          <a:p>
            <a:pPr lvl="2" eaLnBrk="1" hangingPunct="1">
              <a:buSzPct val="100000"/>
              <a:buFont typeface="Arial"/>
              <a:buChar char="•"/>
              <a:defRPr/>
            </a:pPr>
            <a:r>
              <a:rPr lang="en-US" sz="1400" dirty="0" smtClean="0"/>
              <a:t>Simplifies </a:t>
            </a:r>
            <a:r>
              <a:rPr lang="en-US" sz="1400" dirty="0"/>
              <a:t>drive control of motors and power </a:t>
            </a:r>
            <a:r>
              <a:rPr lang="en-US" sz="1400" dirty="0" smtClean="0"/>
              <a:t>supplies</a:t>
            </a:r>
          </a:p>
          <a:p>
            <a:pPr lvl="2" eaLnBrk="1" hangingPunct="1">
              <a:buSzPct val="100000"/>
              <a:buFont typeface="Arial"/>
              <a:buChar char="•"/>
              <a:defRPr/>
            </a:pPr>
            <a:endParaRPr lang="en-US" sz="800" dirty="0" smtClean="0"/>
          </a:p>
          <a:p>
            <a:pPr lvl="1" eaLnBrk="1" hangingPunct="1">
              <a:buSzPct val="100000"/>
              <a:buFont typeface="Arial"/>
              <a:buChar char="•"/>
              <a:defRPr/>
            </a:pPr>
            <a:r>
              <a:rPr lang="en-US" sz="1600" b="1" dirty="0" smtClean="0"/>
              <a:t>Zero </a:t>
            </a:r>
            <a:r>
              <a:rPr lang="en-US" sz="1600" b="1" dirty="0"/>
              <a:t>Cross Detect (ZCD</a:t>
            </a:r>
            <a:r>
              <a:rPr lang="en-US" sz="1600" b="1" dirty="0" smtClean="0"/>
              <a:t>)</a:t>
            </a:r>
          </a:p>
          <a:p>
            <a:pPr lvl="2" eaLnBrk="1" hangingPunct="1">
              <a:buSzPct val="100000"/>
              <a:buFont typeface="Arial"/>
              <a:buChar char="•"/>
              <a:defRPr/>
            </a:pPr>
            <a:r>
              <a:rPr lang="en-US" sz="1400" dirty="0" smtClean="0">
                <a:solidFill>
                  <a:srgbClr val="000000"/>
                </a:solidFill>
              </a:rPr>
              <a:t>Senses when AC signal crosses zero</a:t>
            </a:r>
          </a:p>
          <a:p>
            <a:pPr lvl="2" eaLnBrk="1" hangingPunct="1">
              <a:buSzPct val="100000"/>
              <a:buFont typeface="Arial"/>
              <a:buChar char="•"/>
              <a:defRPr/>
            </a:pPr>
            <a:r>
              <a:rPr lang="en-US" sz="1400" dirty="0"/>
              <a:t>Limits the need for additional components, simplifying TRIAC </a:t>
            </a:r>
            <a:r>
              <a:rPr lang="en-US" sz="1400" dirty="0" smtClean="0"/>
              <a:t>control</a:t>
            </a:r>
          </a:p>
          <a:p>
            <a:pPr lvl="2" eaLnBrk="1" hangingPunct="1">
              <a:buSzPct val="100000"/>
              <a:buFont typeface="Arial"/>
              <a:buChar char="•"/>
              <a:defRPr/>
            </a:pPr>
            <a:endParaRPr lang="en-US" sz="1400" dirty="0"/>
          </a:p>
          <a:p>
            <a:pPr marL="0" lvl="1" indent="0">
              <a:buNone/>
              <a:defRPr/>
            </a:pPr>
            <a:r>
              <a:rPr lang="en-US" sz="1800" i="1" dirty="0">
                <a:solidFill>
                  <a:schemeClr val="accent2"/>
                </a:solidFill>
              </a:rPr>
              <a:t>Simplifies </a:t>
            </a:r>
            <a:r>
              <a:rPr lang="en-US" sz="1800" i="1" dirty="0" smtClean="0">
                <a:solidFill>
                  <a:schemeClr val="accent2"/>
                </a:solidFill>
              </a:rPr>
              <a:t>Implementation </a:t>
            </a:r>
            <a:r>
              <a:rPr lang="en-US" sz="1800" i="1" dirty="0">
                <a:solidFill>
                  <a:schemeClr val="accent2"/>
                </a:solidFill>
              </a:rPr>
              <a:t>of </a:t>
            </a:r>
            <a:r>
              <a:rPr lang="en-US" sz="1800" i="1" dirty="0" smtClean="0">
                <a:solidFill>
                  <a:schemeClr val="accent2"/>
                </a:solidFill>
              </a:rPr>
              <a:t>Safety </a:t>
            </a:r>
            <a:r>
              <a:rPr lang="en-US" sz="1800" i="1" dirty="0">
                <a:solidFill>
                  <a:schemeClr val="accent2"/>
                </a:solidFill>
              </a:rPr>
              <a:t>S</a:t>
            </a:r>
            <a:r>
              <a:rPr lang="en-US" sz="1800" i="1" dirty="0" smtClean="0">
                <a:solidFill>
                  <a:schemeClr val="accent2"/>
                </a:solidFill>
              </a:rPr>
              <a:t>tandards</a:t>
            </a:r>
            <a:r>
              <a:rPr lang="en-US" sz="1800" i="1" dirty="0">
                <a:solidFill>
                  <a:schemeClr val="accent2"/>
                </a:solidFill>
              </a:rPr>
              <a:t>, </a:t>
            </a:r>
            <a:r>
              <a:rPr lang="en-US" sz="1800" i="1" dirty="0" smtClean="0">
                <a:solidFill>
                  <a:schemeClr val="accent2"/>
                </a:solidFill>
              </a:rPr>
              <a:t>e.g. </a:t>
            </a:r>
            <a:r>
              <a:rPr lang="en-US" sz="1800" i="1" dirty="0">
                <a:solidFill>
                  <a:schemeClr val="accent2"/>
                </a:solidFill>
              </a:rPr>
              <a:t>UL &amp; Class B</a:t>
            </a:r>
          </a:p>
          <a:p>
            <a:pPr lvl="1">
              <a:buSzPct val="100000"/>
              <a:buFont typeface="Arial"/>
              <a:buChar char="•"/>
              <a:defRPr/>
            </a:pPr>
            <a:r>
              <a:rPr lang="en-US" sz="1600" b="1" dirty="0"/>
              <a:t>Cyclic Redundancy Check with Memory Scan (CRC/SCAN)</a:t>
            </a:r>
          </a:p>
          <a:p>
            <a:pPr lvl="2">
              <a:buSzPct val="100000"/>
              <a:buFont typeface="Arial"/>
              <a:buChar char="•"/>
              <a:defRPr/>
            </a:pPr>
            <a:r>
              <a:rPr lang="en-US" sz="1400" dirty="0"/>
              <a:t>An error-detection module available to memory and communications peripherals</a:t>
            </a:r>
          </a:p>
          <a:p>
            <a:pPr lvl="1">
              <a:buSzPct val="100000"/>
              <a:buFont typeface="Arial"/>
              <a:buChar char="•"/>
              <a:defRPr/>
            </a:pPr>
            <a:r>
              <a:rPr lang="en-US" sz="1600" b="1" dirty="0"/>
              <a:t>Windowed Watchdog Timer (WWDT) </a:t>
            </a:r>
          </a:p>
          <a:p>
            <a:pPr lvl="2">
              <a:buSzPct val="100000"/>
              <a:buFont typeface="Arial"/>
              <a:buChar char="•"/>
              <a:defRPr/>
            </a:pPr>
            <a:r>
              <a:rPr lang="en-US" sz="1400" dirty="0"/>
              <a:t>Monitors “overrun” and “under run” events in software timing</a:t>
            </a:r>
          </a:p>
          <a:p>
            <a:pPr lvl="1">
              <a:buSzPct val="100000"/>
              <a:buFont typeface="Arial"/>
              <a:buChar char="•"/>
              <a:defRPr/>
            </a:pPr>
            <a:r>
              <a:rPr lang="en-US" sz="1600" b="1" dirty="0"/>
              <a:t>Three Hardware Limit </a:t>
            </a:r>
            <a:r>
              <a:rPr lang="en-US" sz="1600" b="1" dirty="0" smtClean="0"/>
              <a:t>Timers </a:t>
            </a:r>
            <a:r>
              <a:rPr lang="en-US" sz="1600" b="1" dirty="0"/>
              <a:t>(</a:t>
            </a:r>
            <a:r>
              <a:rPr lang="en-US" sz="1600" b="1" dirty="0" smtClean="0"/>
              <a:t>HLTs)</a:t>
            </a:r>
            <a:endParaRPr lang="en-US" sz="1600" b="1" dirty="0"/>
          </a:p>
          <a:p>
            <a:pPr lvl="2">
              <a:buSzPct val="100000"/>
              <a:buFont typeface="Arial"/>
              <a:buChar char="•"/>
              <a:defRPr/>
            </a:pPr>
            <a:r>
              <a:rPr lang="en-US" sz="1400" dirty="0">
                <a:solidFill>
                  <a:srgbClr val="000000"/>
                </a:solidFill>
              </a:rPr>
              <a:t>Monitor hardware for fault conditions (</a:t>
            </a:r>
            <a:r>
              <a:rPr lang="en-US" sz="1400" dirty="0" smtClean="0">
                <a:solidFill>
                  <a:srgbClr val="000000"/>
                </a:solidFill>
              </a:rPr>
              <a:t>stalls, </a:t>
            </a:r>
            <a:r>
              <a:rPr lang="en-US" sz="1400" dirty="0">
                <a:solidFill>
                  <a:srgbClr val="000000"/>
                </a:solidFill>
              </a:rPr>
              <a:t>stops, etc.</a:t>
            </a:r>
            <a:r>
              <a:rPr lang="en-US" sz="1400" dirty="0" smtClean="0">
                <a:solidFill>
                  <a:srgbClr val="000000"/>
                </a:solidFill>
              </a:rPr>
              <a:t>); </a:t>
            </a:r>
            <a:r>
              <a:rPr lang="en-US" sz="1400" dirty="0">
                <a:solidFill>
                  <a:srgbClr val="000000"/>
                </a:solidFill>
              </a:rPr>
              <a:t>ideal for closed-loop control applications</a:t>
            </a:r>
          </a:p>
          <a:p>
            <a:pPr lvl="2" eaLnBrk="1" hangingPunct="1">
              <a:buSzPct val="100000"/>
              <a:buFont typeface="Arial"/>
              <a:buChar char="•"/>
              <a:defRPr/>
            </a:pPr>
            <a:endParaRPr lang="en-US" sz="1400" dirty="0"/>
          </a:p>
          <a:p>
            <a:pPr marL="914400" lvl="2" indent="0" eaLnBrk="1" hangingPunct="1">
              <a:buSzPct val="100000"/>
              <a:buNone/>
              <a:defRPr/>
            </a:pPr>
            <a:endParaRPr lang="en-US" sz="1400" dirty="0" smtClean="0">
              <a:solidFill>
                <a:srgbClr val="000000"/>
              </a:solidFill>
            </a:endParaRPr>
          </a:p>
          <a:p>
            <a:pPr lvl="2" eaLnBrk="1" hangingPunct="1">
              <a:buSzPct val="100000"/>
              <a:buFont typeface="Wingdings" charset="2"/>
              <a:buChar char="ü"/>
              <a:defRPr/>
            </a:pPr>
            <a:endParaRPr lang="en-US" sz="200" dirty="0" smtClean="0">
              <a:solidFill>
                <a:srgbClr val="008000"/>
              </a:solidFill>
            </a:endParaRPr>
          </a:p>
          <a:p>
            <a:pPr marL="457200" lvl="1" indent="0" eaLnBrk="1" hangingPunct="1">
              <a:buSzPct val="100000"/>
              <a:buNone/>
              <a:defRPr/>
            </a:pPr>
            <a:endParaRPr lang="en-US" sz="800" dirty="0" smtClean="0"/>
          </a:p>
          <a:p>
            <a:pPr lvl="1" eaLnBrk="1" hangingPunct="1">
              <a:buSzPct val="100000"/>
              <a:buFont typeface="Arial"/>
              <a:buChar char="•"/>
              <a:defRPr/>
            </a:pPr>
            <a:endParaRPr lang="en-US" sz="100" dirty="0" smtClean="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a:p>
            <a:pPr lvl="1" eaLnBrk="1" hangingPunct="1">
              <a:buSzPct val="100000"/>
              <a:buFont typeface="Arial"/>
              <a:buChar char="•"/>
              <a:defRPr/>
            </a:pPr>
            <a:endParaRPr lang="en-US" sz="2000" dirty="0"/>
          </a:p>
        </p:txBody>
      </p:sp>
      <p:sp>
        <p:nvSpPr>
          <p:cNvPr id="4" name="Title 1"/>
          <p:cNvSpPr txBox="1">
            <a:spLocks/>
          </p:cNvSpPr>
          <p:nvPr/>
        </p:nvSpPr>
        <p:spPr>
          <a:xfrm>
            <a:off x="1752600" y="0"/>
            <a:ext cx="7391400" cy="1219200"/>
          </a:xfrm>
          <a:prstGeom prst="rect">
            <a:avLst/>
          </a:prstGeom>
        </p:spPr>
        <p:txBody>
          <a:bodyPr/>
          <a:lstStyle/>
          <a:p>
            <a:pPr algn="ctr">
              <a:defRPr/>
            </a:pPr>
            <a:r>
              <a:rPr kumimoji="0" lang="en-US" sz="4000" b="1" i="0" u="none" strike="noStrike" kern="0" cap="none" spc="0" normalizeH="0" baseline="0" noProof="0" dirty="0" smtClean="0">
                <a:ln>
                  <a:noFill/>
                </a:ln>
                <a:solidFill>
                  <a:schemeClr val="tx2"/>
                </a:solidFill>
                <a:effectLst/>
                <a:uLnTx/>
                <a:uFillTx/>
                <a:latin typeface="+mj-lt"/>
                <a:ea typeface="+mj-ea"/>
                <a:cs typeface="+mj-cs"/>
              </a:rPr>
              <a:t>PIC16(L)F161X</a:t>
            </a:r>
          </a:p>
          <a:p>
            <a:pPr algn="ctr">
              <a:defRPr/>
            </a:pPr>
            <a:r>
              <a:rPr lang="en-US" i="1" kern="0" dirty="0" smtClean="0">
                <a:solidFill>
                  <a:schemeClr val="tx2"/>
                </a:solidFill>
              </a:rPr>
              <a:t>Closed Loop control and Safety-Monitoring </a:t>
            </a:r>
          </a:p>
          <a:p>
            <a:pPr algn="ctr">
              <a:defRPr/>
            </a:pPr>
            <a:r>
              <a:rPr lang="en-US" i="1" kern="0" dirty="0" smtClean="0">
                <a:solidFill>
                  <a:schemeClr val="tx2"/>
                </a:solidFill>
              </a:rPr>
              <a:t>with Core Independent Peripherals</a:t>
            </a:r>
            <a:endParaRPr lang="en-US" b="1" i="1" kern="0" dirty="0"/>
          </a:p>
        </p:txBody>
      </p:sp>
    </p:spTree>
    <p:extLst>
      <p:ext uri="{BB962C8B-B14F-4D97-AF65-F5344CB8AC3E}">
        <p14:creationId xmlns:p14="http://schemas.microsoft.com/office/powerpoint/2010/main" xmlns="" val="9110727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microchiptechnologyinc_12795901362.jpg"/>
          <p:cNvPicPr>
            <a:picLocks noChangeAspect="1"/>
          </p:cNvPicPr>
          <p:nvPr/>
        </p:nvPicPr>
        <p:blipFill>
          <a:blip r:embed="rId2" cstate="screen">
            <a:extLst>
              <a:ext uri="{28A0092B-C50C-407E-A947-70E740481C1C}">
                <a14:useLocalDpi xmlns:a14="http://schemas.microsoft.com/office/drawing/2010/main" xmlns=""/>
              </a:ext>
            </a:extLst>
          </a:blip>
          <a:stretch>
            <a:fillRect/>
          </a:stretch>
        </p:blipFill>
        <p:spPr>
          <a:xfrm>
            <a:off x="5334000" y="2819400"/>
            <a:ext cx="831273" cy="831273"/>
          </a:xfrm>
          <a:prstGeom prst="rect">
            <a:avLst/>
          </a:prstGeom>
        </p:spPr>
      </p:pic>
      <p:pic>
        <p:nvPicPr>
          <p:cNvPr id="7" name="Picture 6" descr="microchiptechnologyinc_8046724.jpg"/>
          <p:cNvPicPr>
            <a:picLocks noChangeAspect="1"/>
          </p:cNvPicPr>
          <p:nvPr/>
        </p:nvPicPr>
        <p:blipFill rotWithShape="1">
          <a:blip r:embed="rId3" cstate="screen">
            <a:extLst>
              <a:ext uri="{28A0092B-C50C-407E-A947-70E740481C1C}">
                <a14:useLocalDpi xmlns:a14="http://schemas.microsoft.com/office/drawing/2010/main" xmlns=""/>
              </a:ext>
            </a:extLst>
          </a:blip>
          <a:srcRect/>
          <a:stretch/>
        </p:blipFill>
        <p:spPr>
          <a:xfrm>
            <a:off x="7010400" y="1600200"/>
            <a:ext cx="990600" cy="905824"/>
          </a:xfrm>
          <a:prstGeom prst="rect">
            <a:avLst/>
          </a:prstGeom>
        </p:spPr>
      </p:pic>
      <p:sp>
        <p:nvSpPr>
          <p:cNvPr id="9" name="Rounded Rectangle 8"/>
          <p:cNvSpPr/>
          <p:nvPr/>
        </p:nvSpPr>
        <p:spPr>
          <a:xfrm>
            <a:off x="5867400" y="4267200"/>
            <a:ext cx="457200" cy="533400"/>
          </a:xfrm>
          <a:prstGeom prst="roundRect">
            <a:avLst/>
          </a:prstGeom>
          <a:solidFill>
            <a:srgbClr val="3333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cstate="screen">
            <a:extLst>
              <a:ext uri="{28A0092B-C50C-407E-A947-70E740481C1C}">
                <a14:useLocalDpi xmlns:a14="http://schemas.microsoft.com/office/drawing/2010/main" xmlns=""/>
              </a:ext>
            </a:extLst>
          </a:blip>
          <a:stretch>
            <a:fillRect/>
          </a:stretch>
        </p:blipFill>
        <p:spPr>
          <a:xfrm>
            <a:off x="7086600" y="4038600"/>
            <a:ext cx="609600" cy="914400"/>
          </a:xfrm>
          <a:prstGeom prst="rect">
            <a:avLst/>
          </a:prstGeom>
        </p:spPr>
      </p:pic>
      <p:pic>
        <p:nvPicPr>
          <p:cNvPr id="16" name="Picture 15"/>
          <p:cNvPicPr>
            <a:picLocks noChangeAspect="1"/>
          </p:cNvPicPr>
          <p:nvPr/>
        </p:nvPicPr>
        <p:blipFill rotWithShape="1">
          <a:blip r:embed="rId5" cstate="screen">
            <a:extLst>
              <a:ext uri="{28A0092B-C50C-407E-A947-70E740481C1C}">
                <a14:useLocalDpi xmlns:a14="http://schemas.microsoft.com/office/drawing/2010/main" xmlns=""/>
              </a:ext>
            </a:extLst>
          </a:blip>
          <a:srcRect/>
          <a:stretch/>
        </p:blipFill>
        <p:spPr>
          <a:xfrm flipH="1">
            <a:off x="5065943" y="4681596"/>
            <a:ext cx="570572" cy="228600"/>
          </a:xfrm>
          <a:prstGeom prst="rect">
            <a:avLst/>
          </a:prstGeom>
        </p:spPr>
      </p:pic>
      <p:pic>
        <p:nvPicPr>
          <p:cNvPr id="8" name="Picture 7"/>
          <p:cNvPicPr>
            <a:picLocks noChangeAspect="1"/>
          </p:cNvPicPr>
          <p:nvPr/>
        </p:nvPicPr>
        <p:blipFill rotWithShape="1">
          <a:blip r:embed="rId6" cstate="screen">
            <a:extLst>
              <a:ext uri="{28A0092B-C50C-407E-A947-70E740481C1C}">
                <a14:useLocalDpi xmlns:a14="http://schemas.microsoft.com/office/drawing/2010/main" xmlns=""/>
              </a:ext>
            </a:extLst>
          </a:blip>
          <a:srcRect/>
          <a:stretch/>
        </p:blipFill>
        <p:spPr>
          <a:xfrm flipH="1">
            <a:off x="5068228" y="3962400"/>
            <a:ext cx="570572" cy="762000"/>
          </a:xfrm>
          <a:prstGeom prst="rect">
            <a:avLst/>
          </a:prstGeom>
        </p:spPr>
      </p:pic>
      <p:sp>
        <p:nvSpPr>
          <p:cNvPr id="2" name="Title 1"/>
          <p:cNvSpPr>
            <a:spLocks noGrp="1"/>
          </p:cNvSpPr>
          <p:nvPr>
            <p:ph type="title"/>
          </p:nvPr>
        </p:nvSpPr>
        <p:spPr>
          <a:xfrm>
            <a:off x="1905000" y="152400"/>
            <a:ext cx="6781800" cy="1020762"/>
          </a:xfrm>
        </p:spPr>
        <p:txBody>
          <a:bodyPr/>
          <a:lstStyle/>
          <a:p>
            <a:pPr lvl="0">
              <a:lnSpc>
                <a:spcPct val="100000"/>
              </a:lnSpc>
            </a:pPr>
            <a:r>
              <a:rPr lang="en-US" dirty="0" smtClean="0"/>
              <a:t>PIC16F(L)161X</a:t>
            </a:r>
            <a:br>
              <a:rPr lang="en-US" dirty="0" smtClean="0"/>
            </a:br>
            <a:r>
              <a:rPr lang="en-US" sz="2400" b="0" dirty="0" smtClean="0"/>
              <a:t>Target End Equipment &amp; Functions</a:t>
            </a:r>
            <a:endParaRPr lang="en-US" sz="2400" dirty="0"/>
          </a:p>
        </p:txBody>
      </p:sp>
      <p:sp>
        <p:nvSpPr>
          <p:cNvPr id="3" name="Content Placeholder 2"/>
          <p:cNvSpPr>
            <a:spLocks noGrp="1"/>
          </p:cNvSpPr>
          <p:nvPr>
            <p:ph idx="1"/>
          </p:nvPr>
        </p:nvSpPr>
        <p:spPr>
          <a:xfrm>
            <a:off x="457200" y="1371600"/>
            <a:ext cx="3962400" cy="5078976"/>
          </a:xfrm>
        </p:spPr>
        <p:txBody>
          <a:bodyPr>
            <a:normAutofit fontScale="92500" lnSpcReduction="10000"/>
          </a:bodyPr>
          <a:lstStyle/>
          <a:p>
            <a:pPr>
              <a:buNone/>
            </a:pPr>
            <a:r>
              <a:rPr lang="en-US" sz="2000" dirty="0" smtClean="0">
                <a:solidFill>
                  <a:srgbClr val="333399"/>
                </a:solidFill>
              </a:rPr>
              <a:t>Motor Control</a:t>
            </a:r>
            <a:endParaRPr lang="en-US" sz="2000" dirty="0">
              <a:solidFill>
                <a:srgbClr val="333399"/>
              </a:solidFill>
            </a:endParaRPr>
          </a:p>
          <a:p>
            <a:pPr lvl="0"/>
            <a:r>
              <a:rPr lang="en-US" sz="1600" b="0" dirty="0" smtClean="0">
                <a:solidFill>
                  <a:srgbClr val="000000"/>
                </a:solidFill>
              </a:rPr>
              <a:t>BLDC</a:t>
            </a:r>
          </a:p>
          <a:p>
            <a:pPr lvl="0"/>
            <a:r>
              <a:rPr lang="en-US" sz="1600" b="0" dirty="0" smtClean="0">
                <a:solidFill>
                  <a:srgbClr val="000000"/>
                </a:solidFill>
              </a:rPr>
              <a:t>Brushed DC</a:t>
            </a:r>
          </a:p>
          <a:p>
            <a:r>
              <a:rPr lang="en-US" sz="1600" b="0" dirty="0">
                <a:solidFill>
                  <a:srgbClr val="000000"/>
                </a:solidFill>
              </a:rPr>
              <a:t>AC Induction</a:t>
            </a:r>
          </a:p>
          <a:p>
            <a:pPr>
              <a:buNone/>
            </a:pPr>
            <a:r>
              <a:rPr lang="en-US" sz="2000" dirty="0" smtClean="0">
                <a:solidFill>
                  <a:srgbClr val="333399"/>
                </a:solidFill>
              </a:rPr>
              <a:t>Home Appliance</a:t>
            </a:r>
          </a:p>
          <a:p>
            <a:r>
              <a:rPr lang="en-US" sz="1600" b="0" dirty="0" smtClean="0"/>
              <a:t>Washers &amp; Dryers</a:t>
            </a:r>
          </a:p>
          <a:p>
            <a:r>
              <a:rPr lang="en-US" sz="1600" b="0" dirty="0" smtClean="0"/>
              <a:t>Dishwashers</a:t>
            </a:r>
          </a:p>
          <a:p>
            <a:r>
              <a:rPr lang="en-US" sz="1600" b="0" dirty="0" smtClean="0"/>
              <a:t>Refrigerators</a:t>
            </a:r>
            <a:endParaRPr lang="en-US" sz="1800" b="0" dirty="0" smtClean="0"/>
          </a:p>
          <a:p>
            <a:pPr>
              <a:buNone/>
            </a:pPr>
            <a:r>
              <a:rPr lang="en-US" sz="2000" dirty="0" smtClean="0">
                <a:solidFill>
                  <a:schemeClr val="accent2"/>
                </a:solidFill>
              </a:rPr>
              <a:t>Industrial &amp; Automotive</a:t>
            </a:r>
          </a:p>
          <a:p>
            <a:r>
              <a:rPr lang="en-US" sz="1600" b="0" dirty="0" smtClean="0"/>
              <a:t>System Monitoring</a:t>
            </a:r>
          </a:p>
          <a:p>
            <a:r>
              <a:rPr lang="en-US" sz="1600" b="0" dirty="0" smtClean="0"/>
              <a:t>Fail-Safe Protection</a:t>
            </a:r>
          </a:p>
          <a:p>
            <a:r>
              <a:rPr lang="en-US" sz="1600" b="0" dirty="0" smtClean="0"/>
              <a:t>Sensor Interfaces</a:t>
            </a:r>
          </a:p>
          <a:p>
            <a:pPr lvl="0">
              <a:buNone/>
            </a:pPr>
            <a:r>
              <a:rPr lang="en-US" sz="2000" dirty="0" smtClean="0">
                <a:solidFill>
                  <a:srgbClr val="333399"/>
                </a:solidFill>
              </a:rPr>
              <a:t>TRIAC-Based Applications</a:t>
            </a:r>
            <a:endParaRPr lang="en-US" sz="2000" dirty="0">
              <a:solidFill>
                <a:srgbClr val="333399"/>
              </a:solidFill>
            </a:endParaRPr>
          </a:p>
          <a:p>
            <a:r>
              <a:rPr lang="en-US" sz="1600" b="0" dirty="0" smtClean="0"/>
              <a:t>Dimming Control</a:t>
            </a:r>
          </a:p>
          <a:p>
            <a:r>
              <a:rPr lang="en-US" sz="1600" b="0" dirty="0" smtClean="0"/>
              <a:t>Blenders / Small Appliances</a:t>
            </a:r>
          </a:p>
          <a:p>
            <a:pPr>
              <a:buNone/>
            </a:pPr>
            <a:r>
              <a:rPr lang="en-US" sz="2000" dirty="0" smtClean="0">
                <a:solidFill>
                  <a:srgbClr val="333399"/>
                </a:solidFill>
              </a:rPr>
              <a:t>General-Purpose Functions</a:t>
            </a:r>
          </a:p>
          <a:p>
            <a:r>
              <a:rPr lang="en-US" sz="1600" b="0" dirty="0" smtClean="0"/>
              <a:t>Power-Supply Control</a:t>
            </a:r>
          </a:p>
          <a:p>
            <a:r>
              <a:rPr lang="en-US" sz="1600" b="0" dirty="0" smtClean="0"/>
              <a:t>Fan Control</a:t>
            </a:r>
          </a:p>
          <a:p>
            <a:pPr marL="0" indent="0">
              <a:buNone/>
            </a:pPr>
            <a:endParaRPr lang="en-US" sz="1600" b="0" dirty="0" smtClean="0"/>
          </a:p>
        </p:txBody>
      </p:sp>
      <p:sp>
        <p:nvSpPr>
          <p:cNvPr id="22" name="Frame 20"/>
          <p:cNvSpPr/>
          <p:nvPr/>
        </p:nvSpPr>
        <p:spPr>
          <a:xfrm>
            <a:off x="4901729" y="1404376"/>
            <a:ext cx="3404071" cy="4920224"/>
          </a:xfrm>
          <a:custGeom>
            <a:avLst/>
            <a:gdLst/>
            <a:ahLst/>
            <a:cxnLst/>
            <a:rect l="l" t="t" r="r" b="b"/>
            <a:pathLst>
              <a:path w="4105279" h="4831144">
                <a:moveTo>
                  <a:pt x="2207554" y="3764343"/>
                </a:moveTo>
                <a:lnTo>
                  <a:pt x="2207554" y="4678744"/>
                </a:lnTo>
                <a:lnTo>
                  <a:pt x="3948865" y="4678744"/>
                </a:lnTo>
                <a:lnTo>
                  <a:pt x="3948865" y="3764343"/>
                </a:lnTo>
                <a:close/>
                <a:moveTo>
                  <a:pt x="158621" y="3761520"/>
                </a:moveTo>
                <a:lnTo>
                  <a:pt x="158621" y="4675921"/>
                </a:lnTo>
                <a:lnTo>
                  <a:pt x="1899932" y="4675921"/>
                </a:lnTo>
                <a:lnTo>
                  <a:pt x="1899932" y="3761520"/>
                </a:lnTo>
                <a:close/>
                <a:moveTo>
                  <a:pt x="2055154" y="3611943"/>
                </a:moveTo>
                <a:lnTo>
                  <a:pt x="4101265" y="3611943"/>
                </a:lnTo>
                <a:lnTo>
                  <a:pt x="4101265" y="4831144"/>
                </a:lnTo>
                <a:lnTo>
                  <a:pt x="2055154" y="4831144"/>
                </a:lnTo>
                <a:close/>
                <a:moveTo>
                  <a:pt x="6221" y="3609120"/>
                </a:moveTo>
                <a:lnTo>
                  <a:pt x="2052332" y="3609120"/>
                </a:lnTo>
                <a:lnTo>
                  <a:pt x="2052332" y="4828321"/>
                </a:lnTo>
                <a:lnTo>
                  <a:pt x="6221" y="4828321"/>
                </a:lnTo>
                <a:close/>
                <a:moveTo>
                  <a:pt x="2207554" y="2542983"/>
                </a:moveTo>
                <a:lnTo>
                  <a:pt x="2207554" y="3457384"/>
                </a:lnTo>
                <a:lnTo>
                  <a:pt x="3948865" y="3457384"/>
                </a:lnTo>
                <a:lnTo>
                  <a:pt x="3948865" y="2542983"/>
                </a:lnTo>
                <a:close/>
                <a:moveTo>
                  <a:pt x="155514" y="2540160"/>
                </a:moveTo>
                <a:lnTo>
                  <a:pt x="155514" y="3454561"/>
                </a:lnTo>
                <a:lnTo>
                  <a:pt x="1896825" y="3454561"/>
                </a:lnTo>
                <a:lnTo>
                  <a:pt x="1896825" y="2540160"/>
                </a:lnTo>
                <a:close/>
                <a:moveTo>
                  <a:pt x="155514" y="1347840"/>
                </a:moveTo>
                <a:lnTo>
                  <a:pt x="155514" y="2262241"/>
                </a:lnTo>
                <a:lnTo>
                  <a:pt x="1896825" y="2262241"/>
                </a:lnTo>
                <a:lnTo>
                  <a:pt x="1896825" y="1347840"/>
                </a:lnTo>
                <a:close/>
                <a:moveTo>
                  <a:pt x="2207554" y="1342023"/>
                </a:moveTo>
                <a:lnTo>
                  <a:pt x="2207554" y="2256424"/>
                </a:lnTo>
                <a:lnTo>
                  <a:pt x="3948865" y="2256424"/>
                </a:lnTo>
                <a:lnTo>
                  <a:pt x="3948865" y="1342023"/>
                </a:lnTo>
                <a:close/>
                <a:moveTo>
                  <a:pt x="2202458" y="156329"/>
                </a:moveTo>
                <a:lnTo>
                  <a:pt x="2202458" y="1075764"/>
                </a:lnTo>
                <a:lnTo>
                  <a:pt x="3952040" y="1075764"/>
                </a:lnTo>
                <a:lnTo>
                  <a:pt x="3952040" y="156329"/>
                </a:lnTo>
                <a:close/>
                <a:moveTo>
                  <a:pt x="152400" y="152400"/>
                </a:moveTo>
                <a:lnTo>
                  <a:pt x="152400" y="1066801"/>
                </a:lnTo>
                <a:lnTo>
                  <a:pt x="1893711" y="1066801"/>
                </a:lnTo>
                <a:lnTo>
                  <a:pt x="1893711" y="152400"/>
                </a:lnTo>
                <a:close/>
                <a:moveTo>
                  <a:pt x="0" y="0"/>
                </a:moveTo>
                <a:lnTo>
                  <a:pt x="2046111" y="0"/>
                </a:lnTo>
                <a:lnTo>
                  <a:pt x="2046111" y="1195440"/>
                </a:lnTo>
                <a:lnTo>
                  <a:pt x="2049219" y="1195440"/>
                </a:lnTo>
                <a:lnTo>
                  <a:pt x="2049219" y="3090"/>
                </a:lnTo>
                <a:lnTo>
                  <a:pt x="4105279" y="3090"/>
                </a:lnTo>
                <a:lnTo>
                  <a:pt x="4105279" y="1229003"/>
                </a:lnTo>
                <a:lnTo>
                  <a:pt x="4101265" y="1229003"/>
                </a:lnTo>
                <a:lnTo>
                  <a:pt x="4101265" y="2390583"/>
                </a:lnTo>
                <a:lnTo>
                  <a:pt x="4101265" y="2408824"/>
                </a:lnTo>
                <a:lnTo>
                  <a:pt x="4101265" y="3609784"/>
                </a:lnTo>
                <a:lnTo>
                  <a:pt x="2055154" y="3609784"/>
                </a:lnTo>
                <a:lnTo>
                  <a:pt x="2055154" y="2408824"/>
                </a:lnTo>
                <a:lnTo>
                  <a:pt x="2055154" y="2390583"/>
                </a:lnTo>
                <a:lnTo>
                  <a:pt x="2055154" y="1229003"/>
                </a:lnTo>
                <a:lnTo>
                  <a:pt x="2049225" y="1229003"/>
                </a:lnTo>
                <a:lnTo>
                  <a:pt x="2049225" y="2387760"/>
                </a:lnTo>
                <a:lnTo>
                  <a:pt x="2049225" y="2414641"/>
                </a:lnTo>
                <a:lnTo>
                  <a:pt x="2049225" y="3606961"/>
                </a:lnTo>
                <a:lnTo>
                  <a:pt x="3114" y="3606961"/>
                </a:lnTo>
                <a:lnTo>
                  <a:pt x="3114" y="2414641"/>
                </a:lnTo>
                <a:lnTo>
                  <a:pt x="3114" y="2387760"/>
                </a:lnTo>
                <a:lnTo>
                  <a:pt x="3114" y="1219201"/>
                </a:lnTo>
                <a:lnTo>
                  <a:pt x="0" y="1219201"/>
                </a:lnTo>
                <a:close/>
              </a:path>
            </a:pathLst>
          </a:custGeom>
          <a:solidFill>
            <a:schemeClr val="accent3">
              <a:lumMod val="75000"/>
            </a:schemeClr>
          </a:solidFill>
          <a:ln>
            <a:solidFill>
              <a:schemeClr val="accent3">
                <a:lumMod val="75000"/>
              </a:schemeClr>
            </a:solid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rgbClr val="000000"/>
              </a:solidFill>
            </a:endParaRPr>
          </a:p>
        </p:txBody>
      </p:sp>
      <p:pic>
        <p:nvPicPr>
          <p:cNvPr id="29" name="Picture 28" descr="Power-Supply_000013718171XLarge.jpg"/>
          <p:cNvPicPr>
            <a:picLocks noChangeAspect="1"/>
          </p:cNvPicPr>
          <p:nvPr/>
        </p:nvPicPr>
        <p:blipFill>
          <a:blip r:embed="rId7" cstate="email"/>
          <a:srcRect/>
          <a:stretch>
            <a:fillRect/>
          </a:stretch>
        </p:blipFill>
        <p:spPr>
          <a:xfrm>
            <a:off x="5105400" y="5257800"/>
            <a:ext cx="1341120" cy="861060"/>
          </a:xfrm>
          <a:prstGeom prst="rect">
            <a:avLst/>
          </a:prstGeom>
        </p:spPr>
      </p:pic>
      <p:pic>
        <p:nvPicPr>
          <p:cNvPr id="30" name="Picture 29" descr="Motor_000008939055Large.jpg"/>
          <p:cNvPicPr>
            <a:picLocks noChangeAspect="1"/>
          </p:cNvPicPr>
          <p:nvPr/>
        </p:nvPicPr>
        <p:blipFill rotWithShape="1">
          <a:blip r:embed="rId8" cstate="screen">
            <a:extLst>
              <a:ext uri="{28A0092B-C50C-407E-A947-70E740481C1C}">
                <a14:useLocalDpi xmlns:a14="http://schemas.microsoft.com/office/drawing/2010/main" xmlns=""/>
              </a:ext>
            </a:extLst>
          </a:blip>
          <a:srcRect/>
          <a:stretch/>
        </p:blipFill>
        <p:spPr>
          <a:xfrm>
            <a:off x="5181601" y="1600200"/>
            <a:ext cx="1002066" cy="852470"/>
          </a:xfrm>
          <a:prstGeom prst="rect">
            <a:avLst/>
          </a:prstGeom>
          <a:ln w="228600" cap="sq" cmpd="thickThin">
            <a:noFill/>
            <a:prstDash val="solid"/>
            <a:miter lim="800000"/>
          </a:ln>
          <a:effectLst>
            <a:innerShdw>
              <a:srgbClr val="000000"/>
            </a:innerShdw>
          </a:effectLst>
        </p:spPr>
      </p:pic>
      <p:pic>
        <p:nvPicPr>
          <p:cNvPr id="17" name="Picture 16" descr="refrigerator.jpg"/>
          <p:cNvPicPr>
            <a:picLocks noChangeAspect="1"/>
          </p:cNvPicPr>
          <p:nvPr/>
        </p:nvPicPr>
        <p:blipFill>
          <a:blip r:embed="rId9" cstate="email"/>
          <a:srcRect/>
          <a:stretch>
            <a:fillRect/>
          </a:stretch>
        </p:blipFill>
        <p:spPr>
          <a:xfrm>
            <a:off x="7162800" y="2819400"/>
            <a:ext cx="914400" cy="872067"/>
          </a:xfrm>
          <a:prstGeom prst="rect">
            <a:avLst/>
          </a:prstGeom>
        </p:spPr>
      </p:pic>
      <p:pic>
        <p:nvPicPr>
          <p:cNvPr id="4" name="Picture 3"/>
          <p:cNvPicPr>
            <a:picLocks noChangeAspect="1"/>
          </p:cNvPicPr>
          <p:nvPr/>
        </p:nvPicPr>
        <p:blipFill rotWithShape="1">
          <a:blip r:embed="rId10" cstate="screen">
            <a:extLst>
              <a:ext uri="{28A0092B-C50C-407E-A947-70E740481C1C}">
                <a14:useLocalDpi xmlns:a14="http://schemas.microsoft.com/office/drawing/2010/main" xmlns=""/>
              </a:ext>
            </a:extLst>
          </a:blip>
          <a:srcRect/>
          <a:stretch/>
        </p:blipFill>
        <p:spPr>
          <a:xfrm>
            <a:off x="5921869" y="4338518"/>
            <a:ext cx="335109" cy="400113"/>
          </a:xfrm>
          <a:prstGeom prst="roundRect">
            <a:avLst>
              <a:gd name="adj" fmla="val 8594"/>
            </a:avLst>
          </a:prstGeom>
          <a:solidFill>
            <a:srgbClr val="FFFFFF">
              <a:shade val="85000"/>
            </a:srgbClr>
          </a:solidFill>
          <a:ln>
            <a:solidFill>
              <a:schemeClr val="tx1"/>
            </a:solidFill>
          </a:ln>
          <a:effectLst>
            <a:reflection blurRad="12700" stA="38000" endPos="28000" dist="5000" dir="5400000" sy="-100000" algn="bl" rotWithShape="0"/>
          </a:effectLst>
        </p:spPr>
      </p:pic>
      <p:pic>
        <p:nvPicPr>
          <p:cNvPr id="19" name="Picture 18"/>
          <p:cNvPicPr>
            <a:picLocks noChangeAspect="1"/>
          </p:cNvPicPr>
          <p:nvPr/>
        </p:nvPicPr>
        <p:blipFill>
          <a:blip r:embed="rId11" cstate="screen"/>
          <a:stretch>
            <a:fillRect/>
          </a:stretch>
        </p:blipFill>
        <p:spPr>
          <a:xfrm>
            <a:off x="6858000" y="5257800"/>
            <a:ext cx="1208262" cy="803366"/>
          </a:xfrm>
          <a:prstGeom prst="rect">
            <a:avLst/>
          </a:prstGeom>
        </p:spPr>
      </p:pic>
    </p:spTree>
    <p:extLst>
      <p:ext uri="{BB962C8B-B14F-4D97-AF65-F5344CB8AC3E}">
        <p14:creationId xmlns:p14="http://schemas.microsoft.com/office/powerpoint/2010/main" xmlns="" val="7357373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DIAG-PIC16F161Xfamily-7x5.jpeg"/>
          <p:cNvPicPr>
            <a:picLocks noChangeAspect="1"/>
          </p:cNvPicPr>
          <p:nvPr/>
        </p:nvPicPr>
        <p:blipFill rotWithShape="1">
          <a:blip r:embed="rId2" cstate="screen">
            <a:extLst>
              <a:ext uri="{28A0092B-C50C-407E-A947-70E740481C1C}">
                <a14:useLocalDpi xmlns:a14="http://schemas.microsoft.com/office/drawing/2010/main" xmlns=""/>
              </a:ext>
            </a:extLst>
          </a:blip>
          <a:srcRect/>
          <a:stretch/>
        </p:blipFill>
        <p:spPr>
          <a:xfrm>
            <a:off x="885214" y="1358754"/>
            <a:ext cx="7453755" cy="5118246"/>
          </a:xfrm>
          <a:prstGeom prst="rect">
            <a:avLst/>
          </a:prstGeom>
        </p:spPr>
      </p:pic>
      <p:sp>
        <p:nvSpPr>
          <p:cNvPr id="100" name="Title 1"/>
          <p:cNvSpPr>
            <a:spLocks noGrp="1"/>
          </p:cNvSpPr>
          <p:nvPr>
            <p:ph type="title"/>
          </p:nvPr>
        </p:nvSpPr>
        <p:spPr>
          <a:xfrm>
            <a:off x="1905000" y="198438"/>
            <a:ext cx="6781800" cy="868362"/>
          </a:xfrm>
        </p:spPr>
        <p:txBody>
          <a:bodyPr/>
          <a:lstStyle/>
          <a:p>
            <a:pPr>
              <a:lnSpc>
                <a:spcPct val="100000"/>
              </a:lnSpc>
            </a:pPr>
            <a:r>
              <a:rPr lang="en-US" dirty="0" smtClean="0"/>
              <a:t>PIC16</a:t>
            </a:r>
            <a:r>
              <a:rPr lang="en-US" dirty="0"/>
              <a:t>(L)</a:t>
            </a:r>
            <a:r>
              <a:rPr lang="en-US" dirty="0" smtClean="0"/>
              <a:t>F161X</a:t>
            </a:r>
            <a:r>
              <a:rPr lang="en-US" dirty="0"/>
              <a:t/>
            </a:r>
            <a:br>
              <a:rPr lang="en-US" dirty="0"/>
            </a:br>
            <a:r>
              <a:rPr lang="en-US" sz="2000" dirty="0" smtClean="0"/>
              <a:t>Block Diagram</a:t>
            </a:r>
            <a:endParaRPr lang="en-US" sz="2000" b="0" dirty="0" smtClean="0"/>
          </a:p>
        </p:txBody>
      </p:sp>
      <p:sp>
        <p:nvSpPr>
          <p:cNvPr id="4" name="TextBox 3"/>
          <p:cNvSpPr txBox="1"/>
          <p:nvPr/>
        </p:nvSpPr>
        <p:spPr>
          <a:xfrm>
            <a:off x="1971040" y="3068320"/>
            <a:ext cx="184666" cy="400110"/>
          </a:xfrm>
          <a:prstGeom prst="rect">
            <a:avLst/>
          </a:prstGeom>
          <a:noFill/>
        </p:spPr>
        <p:txBody>
          <a:bodyPr wrap="none" rtlCol="0">
            <a:spAutoFit/>
          </a:bodyPr>
          <a:lstStyle/>
          <a:p>
            <a:endParaRPr lang="en-US" dirty="0"/>
          </a:p>
        </p:txBody>
      </p:sp>
      <p:sp>
        <p:nvSpPr>
          <p:cNvPr id="25" name="Frame 24"/>
          <p:cNvSpPr/>
          <p:nvPr/>
        </p:nvSpPr>
        <p:spPr>
          <a:xfrm>
            <a:off x="4673858" y="5410200"/>
            <a:ext cx="685800" cy="3810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26" name="Frame 25"/>
          <p:cNvSpPr/>
          <p:nvPr/>
        </p:nvSpPr>
        <p:spPr>
          <a:xfrm>
            <a:off x="5448687" y="5410200"/>
            <a:ext cx="685800" cy="3810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27" name="Frame 26"/>
          <p:cNvSpPr/>
          <p:nvPr/>
        </p:nvSpPr>
        <p:spPr>
          <a:xfrm>
            <a:off x="6222742" y="5397372"/>
            <a:ext cx="685800" cy="3810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29" name="Frame 28"/>
          <p:cNvSpPr/>
          <p:nvPr/>
        </p:nvSpPr>
        <p:spPr>
          <a:xfrm>
            <a:off x="3149858" y="5391150"/>
            <a:ext cx="685800" cy="4191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30" name="Frame 29"/>
          <p:cNvSpPr/>
          <p:nvPr/>
        </p:nvSpPr>
        <p:spPr>
          <a:xfrm>
            <a:off x="5486400" y="5956428"/>
            <a:ext cx="1371600" cy="4572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
        <p:nvSpPr>
          <p:cNvPr id="31" name="Frame 30"/>
          <p:cNvSpPr/>
          <p:nvPr/>
        </p:nvSpPr>
        <p:spPr>
          <a:xfrm>
            <a:off x="7010400" y="2209800"/>
            <a:ext cx="1295400" cy="3810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cxnSp>
        <p:nvCxnSpPr>
          <p:cNvPr id="13" name="Straight Arrow Connector 12"/>
          <p:cNvCxnSpPr/>
          <p:nvPr/>
        </p:nvCxnSpPr>
        <p:spPr>
          <a:xfrm>
            <a:off x="6781800" y="2438400"/>
            <a:ext cx="267086" cy="0"/>
          </a:xfrm>
          <a:prstGeom prst="straightConnector1">
            <a:avLst/>
          </a:prstGeom>
          <a:ln w="12700" cmpd="sng">
            <a:tailEnd type="triangle"/>
          </a:ln>
          <a:effectLst/>
        </p:spPr>
        <p:style>
          <a:lnRef idx="2">
            <a:schemeClr val="dk1"/>
          </a:lnRef>
          <a:fillRef idx="0">
            <a:schemeClr val="dk1"/>
          </a:fillRef>
          <a:effectRef idx="1">
            <a:schemeClr val="dk1"/>
          </a:effectRef>
          <a:fontRef idx="minor">
            <a:schemeClr val="tx1"/>
          </a:fontRef>
        </p:style>
      </p:cxnSp>
      <p:sp>
        <p:nvSpPr>
          <p:cNvPr id="14" name="Frame 13"/>
          <p:cNvSpPr/>
          <p:nvPr/>
        </p:nvSpPr>
        <p:spPr>
          <a:xfrm>
            <a:off x="838200" y="4953000"/>
            <a:ext cx="5943600" cy="304800"/>
          </a:xfrm>
          <a:prstGeom prst="frame">
            <a:avLst/>
          </a:prstGeom>
          <a:ln>
            <a:noFill/>
          </a:ln>
          <a:effectLst>
            <a:glow rad="63500">
              <a:schemeClr val="accent2">
                <a:satMod val="175000"/>
                <a:alpha val="40000"/>
              </a:schemeClr>
            </a:glow>
            <a:outerShdw blurRad="40000" dist="23000" dir="5400000" rotWithShape="0">
              <a:srgbClr val="000000">
                <a:alpha val="35000"/>
              </a:srgb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xmlns="" val="2677606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a:spLocks noGrp="1"/>
          </p:cNvSpPr>
          <p:nvPr>
            <p:ph type="title"/>
          </p:nvPr>
        </p:nvSpPr>
        <p:spPr/>
        <p:txBody>
          <a:bodyPr/>
          <a:lstStyle/>
          <a:p>
            <a:r>
              <a:rPr lang="en-US" dirty="0" smtClean="0">
                <a:solidFill>
                  <a:schemeClr val="tx1"/>
                </a:solidFill>
              </a:rPr>
              <a:t>Function Enablement</a:t>
            </a:r>
            <a:r>
              <a:rPr lang="en-US" sz="2800" dirty="0" smtClean="0">
                <a:solidFill>
                  <a:schemeClr val="tx1"/>
                </a:solidFill>
              </a:rPr>
              <a:t/>
            </a:r>
            <a:br>
              <a:rPr lang="en-US" sz="2800" dirty="0" smtClean="0">
                <a:solidFill>
                  <a:schemeClr val="tx1"/>
                </a:solidFill>
              </a:rPr>
            </a:br>
            <a:r>
              <a:rPr lang="en-US" sz="2800" dirty="0" smtClean="0">
                <a:solidFill>
                  <a:schemeClr val="tx1"/>
                </a:solidFill>
              </a:rPr>
              <a:t>Flexible Peripheral Integration</a:t>
            </a:r>
            <a:endParaRPr lang="en-US" dirty="0">
              <a:solidFill>
                <a:schemeClr val="tx1"/>
              </a:solidFill>
            </a:endParaRPr>
          </a:p>
        </p:txBody>
      </p:sp>
      <p:sp>
        <p:nvSpPr>
          <p:cNvPr id="111" name="Rectangle 110"/>
          <p:cNvSpPr/>
          <p:nvPr/>
        </p:nvSpPr>
        <p:spPr>
          <a:xfrm>
            <a:off x="182880" y="3198570"/>
            <a:ext cx="4114800" cy="3200400"/>
          </a:xfrm>
          <a:prstGeom prst="rect">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pPr>
              <a:lnSpc>
                <a:spcPts val="2880"/>
              </a:lnSpc>
            </a:pPr>
            <a:r>
              <a:rPr lang="en-US" sz="1800" b="1" dirty="0" smtClean="0"/>
              <a:t>Application Functions</a:t>
            </a:r>
          </a:p>
        </p:txBody>
      </p:sp>
      <p:sp>
        <p:nvSpPr>
          <p:cNvPr id="65" name="Rounded Rectangle 64"/>
          <p:cNvSpPr/>
          <p:nvPr/>
        </p:nvSpPr>
        <p:spPr>
          <a:xfrm>
            <a:off x="339233" y="5581113"/>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Human Interface</a:t>
            </a:r>
          </a:p>
        </p:txBody>
      </p:sp>
      <p:sp>
        <p:nvSpPr>
          <p:cNvPr id="66" name="Rounded Rectangle 65"/>
          <p:cNvSpPr/>
          <p:nvPr/>
        </p:nvSpPr>
        <p:spPr>
          <a:xfrm>
            <a:off x="339233" y="4965869"/>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System Communications</a:t>
            </a:r>
          </a:p>
        </p:txBody>
      </p:sp>
      <p:sp>
        <p:nvSpPr>
          <p:cNvPr id="67" name="Rounded Rectangle 66"/>
          <p:cNvSpPr/>
          <p:nvPr/>
        </p:nvSpPr>
        <p:spPr>
          <a:xfrm>
            <a:off x="339233" y="5273491"/>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Timing &amp; Counting</a:t>
            </a:r>
          </a:p>
        </p:txBody>
      </p:sp>
      <p:sp>
        <p:nvSpPr>
          <p:cNvPr id="106" name="Rounded Rectangle 105"/>
          <p:cNvSpPr/>
          <p:nvPr/>
        </p:nvSpPr>
        <p:spPr>
          <a:xfrm>
            <a:off x="339233" y="4043003"/>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System &amp; Safety Management</a:t>
            </a:r>
          </a:p>
        </p:txBody>
      </p:sp>
      <p:sp>
        <p:nvSpPr>
          <p:cNvPr id="88" name="Rounded Rectangle 87"/>
          <p:cNvSpPr/>
          <p:nvPr/>
        </p:nvSpPr>
        <p:spPr>
          <a:xfrm>
            <a:off x="339233" y="3735381"/>
            <a:ext cx="3802095" cy="274320"/>
          </a:xfrm>
          <a:prstGeom prst="roundRect">
            <a:avLst/>
          </a:prstGeom>
          <a:solidFill>
            <a:srgbClr val="003366"/>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solidFill>
              </a:rPr>
              <a:t>Motor Control</a:t>
            </a:r>
          </a:p>
        </p:txBody>
      </p:sp>
      <p:sp>
        <p:nvSpPr>
          <p:cNvPr id="84" name="Rounded Rectangle 83"/>
          <p:cNvSpPr/>
          <p:nvPr/>
        </p:nvSpPr>
        <p:spPr>
          <a:xfrm>
            <a:off x="339233" y="4658247"/>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Input &amp; Sensor Interface</a:t>
            </a:r>
          </a:p>
        </p:txBody>
      </p:sp>
      <p:sp>
        <p:nvSpPr>
          <p:cNvPr id="82" name="Rounded Rectangle 81"/>
          <p:cNvSpPr/>
          <p:nvPr/>
        </p:nvSpPr>
        <p:spPr>
          <a:xfrm>
            <a:off x="339233" y="4350625"/>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Output &amp; Signal Generation</a:t>
            </a:r>
          </a:p>
        </p:txBody>
      </p:sp>
      <p:sp>
        <p:nvSpPr>
          <p:cNvPr id="80" name="Rounded Rectangle 79"/>
          <p:cNvSpPr/>
          <p:nvPr/>
        </p:nvSpPr>
        <p:spPr>
          <a:xfrm>
            <a:off x="339233" y="5888738"/>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Custom Functions</a:t>
            </a:r>
          </a:p>
        </p:txBody>
      </p:sp>
      <p:sp>
        <p:nvSpPr>
          <p:cNvPr id="126" name="Rounded Rectangle 125"/>
          <p:cNvSpPr/>
          <p:nvPr/>
        </p:nvSpPr>
        <p:spPr>
          <a:xfrm>
            <a:off x="4495190" y="3200388"/>
            <a:ext cx="4480560" cy="3200400"/>
          </a:xfrm>
          <a:prstGeom prst="roundRect">
            <a:avLst>
              <a:gd name="adj" fmla="val 5812"/>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tIns="0" rtlCol="0" anchor="t" anchorCtr="1"/>
          <a:lstStyle/>
          <a:p>
            <a:pPr>
              <a:lnSpc>
                <a:spcPts val="2880"/>
              </a:lnSpc>
            </a:pPr>
            <a:r>
              <a:rPr lang="en-US" sz="1800" b="1" dirty="0" smtClean="0"/>
              <a:t>PIC16(L)F161X</a:t>
            </a:r>
            <a:endParaRPr lang="en-US" sz="2400" b="1" dirty="0"/>
          </a:p>
        </p:txBody>
      </p:sp>
      <p:sp>
        <p:nvSpPr>
          <p:cNvPr id="127" name="Rounded Rectangle 126"/>
          <p:cNvSpPr/>
          <p:nvPr/>
        </p:nvSpPr>
        <p:spPr>
          <a:xfrm>
            <a:off x="458717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CPU</a:t>
            </a:r>
            <a:endParaRPr lang="en-US" sz="1400" dirty="0">
              <a:solidFill>
                <a:schemeClr val="tx1"/>
              </a:solidFill>
            </a:endParaRPr>
          </a:p>
        </p:txBody>
      </p:sp>
      <p:sp>
        <p:nvSpPr>
          <p:cNvPr id="128" name="Rounded Rectangle 127"/>
          <p:cNvSpPr/>
          <p:nvPr/>
        </p:nvSpPr>
        <p:spPr>
          <a:xfrm>
            <a:off x="678065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Memory</a:t>
            </a:r>
            <a:endParaRPr lang="en-US" sz="1400" dirty="0">
              <a:solidFill>
                <a:schemeClr val="tx1"/>
              </a:solidFill>
            </a:endParaRPr>
          </a:p>
        </p:txBody>
      </p:sp>
      <p:sp>
        <p:nvSpPr>
          <p:cNvPr id="71" name="Rectangle 25"/>
          <p:cNvSpPr>
            <a:spLocks noChangeArrowheads="1"/>
          </p:cNvSpPr>
          <p:nvPr/>
        </p:nvSpPr>
        <p:spPr bwMode="auto">
          <a:xfrm>
            <a:off x="5682165" y="5164839"/>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Cyclical</a:t>
            </a:r>
          </a:p>
          <a:p>
            <a:pPr marL="182880" indent="-182880" algn="ctr"/>
            <a:r>
              <a:rPr lang="en-US" sz="800" dirty="0" smtClean="0">
                <a:solidFill>
                  <a:schemeClr val="bg1">
                    <a:lumMod val="65000"/>
                  </a:schemeClr>
                </a:solidFill>
              </a:rPr>
              <a:t>Redundancy Check</a:t>
            </a:r>
          </a:p>
        </p:txBody>
      </p:sp>
      <p:sp>
        <p:nvSpPr>
          <p:cNvPr id="72" name="Rectangle 25"/>
          <p:cNvSpPr>
            <a:spLocks noChangeArrowheads="1"/>
          </p:cNvSpPr>
          <p:nvPr/>
        </p:nvSpPr>
        <p:spPr bwMode="auto">
          <a:xfrm>
            <a:off x="7874830" y="5164839"/>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err="1" smtClean="0">
                <a:solidFill>
                  <a:schemeClr val="bg1">
                    <a:lumMod val="65000"/>
                  </a:schemeClr>
                </a:solidFill>
              </a:rPr>
              <a:t>mTouch</a:t>
            </a:r>
            <a:r>
              <a:rPr lang="en-US" sz="900" dirty="0" smtClean="0">
                <a:solidFill>
                  <a:schemeClr val="bg1">
                    <a:lumMod val="65000"/>
                  </a:schemeClr>
                </a:solidFill>
              </a:rPr>
              <a:t>®</a:t>
            </a:r>
          </a:p>
        </p:txBody>
      </p:sp>
      <p:sp>
        <p:nvSpPr>
          <p:cNvPr id="74" name="Rectangle 25"/>
          <p:cNvSpPr>
            <a:spLocks noChangeArrowheads="1"/>
          </p:cNvSpPr>
          <p:nvPr/>
        </p:nvSpPr>
        <p:spPr bwMode="auto">
          <a:xfrm>
            <a:off x="4587170" y="4469685"/>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tx1"/>
                </a:solidFill>
              </a:rPr>
              <a:t>Comparators</a:t>
            </a:r>
          </a:p>
        </p:txBody>
      </p:sp>
      <p:sp>
        <p:nvSpPr>
          <p:cNvPr id="75" name="Rectangle 25"/>
          <p:cNvSpPr>
            <a:spLocks noChangeArrowheads="1"/>
          </p:cNvSpPr>
          <p:nvPr/>
        </p:nvSpPr>
        <p:spPr bwMode="auto">
          <a:xfrm>
            <a:off x="4587170" y="5512416"/>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800" dirty="0" smtClean="0">
                <a:solidFill>
                  <a:schemeClr val="tx1"/>
                </a:solidFill>
              </a:rPr>
              <a:t>Zero Cross</a:t>
            </a:r>
          </a:p>
          <a:p>
            <a:pPr algn="ctr"/>
            <a:r>
              <a:rPr lang="en-US" sz="800" dirty="0" smtClean="0">
                <a:solidFill>
                  <a:schemeClr val="tx1"/>
                </a:solidFill>
              </a:rPr>
              <a:t>Detect</a:t>
            </a:r>
            <a:endParaRPr lang="en-US" sz="800" dirty="0">
              <a:solidFill>
                <a:schemeClr val="tx1"/>
              </a:solidFill>
            </a:endParaRPr>
          </a:p>
        </p:txBody>
      </p:sp>
      <p:sp>
        <p:nvSpPr>
          <p:cNvPr id="77" name="Rectangle 25"/>
          <p:cNvSpPr>
            <a:spLocks noChangeArrowheads="1"/>
          </p:cNvSpPr>
          <p:nvPr/>
        </p:nvSpPr>
        <p:spPr bwMode="auto">
          <a:xfrm>
            <a:off x="4587170" y="5164839"/>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800" dirty="0" smtClean="0">
                <a:solidFill>
                  <a:schemeClr val="tx1"/>
                </a:solidFill>
              </a:rPr>
              <a:t>Voltage</a:t>
            </a:r>
          </a:p>
          <a:p>
            <a:pPr algn="ctr"/>
            <a:r>
              <a:rPr lang="en-US" sz="800" dirty="0" smtClean="0">
                <a:solidFill>
                  <a:schemeClr val="tx1"/>
                </a:solidFill>
              </a:rPr>
              <a:t>Reference</a:t>
            </a:r>
            <a:endParaRPr lang="en-US" sz="800" dirty="0">
              <a:solidFill>
                <a:schemeClr val="tx1"/>
              </a:solidFill>
            </a:endParaRPr>
          </a:p>
        </p:txBody>
      </p:sp>
      <p:sp>
        <p:nvSpPr>
          <p:cNvPr id="78" name="Rectangle 25"/>
          <p:cNvSpPr>
            <a:spLocks noChangeArrowheads="1"/>
          </p:cNvSpPr>
          <p:nvPr/>
        </p:nvSpPr>
        <p:spPr bwMode="auto">
          <a:xfrm>
            <a:off x="4587170" y="4817262"/>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tx1"/>
                </a:solidFill>
              </a:rPr>
              <a:t>DAC</a:t>
            </a:r>
          </a:p>
        </p:txBody>
      </p:sp>
      <p:sp>
        <p:nvSpPr>
          <p:cNvPr id="86" name="Rectangle 25"/>
          <p:cNvSpPr>
            <a:spLocks noChangeArrowheads="1"/>
          </p:cNvSpPr>
          <p:nvPr/>
        </p:nvSpPr>
        <p:spPr bwMode="auto">
          <a:xfrm>
            <a:off x="5682165" y="585999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Windowed WDT</a:t>
            </a:r>
          </a:p>
        </p:txBody>
      </p:sp>
      <p:sp>
        <p:nvSpPr>
          <p:cNvPr id="90" name="Rectangle 25"/>
          <p:cNvSpPr>
            <a:spLocks noChangeArrowheads="1"/>
          </p:cNvSpPr>
          <p:nvPr/>
        </p:nvSpPr>
        <p:spPr bwMode="auto">
          <a:xfrm>
            <a:off x="7874830"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eXtreme Low Power</a:t>
            </a:r>
          </a:p>
          <a:p>
            <a:pPr marL="182880" indent="-182880" algn="ctr"/>
            <a:r>
              <a:rPr lang="en-US" sz="800" dirty="0" smtClean="0">
                <a:solidFill>
                  <a:schemeClr val="bg1">
                    <a:lumMod val="65000"/>
                  </a:schemeClr>
                </a:solidFill>
              </a:rPr>
              <a:t>XLP Technology</a:t>
            </a:r>
          </a:p>
        </p:txBody>
      </p:sp>
      <p:sp>
        <p:nvSpPr>
          <p:cNvPr id="92" name="Rectangle 25"/>
          <p:cNvSpPr>
            <a:spLocks noChangeArrowheads="1"/>
          </p:cNvSpPr>
          <p:nvPr/>
        </p:nvSpPr>
        <p:spPr bwMode="auto">
          <a:xfrm>
            <a:off x="6777160" y="5859992"/>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8/16/20/24-bit</a:t>
            </a:r>
          </a:p>
          <a:p>
            <a:pPr algn="ctr"/>
            <a:r>
              <a:rPr lang="en-US" sz="800" dirty="0" smtClean="0">
                <a:solidFill>
                  <a:schemeClr val="bg1"/>
                </a:solidFill>
              </a:rPr>
              <a:t>Timers</a:t>
            </a:r>
            <a:endParaRPr lang="en-US" sz="800" dirty="0">
              <a:solidFill>
                <a:schemeClr val="bg1"/>
              </a:solidFill>
            </a:endParaRPr>
          </a:p>
        </p:txBody>
      </p:sp>
      <p:sp>
        <p:nvSpPr>
          <p:cNvPr id="94" name="Rectangle 25"/>
          <p:cNvSpPr>
            <a:spLocks noChangeArrowheads="1"/>
          </p:cNvSpPr>
          <p:nvPr/>
        </p:nvSpPr>
        <p:spPr bwMode="auto">
          <a:xfrm>
            <a:off x="6777160" y="5512416"/>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900" dirty="0" smtClean="0">
                <a:solidFill>
                  <a:schemeClr val="bg1"/>
                </a:solidFill>
              </a:rPr>
              <a:t>TEMP Indicator</a:t>
            </a:r>
            <a:endParaRPr lang="en-US" sz="900" dirty="0">
              <a:solidFill>
                <a:schemeClr val="bg1"/>
              </a:solidFill>
            </a:endParaRPr>
          </a:p>
        </p:txBody>
      </p:sp>
      <p:sp>
        <p:nvSpPr>
          <p:cNvPr id="95" name="Rectangle 25"/>
          <p:cNvSpPr>
            <a:spLocks noChangeArrowheads="1"/>
          </p:cNvSpPr>
          <p:nvPr/>
        </p:nvSpPr>
        <p:spPr bwMode="auto">
          <a:xfrm>
            <a:off x="6777160" y="5164839"/>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Signal</a:t>
            </a:r>
          </a:p>
          <a:p>
            <a:pPr algn="ctr"/>
            <a:r>
              <a:rPr lang="en-US" sz="800" dirty="0" smtClean="0">
                <a:solidFill>
                  <a:schemeClr val="bg1"/>
                </a:solidFill>
              </a:rPr>
              <a:t>Measurement Timer</a:t>
            </a:r>
            <a:endParaRPr lang="en-US" sz="800" dirty="0">
              <a:solidFill>
                <a:schemeClr val="bg1"/>
              </a:solidFill>
            </a:endParaRPr>
          </a:p>
        </p:txBody>
      </p:sp>
      <p:sp>
        <p:nvSpPr>
          <p:cNvPr id="97" name="Rectangle 25"/>
          <p:cNvSpPr>
            <a:spLocks noChangeArrowheads="1"/>
          </p:cNvSpPr>
          <p:nvPr/>
        </p:nvSpPr>
        <p:spPr bwMode="auto">
          <a:xfrm>
            <a:off x="6777160" y="4817262"/>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900" dirty="0" smtClean="0">
                <a:solidFill>
                  <a:schemeClr val="bg1"/>
                </a:solidFill>
              </a:rPr>
              <a:t>Angular Timer</a:t>
            </a:r>
            <a:endParaRPr lang="en-US" sz="900" dirty="0">
              <a:solidFill>
                <a:schemeClr val="bg1"/>
              </a:solidFill>
            </a:endParaRPr>
          </a:p>
        </p:txBody>
      </p:sp>
      <p:sp>
        <p:nvSpPr>
          <p:cNvPr id="98" name="Rectangle 25"/>
          <p:cNvSpPr>
            <a:spLocks noChangeArrowheads="1"/>
          </p:cNvSpPr>
          <p:nvPr/>
        </p:nvSpPr>
        <p:spPr bwMode="auto">
          <a:xfrm>
            <a:off x="7874830" y="4469685"/>
            <a:ext cx="1011615" cy="30306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tx1"/>
                </a:solidFill>
              </a:rPr>
              <a:t>Peripheral Pin</a:t>
            </a:r>
          </a:p>
          <a:p>
            <a:pPr marL="182880" indent="-182880" algn="ctr"/>
            <a:r>
              <a:rPr lang="en-US" sz="800" dirty="0" smtClean="0">
                <a:solidFill>
                  <a:schemeClr val="tx1"/>
                </a:solidFill>
              </a:rPr>
              <a:t>Select</a:t>
            </a:r>
            <a:endParaRPr lang="en-US" sz="800" dirty="0">
              <a:solidFill>
                <a:schemeClr val="tx1"/>
              </a:solidFill>
            </a:endParaRPr>
          </a:p>
        </p:txBody>
      </p:sp>
      <p:sp>
        <p:nvSpPr>
          <p:cNvPr id="99" name="Rectangle 25"/>
          <p:cNvSpPr>
            <a:spLocks noChangeArrowheads="1"/>
          </p:cNvSpPr>
          <p:nvPr/>
        </p:nvSpPr>
        <p:spPr bwMode="auto">
          <a:xfrm>
            <a:off x="6777160" y="4122108"/>
            <a:ext cx="1011615" cy="30306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Configurable</a:t>
            </a:r>
          </a:p>
          <a:p>
            <a:pPr marL="182880" indent="-182880" algn="ctr"/>
            <a:r>
              <a:rPr lang="en-US" sz="800" dirty="0" smtClean="0">
                <a:solidFill>
                  <a:schemeClr val="bg1"/>
                </a:solidFill>
              </a:rPr>
              <a:t>Logic Cell</a:t>
            </a:r>
            <a:endParaRPr lang="en-US" sz="800" dirty="0">
              <a:solidFill>
                <a:schemeClr val="bg1"/>
              </a:solidFill>
            </a:endParaRPr>
          </a:p>
        </p:txBody>
      </p:sp>
      <p:sp>
        <p:nvSpPr>
          <p:cNvPr id="101" name="Rectangle 25"/>
          <p:cNvSpPr>
            <a:spLocks noChangeArrowheads="1"/>
          </p:cNvSpPr>
          <p:nvPr/>
        </p:nvSpPr>
        <p:spPr bwMode="auto">
          <a:xfrm>
            <a:off x="6777160" y="4469685"/>
            <a:ext cx="1011615" cy="30306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Math</a:t>
            </a:r>
          </a:p>
          <a:p>
            <a:pPr marL="182880" indent="-182880" algn="ctr"/>
            <a:r>
              <a:rPr lang="en-US" sz="800" dirty="0" smtClean="0">
                <a:solidFill>
                  <a:schemeClr val="bg1"/>
                </a:solidFill>
              </a:rPr>
              <a:t>Accelerator</a:t>
            </a:r>
            <a:endParaRPr lang="en-US" sz="800" dirty="0">
              <a:solidFill>
                <a:schemeClr val="bg1"/>
              </a:solidFill>
            </a:endParaRPr>
          </a:p>
        </p:txBody>
      </p:sp>
      <p:sp>
        <p:nvSpPr>
          <p:cNvPr id="104" name="Rectangle 25"/>
          <p:cNvSpPr>
            <a:spLocks noChangeArrowheads="1"/>
          </p:cNvSpPr>
          <p:nvPr/>
        </p:nvSpPr>
        <p:spPr bwMode="auto">
          <a:xfrm>
            <a:off x="7874830" y="5512416"/>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EUSART/LIN</a:t>
            </a:r>
          </a:p>
        </p:txBody>
      </p:sp>
      <p:sp>
        <p:nvSpPr>
          <p:cNvPr id="110" name="Rectangle 25"/>
          <p:cNvSpPr>
            <a:spLocks noChangeArrowheads="1"/>
          </p:cNvSpPr>
          <p:nvPr/>
        </p:nvSpPr>
        <p:spPr bwMode="auto">
          <a:xfrm>
            <a:off x="5682165" y="5512416"/>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Hardware</a:t>
            </a:r>
          </a:p>
          <a:p>
            <a:pPr algn="ctr"/>
            <a:r>
              <a:rPr lang="en-US" sz="800" dirty="0" smtClean="0">
                <a:solidFill>
                  <a:schemeClr val="bg1"/>
                </a:solidFill>
              </a:rPr>
              <a:t>Limit Timer</a:t>
            </a:r>
            <a:endParaRPr lang="en-US" sz="800" dirty="0">
              <a:solidFill>
                <a:schemeClr val="bg1"/>
              </a:solidFill>
            </a:endParaRPr>
          </a:p>
        </p:txBody>
      </p:sp>
      <p:sp>
        <p:nvSpPr>
          <p:cNvPr id="115" name="Rectangle 25"/>
          <p:cNvSpPr>
            <a:spLocks noChangeArrowheads="1"/>
          </p:cNvSpPr>
          <p:nvPr/>
        </p:nvSpPr>
        <p:spPr bwMode="auto">
          <a:xfrm>
            <a:off x="5682165" y="4817262"/>
            <a:ext cx="1011615" cy="303066"/>
          </a:xfrm>
          <a:prstGeom prst="rect">
            <a:avLst/>
          </a:prstGeom>
          <a:solidFill>
            <a:srgbClr val="7030A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900" dirty="0" smtClean="0">
                <a:solidFill>
                  <a:schemeClr val="bg1"/>
                </a:solidFill>
              </a:rPr>
              <a:t>10b PWM</a:t>
            </a:r>
          </a:p>
        </p:txBody>
      </p:sp>
      <p:sp>
        <p:nvSpPr>
          <p:cNvPr id="118" name="Rectangle 25"/>
          <p:cNvSpPr>
            <a:spLocks noChangeArrowheads="1"/>
          </p:cNvSpPr>
          <p:nvPr/>
        </p:nvSpPr>
        <p:spPr bwMode="auto">
          <a:xfrm>
            <a:off x="4587170" y="4122108"/>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tx1"/>
                </a:solidFill>
              </a:rPr>
              <a:t>ADC</a:t>
            </a:r>
            <a:endParaRPr lang="en-US" sz="900" dirty="0">
              <a:solidFill>
                <a:schemeClr val="tx1"/>
              </a:solidFill>
            </a:endParaRPr>
          </a:p>
        </p:txBody>
      </p:sp>
      <p:sp>
        <p:nvSpPr>
          <p:cNvPr id="119" name="Rectangle 25"/>
          <p:cNvSpPr>
            <a:spLocks noChangeArrowheads="1"/>
          </p:cNvSpPr>
          <p:nvPr/>
        </p:nvSpPr>
        <p:spPr bwMode="auto">
          <a:xfrm>
            <a:off x="5682165" y="4122108"/>
            <a:ext cx="1011615" cy="303066"/>
          </a:xfrm>
          <a:prstGeom prst="rect">
            <a:avLst/>
          </a:prstGeom>
          <a:solidFill>
            <a:srgbClr val="7030A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Capture Compare PWM</a:t>
            </a:r>
            <a:endParaRPr lang="en-US" sz="800" dirty="0">
              <a:solidFill>
                <a:schemeClr val="bg1"/>
              </a:solidFill>
            </a:endParaRPr>
          </a:p>
        </p:txBody>
      </p:sp>
      <p:sp>
        <p:nvSpPr>
          <p:cNvPr id="120" name="Rectangle 25"/>
          <p:cNvSpPr>
            <a:spLocks noChangeArrowheads="1"/>
          </p:cNvSpPr>
          <p:nvPr/>
        </p:nvSpPr>
        <p:spPr bwMode="auto">
          <a:xfrm>
            <a:off x="5682165" y="4469685"/>
            <a:ext cx="1011615" cy="303066"/>
          </a:xfrm>
          <a:prstGeom prst="rect">
            <a:avLst/>
          </a:prstGeom>
          <a:solidFill>
            <a:srgbClr val="7030A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Complementary Waveform Generator</a:t>
            </a:r>
          </a:p>
        </p:txBody>
      </p:sp>
      <p:sp>
        <p:nvSpPr>
          <p:cNvPr id="121" name="Rectangle 25"/>
          <p:cNvSpPr>
            <a:spLocks noChangeArrowheads="1"/>
          </p:cNvSpPr>
          <p:nvPr/>
        </p:nvSpPr>
        <p:spPr bwMode="auto">
          <a:xfrm>
            <a:off x="7874830" y="4122108"/>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High Endurance</a:t>
            </a:r>
          </a:p>
          <a:p>
            <a:pPr marL="182880" indent="-182880" algn="ctr"/>
            <a:r>
              <a:rPr lang="en-US" sz="800" dirty="0" smtClean="0">
                <a:solidFill>
                  <a:schemeClr val="bg1">
                    <a:lumMod val="65000"/>
                  </a:schemeClr>
                </a:solidFill>
              </a:rPr>
              <a:t>Flash (Data)</a:t>
            </a:r>
          </a:p>
        </p:txBody>
      </p:sp>
      <p:sp>
        <p:nvSpPr>
          <p:cNvPr id="123" name="Rectangle 25"/>
          <p:cNvSpPr>
            <a:spLocks noChangeArrowheads="1"/>
          </p:cNvSpPr>
          <p:nvPr/>
        </p:nvSpPr>
        <p:spPr bwMode="auto">
          <a:xfrm>
            <a:off x="4587170" y="5859992"/>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800" dirty="0" smtClean="0">
                <a:solidFill>
                  <a:schemeClr val="tx1"/>
                </a:solidFill>
              </a:rPr>
              <a:t>High Current</a:t>
            </a:r>
          </a:p>
          <a:p>
            <a:pPr algn="ctr"/>
            <a:r>
              <a:rPr lang="en-US" sz="800" dirty="0" smtClean="0">
                <a:solidFill>
                  <a:schemeClr val="tx1"/>
                </a:solidFill>
              </a:rPr>
              <a:t>100 mA I/O</a:t>
            </a:r>
            <a:endParaRPr lang="en-US" sz="800" dirty="0">
              <a:solidFill>
                <a:schemeClr val="tx1"/>
              </a:solidFill>
            </a:endParaRPr>
          </a:p>
        </p:txBody>
      </p:sp>
      <p:sp>
        <p:nvSpPr>
          <p:cNvPr id="124" name="Rectangle 25"/>
          <p:cNvSpPr>
            <a:spLocks noChangeArrowheads="1"/>
          </p:cNvSpPr>
          <p:nvPr/>
        </p:nvSpPr>
        <p:spPr bwMode="auto">
          <a:xfrm>
            <a:off x="7874830" y="585999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I</a:t>
            </a:r>
            <a:r>
              <a:rPr lang="en-US" sz="900" baseline="30000" dirty="0" smtClean="0">
                <a:solidFill>
                  <a:schemeClr val="bg1">
                    <a:lumMod val="65000"/>
                  </a:schemeClr>
                </a:solidFill>
              </a:rPr>
              <a:t>2</a:t>
            </a:r>
            <a:r>
              <a:rPr lang="en-US" sz="900" dirty="0" smtClean="0">
                <a:solidFill>
                  <a:schemeClr val="bg1">
                    <a:lumMod val="65000"/>
                  </a:schemeClr>
                </a:solidFill>
              </a:rPr>
              <a:t>C™/SPI </a:t>
            </a:r>
          </a:p>
        </p:txBody>
      </p:sp>
      <p:sp>
        <p:nvSpPr>
          <p:cNvPr id="41" name="TextBox 40"/>
          <p:cNvSpPr txBox="1"/>
          <p:nvPr/>
        </p:nvSpPr>
        <p:spPr>
          <a:xfrm>
            <a:off x="152400" y="1239915"/>
            <a:ext cx="8663353" cy="1689693"/>
          </a:xfrm>
          <a:prstGeom prst="rect">
            <a:avLst/>
          </a:prstGeom>
          <a:noFill/>
        </p:spPr>
        <p:txBody>
          <a:bodyPr wrap="square" rtlCol="0">
            <a:spAutoFit/>
          </a:bodyPr>
          <a:lstStyle/>
          <a:p>
            <a:r>
              <a:rPr lang="en-US" b="1" dirty="0" smtClean="0"/>
              <a:t>Motor Control Functionality Highlights</a:t>
            </a:r>
          </a:p>
          <a:p>
            <a:pPr>
              <a:lnSpc>
                <a:spcPct val="120000"/>
              </a:lnSpc>
              <a:buFont typeface="Arial" pitchFamily="34" charset="0"/>
              <a:buChar char="•"/>
            </a:pPr>
            <a:r>
              <a:rPr lang="en-US" dirty="0" smtClean="0"/>
              <a:t> Hardware PID control:  </a:t>
            </a:r>
            <a:endParaRPr lang="en-US" sz="800" dirty="0" smtClean="0"/>
          </a:p>
          <a:p>
            <a:pPr>
              <a:lnSpc>
                <a:spcPct val="120000"/>
              </a:lnSpc>
              <a:buFont typeface="Arial" pitchFamily="34" charset="0"/>
              <a:buChar char="•"/>
            </a:pPr>
            <a:r>
              <a:rPr lang="en-US" dirty="0" smtClean="0"/>
              <a:t> Simplified rotational speed and position control</a:t>
            </a:r>
          </a:p>
          <a:p>
            <a:pPr>
              <a:lnSpc>
                <a:spcPct val="120000"/>
              </a:lnSpc>
              <a:buFont typeface="Arial" pitchFamily="34" charset="0"/>
              <a:buChar char="•"/>
            </a:pPr>
            <a:r>
              <a:rPr lang="en-US" dirty="0" smtClean="0"/>
              <a:t> Automated complementary waveform generation</a:t>
            </a:r>
          </a:p>
          <a:p>
            <a:pPr>
              <a:lnSpc>
                <a:spcPct val="120000"/>
              </a:lnSpc>
              <a:buFont typeface="Arial" pitchFamily="34" charset="0"/>
              <a:buChar char="•"/>
            </a:pPr>
            <a:r>
              <a:rPr lang="en-US" dirty="0" smtClean="0"/>
              <a:t> 100 mA drive capability</a:t>
            </a:r>
          </a:p>
        </p:txBody>
      </p:sp>
      <p:pic>
        <p:nvPicPr>
          <p:cNvPr id="2" name="Picture 1" descr="Screen shot 2014-10-24 at 2.40.38 PM.png"/>
          <p:cNvPicPr>
            <a:picLocks noChangeAspect="1"/>
          </p:cNvPicPr>
          <p:nvPr/>
        </p:nvPicPr>
        <p:blipFill rotWithShape="1">
          <a:blip r:embed="rId3" cstate="screen">
            <a:extLst>
              <a:ext uri="{28A0092B-C50C-407E-A947-70E740481C1C}">
                <a14:useLocalDpi xmlns:a14="http://schemas.microsoft.com/office/drawing/2010/main" xmlns=""/>
              </a:ext>
            </a:extLst>
          </a:blip>
          <a:srcRect/>
          <a:stretch/>
        </p:blipFill>
        <p:spPr>
          <a:xfrm>
            <a:off x="2667000" y="1546872"/>
            <a:ext cx="1894606" cy="358128"/>
          </a:xfrm>
          <a:prstGeom prst="rect">
            <a:avLst/>
          </a:prstGeom>
        </p:spPr>
      </p:pic>
    </p:spTree>
    <p:extLst>
      <p:ext uri="{BB962C8B-B14F-4D97-AF65-F5344CB8AC3E}">
        <p14:creationId xmlns:p14="http://schemas.microsoft.com/office/powerpoint/2010/main" xmlns="" val="16042931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a:spLocks noGrp="1"/>
          </p:cNvSpPr>
          <p:nvPr>
            <p:ph type="title"/>
          </p:nvPr>
        </p:nvSpPr>
        <p:spPr/>
        <p:txBody>
          <a:bodyPr/>
          <a:lstStyle/>
          <a:p>
            <a:r>
              <a:rPr lang="en-US" dirty="0" smtClean="0">
                <a:solidFill>
                  <a:schemeClr val="tx1"/>
                </a:solidFill>
              </a:rPr>
              <a:t>Function Enablement</a:t>
            </a:r>
            <a:r>
              <a:rPr lang="en-US" sz="2800" dirty="0" smtClean="0">
                <a:solidFill>
                  <a:schemeClr val="tx1"/>
                </a:solidFill>
              </a:rPr>
              <a:t/>
            </a:r>
            <a:br>
              <a:rPr lang="en-US" sz="2800" dirty="0" smtClean="0">
                <a:solidFill>
                  <a:schemeClr val="tx1"/>
                </a:solidFill>
              </a:rPr>
            </a:br>
            <a:r>
              <a:rPr lang="en-US" sz="2800" dirty="0" smtClean="0">
                <a:solidFill>
                  <a:schemeClr val="tx1"/>
                </a:solidFill>
              </a:rPr>
              <a:t>Flexible Peripheral Integration</a:t>
            </a:r>
            <a:endParaRPr lang="en-US" dirty="0">
              <a:solidFill>
                <a:schemeClr val="tx1"/>
              </a:solidFill>
            </a:endParaRPr>
          </a:p>
        </p:txBody>
      </p:sp>
      <p:sp>
        <p:nvSpPr>
          <p:cNvPr id="111" name="Rectangle 110"/>
          <p:cNvSpPr/>
          <p:nvPr/>
        </p:nvSpPr>
        <p:spPr>
          <a:xfrm>
            <a:off x="182880" y="3198570"/>
            <a:ext cx="4114800" cy="3200400"/>
          </a:xfrm>
          <a:prstGeom prst="rect">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pPr>
              <a:lnSpc>
                <a:spcPts val="2880"/>
              </a:lnSpc>
            </a:pPr>
            <a:r>
              <a:rPr lang="en-US" sz="1800" b="1" dirty="0" smtClean="0"/>
              <a:t>Application Functions</a:t>
            </a:r>
          </a:p>
        </p:txBody>
      </p:sp>
      <p:sp>
        <p:nvSpPr>
          <p:cNvPr id="65" name="Rounded Rectangle 64"/>
          <p:cNvSpPr/>
          <p:nvPr/>
        </p:nvSpPr>
        <p:spPr>
          <a:xfrm>
            <a:off x="339233" y="5581113"/>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Human Interface</a:t>
            </a:r>
          </a:p>
        </p:txBody>
      </p:sp>
      <p:sp>
        <p:nvSpPr>
          <p:cNvPr id="66" name="Rounded Rectangle 65"/>
          <p:cNvSpPr/>
          <p:nvPr/>
        </p:nvSpPr>
        <p:spPr>
          <a:xfrm>
            <a:off x="339233" y="4965869"/>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System Communications</a:t>
            </a:r>
          </a:p>
        </p:txBody>
      </p:sp>
      <p:sp>
        <p:nvSpPr>
          <p:cNvPr id="67" name="Rounded Rectangle 66"/>
          <p:cNvSpPr/>
          <p:nvPr/>
        </p:nvSpPr>
        <p:spPr>
          <a:xfrm>
            <a:off x="339233" y="5273491"/>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Timing &amp; Counting</a:t>
            </a:r>
          </a:p>
        </p:txBody>
      </p:sp>
      <p:sp>
        <p:nvSpPr>
          <p:cNvPr id="106" name="Rounded Rectangle 105"/>
          <p:cNvSpPr/>
          <p:nvPr/>
        </p:nvSpPr>
        <p:spPr>
          <a:xfrm>
            <a:off x="339233" y="4043003"/>
            <a:ext cx="3802095" cy="274320"/>
          </a:xfrm>
          <a:prstGeom prst="roundRect">
            <a:avLst/>
          </a:prstGeom>
          <a:solidFill>
            <a:srgbClr val="003366"/>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solidFill>
              </a:rPr>
              <a:t>System &amp; Safety Management</a:t>
            </a:r>
          </a:p>
        </p:txBody>
      </p:sp>
      <p:sp>
        <p:nvSpPr>
          <p:cNvPr id="88" name="Rounded Rectangle 87"/>
          <p:cNvSpPr/>
          <p:nvPr/>
        </p:nvSpPr>
        <p:spPr>
          <a:xfrm>
            <a:off x="339233" y="3735381"/>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Motor Control</a:t>
            </a:r>
          </a:p>
        </p:txBody>
      </p:sp>
      <p:sp>
        <p:nvSpPr>
          <p:cNvPr id="84" name="Rounded Rectangle 83"/>
          <p:cNvSpPr/>
          <p:nvPr/>
        </p:nvSpPr>
        <p:spPr>
          <a:xfrm>
            <a:off x="339233" y="4658247"/>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Input &amp; Sensor Interface</a:t>
            </a:r>
          </a:p>
        </p:txBody>
      </p:sp>
      <p:sp>
        <p:nvSpPr>
          <p:cNvPr id="82" name="Rounded Rectangle 81"/>
          <p:cNvSpPr/>
          <p:nvPr/>
        </p:nvSpPr>
        <p:spPr>
          <a:xfrm>
            <a:off x="339233" y="4350625"/>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Output &amp; Signal Generation</a:t>
            </a:r>
          </a:p>
        </p:txBody>
      </p:sp>
      <p:sp>
        <p:nvSpPr>
          <p:cNvPr id="80" name="Rounded Rectangle 79"/>
          <p:cNvSpPr/>
          <p:nvPr/>
        </p:nvSpPr>
        <p:spPr>
          <a:xfrm>
            <a:off x="339233" y="5888738"/>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Custom Functions</a:t>
            </a:r>
          </a:p>
        </p:txBody>
      </p:sp>
      <p:sp>
        <p:nvSpPr>
          <p:cNvPr id="126" name="Rounded Rectangle 125"/>
          <p:cNvSpPr/>
          <p:nvPr/>
        </p:nvSpPr>
        <p:spPr>
          <a:xfrm>
            <a:off x="4495190" y="3200388"/>
            <a:ext cx="4480560" cy="3200400"/>
          </a:xfrm>
          <a:prstGeom prst="roundRect">
            <a:avLst>
              <a:gd name="adj" fmla="val 5812"/>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tIns="0" rtlCol="0" anchor="t" anchorCtr="1"/>
          <a:lstStyle/>
          <a:p>
            <a:pPr>
              <a:lnSpc>
                <a:spcPts val="2880"/>
              </a:lnSpc>
            </a:pPr>
            <a:r>
              <a:rPr lang="en-US" sz="1800" b="1" dirty="0" smtClean="0"/>
              <a:t>PIC16(L)F161X</a:t>
            </a:r>
            <a:endParaRPr lang="en-US" sz="2400" b="1" dirty="0"/>
          </a:p>
        </p:txBody>
      </p:sp>
      <p:sp>
        <p:nvSpPr>
          <p:cNvPr id="127" name="Rounded Rectangle 126"/>
          <p:cNvSpPr/>
          <p:nvPr/>
        </p:nvSpPr>
        <p:spPr>
          <a:xfrm>
            <a:off x="458717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CPU</a:t>
            </a:r>
            <a:endParaRPr lang="en-US" sz="1400" dirty="0">
              <a:solidFill>
                <a:schemeClr val="tx1"/>
              </a:solidFill>
            </a:endParaRPr>
          </a:p>
        </p:txBody>
      </p:sp>
      <p:sp>
        <p:nvSpPr>
          <p:cNvPr id="128" name="Rounded Rectangle 127"/>
          <p:cNvSpPr/>
          <p:nvPr/>
        </p:nvSpPr>
        <p:spPr>
          <a:xfrm>
            <a:off x="678065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Memory</a:t>
            </a:r>
            <a:endParaRPr lang="en-US" sz="1400" dirty="0">
              <a:solidFill>
                <a:schemeClr val="tx1"/>
              </a:solidFill>
            </a:endParaRPr>
          </a:p>
        </p:txBody>
      </p:sp>
      <p:sp>
        <p:nvSpPr>
          <p:cNvPr id="71" name="Rectangle 25"/>
          <p:cNvSpPr>
            <a:spLocks noChangeArrowheads="1"/>
          </p:cNvSpPr>
          <p:nvPr/>
        </p:nvSpPr>
        <p:spPr bwMode="auto">
          <a:xfrm>
            <a:off x="5682165" y="5164839"/>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Cyclical</a:t>
            </a:r>
          </a:p>
          <a:p>
            <a:pPr marL="182880" indent="-182880" algn="ctr"/>
            <a:r>
              <a:rPr lang="en-US" sz="800" dirty="0" smtClean="0">
                <a:solidFill>
                  <a:schemeClr val="bg1"/>
                </a:solidFill>
              </a:rPr>
              <a:t>Redundancy Check</a:t>
            </a:r>
          </a:p>
        </p:txBody>
      </p:sp>
      <p:sp>
        <p:nvSpPr>
          <p:cNvPr id="74" name="Rectangle 25"/>
          <p:cNvSpPr>
            <a:spLocks noChangeArrowheads="1"/>
          </p:cNvSpPr>
          <p:nvPr/>
        </p:nvSpPr>
        <p:spPr bwMode="auto">
          <a:xfrm>
            <a:off x="4587170" y="4469685"/>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tx1"/>
                </a:solidFill>
              </a:rPr>
              <a:t>Comparators</a:t>
            </a:r>
          </a:p>
        </p:txBody>
      </p:sp>
      <p:sp>
        <p:nvSpPr>
          <p:cNvPr id="75" name="Rectangle 25"/>
          <p:cNvSpPr>
            <a:spLocks noChangeArrowheads="1"/>
          </p:cNvSpPr>
          <p:nvPr/>
        </p:nvSpPr>
        <p:spPr bwMode="auto">
          <a:xfrm>
            <a:off x="4587170" y="5512416"/>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Zero Cross</a:t>
            </a:r>
          </a:p>
          <a:p>
            <a:pPr marL="182880" indent="-182880" algn="ctr"/>
            <a:r>
              <a:rPr lang="en-US" sz="800" dirty="0" smtClean="0">
                <a:solidFill>
                  <a:schemeClr val="bg1">
                    <a:lumMod val="65000"/>
                  </a:schemeClr>
                </a:solidFill>
              </a:rPr>
              <a:t>Detect</a:t>
            </a:r>
          </a:p>
        </p:txBody>
      </p:sp>
      <p:sp>
        <p:nvSpPr>
          <p:cNvPr id="77" name="Rectangle 25"/>
          <p:cNvSpPr>
            <a:spLocks noChangeArrowheads="1"/>
          </p:cNvSpPr>
          <p:nvPr/>
        </p:nvSpPr>
        <p:spPr bwMode="auto">
          <a:xfrm>
            <a:off x="4587170" y="5164839"/>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800" dirty="0" smtClean="0">
                <a:solidFill>
                  <a:schemeClr val="tx1"/>
                </a:solidFill>
              </a:rPr>
              <a:t>Voltage</a:t>
            </a:r>
          </a:p>
          <a:p>
            <a:pPr algn="ctr"/>
            <a:r>
              <a:rPr lang="en-US" sz="800" dirty="0" smtClean="0">
                <a:solidFill>
                  <a:schemeClr val="tx1"/>
                </a:solidFill>
              </a:rPr>
              <a:t>Reference</a:t>
            </a:r>
            <a:endParaRPr lang="en-US" sz="800" dirty="0">
              <a:solidFill>
                <a:schemeClr val="tx1"/>
              </a:solidFill>
            </a:endParaRPr>
          </a:p>
        </p:txBody>
      </p:sp>
      <p:sp>
        <p:nvSpPr>
          <p:cNvPr id="78" name="Rectangle 25"/>
          <p:cNvSpPr>
            <a:spLocks noChangeArrowheads="1"/>
          </p:cNvSpPr>
          <p:nvPr/>
        </p:nvSpPr>
        <p:spPr bwMode="auto">
          <a:xfrm>
            <a:off x="4587170" y="4817262"/>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tx1"/>
                </a:solidFill>
              </a:rPr>
              <a:t>DAC</a:t>
            </a:r>
          </a:p>
        </p:txBody>
      </p:sp>
      <p:sp>
        <p:nvSpPr>
          <p:cNvPr id="86" name="Rectangle 25"/>
          <p:cNvSpPr>
            <a:spLocks noChangeArrowheads="1"/>
          </p:cNvSpPr>
          <p:nvPr/>
        </p:nvSpPr>
        <p:spPr bwMode="auto">
          <a:xfrm>
            <a:off x="5682165" y="5859992"/>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Windowed WDT</a:t>
            </a:r>
          </a:p>
        </p:txBody>
      </p:sp>
      <p:sp>
        <p:nvSpPr>
          <p:cNvPr id="90" name="Rectangle 25"/>
          <p:cNvSpPr>
            <a:spLocks noChangeArrowheads="1"/>
          </p:cNvSpPr>
          <p:nvPr/>
        </p:nvSpPr>
        <p:spPr bwMode="auto">
          <a:xfrm>
            <a:off x="7874830" y="4817262"/>
            <a:ext cx="1011615" cy="30306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tx1"/>
                </a:solidFill>
              </a:rPr>
              <a:t>eXtreme Low Power</a:t>
            </a:r>
          </a:p>
          <a:p>
            <a:pPr marL="182880" indent="-182880" algn="ctr"/>
            <a:r>
              <a:rPr lang="en-US" sz="800" dirty="0" smtClean="0">
                <a:solidFill>
                  <a:schemeClr val="tx1"/>
                </a:solidFill>
              </a:rPr>
              <a:t>XLP Technology</a:t>
            </a:r>
          </a:p>
        </p:txBody>
      </p:sp>
      <p:sp>
        <p:nvSpPr>
          <p:cNvPr id="92" name="Rectangle 25"/>
          <p:cNvSpPr>
            <a:spLocks noChangeArrowheads="1"/>
          </p:cNvSpPr>
          <p:nvPr/>
        </p:nvSpPr>
        <p:spPr bwMode="auto">
          <a:xfrm>
            <a:off x="6777160" y="5859992"/>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8/16/20/24-bit</a:t>
            </a:r>
          </a:p>
          <a:p>
            <a:pPr algn="ctr"/>
            <a:r>
              <a:rPr lang="en-US" sz="800" dirty="0" smtClean="0">
                <a:solidFill>
                  <a:schemeClr val="bg1"/>
                </a:solidFill>
              </a:rPr>
              <a:t>Timers</a:t>
            </a:r>
            <a:endParaRPr lang="en-US" sz="800" dirty="0">
              <a:solidFill>
                <a:schemeClr val="bg1"/>
              </a:solidFill>
            </a:endParaRPr>
          </a:p>
        </p:txBody>
      </p:sp>
      <p:sp>
        <p:nvSpPr>
          <p:cNvPr id="94" name="Rectangle 25"/>
          <p:cNvSpPr>
            <a:spLocks noChangeArrowheads="1"/>
          </p:cNvSpPr>
          <p:nvPr/>
        </p:nvSpPr>
        <p:spPr bwMode="auto">
          <a:xfrm>
            <a:off x="6777160" y="5512416"/>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900" dirty="0" smtClean="0">
                <a:solidFill>
                  <a:schemeClr val="bg1"/>
                </a:solidFill>
              </a:rPr>
              <a:t>TEMP Indicator</a:t>
            </a:r>
            <a:endParaRPr lang="en-US" sz="900" dirty="0">
              <a:solidFill>
                <a:schemeClr val="bg1"/>
              </a:solidFill>
            </a:endParaRPr>
          </a:p>
        </p:txBody>
      </p:sp>
      <p:sp>
        <p:nvSpPr>
          <p:cNvPr id="95" name="Rectangle 25"/>
          <p:cNvSpPr>
            <a:spLocks noChangeArrowheads="1"/>
          </p:cNvSpPr>
          <p:nvPr/>
        </p:nvSpPr>
        <p:spPr bwMode="auto">
          <a:xfrm>
            <a:off x="6777160" y="5164839"/>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Signal</a:t>
            </a:r>
          </a:p>
          <a:p>
            <a:pPr marL="182880" indent="-182880" algn="ctr"/>
            <a:r>
              <a:rPr lang="en-US" sz="800" dirty="0" smtClean="0">
                <a:solidFill>
                  <a:schemeClr val="bg1">
                    <a:lumMod val="65000"/>
                  </a:schemeClr>
                </a:solidFill>
              </a:rPr>
              <a:t>Measurement Timer</a:t>
            </a:r>
          </a:p>
        </p:txBody>
      </p:sp>
      <p:sp>
        <p:nvSpPr>
          <p:cNvPr id="97" name="Rectangle 25"/>
          <p:cNvSpPr>
            <a:spLocks noChangeArrowheads="1"/>
          </p:cNvSpPr>
          <p:nvPr/>
        </p:nvSpPr>
        <p:spPr bwMode="auto">
          <a:xfrm>
            <a:off x="6777160"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Angular Timer</a:t>
            </a:r>
          </a:p>
        </p:txBody>
      </p:sp>
      <p:sp>
        <p:nvSpPr>
          <p:cNvPr id="98" name="Rectangle 25"/>
          <p:cNvSpPr>
            <a:spLocks noChangeArrowheads="1"/>
          </p:cNvSpPr>
          <p:nvPr/>
        </p:nvSpPr>
        <p:spPr bwMode="auto">
          <a:xfrm>
            <a:off x="7874830" y="4469685"/>
            <a:ext cx="1011615" cy="30306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tx1"/>
                </a:solidFill>
              </a:rPr>
              <a:t>Peripheral Pin</a:t>
            </a:r>
          </a:p>
          <a:p>
            <a:pPr marL="182880" indent="-182880" algn="ctr"/>
            <a:r>
              <a:rPr lang="en-US" sz="800" dirty="0" smtClean="0">
                <a:solidFill>
                  <a:schemeClr val="tx1"/>
                </a:solidFill>
              </a:rPr>
              <a:t>Select</a:t>
            </a:r>
            <a:endParaRPr lang="en-US" sz="800" dirty="0">
              <a:solidFill>
                <a:schemeClr val="tx1"/>
              </a:solidFill>
            </a:endParaRPr>
          </a:p>
        </p:txBody>
      </p:sp>
      <p:sp>
        <p:nvSpPr>
          <p:cNvPr id="99" name="Rectangle 25"/>
          <p:cNvSpPr>
            <a:spLocks noChangeArrowheads="1"/>
          </p:cNvSpPr>
          <p:nvPr/>
        </p:nvSpPr>
        <p:spPr bwMode="auto">
          <a:xfrm>
            <a:off x="6777160" y="4122108"/>
            <a:ext cx="1011615" cy="30306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Configurable</a:t>
            </a:r>
          </a:p>
          <a:p>
            <a:pPr marL="182880" indent="-182880" algn="ctr"/>
            <a:r>
              <a:rPr lang="en-US" sz="800" dirty="0" smtClean="0">
                <a:solidFill>
                  <a:schemeClr val="bg1"/>
                </a:solidFill>
              </a:rPr>
              <a:t>Logic Cell</a:t>
            </a:r>
            <a:endParaRPr lang="en-US" sz="800" dirty="0">
              <a:solidFill>
                <a:schemeClr val="bg1"/>
              </a:solidFill>
            </a:endParaRPr>
          </a:p>
        </p:txBody>
      </p:sp>
      <p:sp>
        <p:nvSpPr>
          <p:cNvPr id="101" name="Rectangle 25"/>
          <p:cNvSpPr>
            <a:spLocks noChangeArrowheads="1"/>
          </p:cNvSpPr>
          <p:nvPr/>
        </p:nvSpPr>
        <p:spPr bwMode="auto">
          <a:xfrm>
            <a:off x="6777160" y="4469685"/>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Math</a:t>
            </a:r>
          </a:p>
          <a:p>
            <a:pPr marL="182880" indent="-182880" algn="ctr"/>
            <a:r>
              <a:rPr lang="en-US" sz="800" dirty="0" smtClean="0">
                <a:solidFill>
                  <a:schemeClr val="bg1">
                    <a:lumMod val="65000"/>
                  </a:schemeClr>
                </a:solidFill>
              </a:rPr>
              <a:t>Accelerator</a:t>
            </a:r>
          </a:p>
        </p:txBody>
      </p:sp>
      <p:sp>
        <p:nvSpPr>
          <p:cNvPr id="104" name="Rectangle 25"/>
          <p:cNvSpPr>
            <a:spLocks noChangeArrowheads="1"/>
          </p:cNvSpPr>
          <p:nvPr/>
        </p:nvSpPr>
        <p:spPr bwMode="auto">
          <a:xfrm>
            <a:off x="7874830" y="5512416"/>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EUSART/LIN</a:t>
            </a:r>
          </a:p>
        </p:txBody>
      </p:sp>
      <p:sp>
        <p:nvSpPr>
          <p:cNvPr id="110" name="Rectangle 25"/>
          <p:cNvSpPr>
            <a:spLocks noChangeArrowheads="1"/>
          </p:cNvSpPr>
          <p:nvPr/>
        </p:nvSpPr>
        <p:spPr bwMode="auto">
          <a:xfrm>
            <a:off x="5682165" y="5512416"/>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Hardware</a:t>
            </a:r>
          </a:p>
          <a:p>
            <a:pPr algn="ctr"/>
            <a:r>
              <a:rPr lang="en-US" sz="800" dirty="0" smtClean="0">
                <a:solidFill>
                  <a:schemeClr val="bg1"/>
                </a:solidFill>
              </a:rPr>
              <a:t>Limit Timer</a:t>
            </a:r>
            <a:endParaRPr lang="en-US" sz="800" dirty="0">
              <a:solidFill>
                <a:schemeClr val="bg1"/>
              </a:solidFill>
            </a:endParaRPr>
          </a:p>
        </p:txBody>
      </p:sp>
      <p:sp>
        <p:nvSpPr>
          <p:cNvPr id="115" name="Rectangle 25"/>
          <p:cNvSpPr>
            <a:spLocks noChangeArrowheads="1"/>
          </p:cNvSpPr>
          <p:nvPr/>
        </p:nvSpPr>
        <p:spPr bwMode="auto">
          <a:xfrm>
            <a:off x="5682165"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10b PWM</a:t>
            </a:r>
          </a:p>
        </p:txBody>
      </p:sp>
      <p:sp>
        <p:nvSpPr>
          <p:cNvPr id="118" name="Rectangle 25"/>
          <p:cNvSpPr>
            <a:spLocks noChangeArrowheads="1"/>
          </p:cNvSpPr>
          <p:nvPr/>
        </p:nvSpPr>
        <p:spPr bwMode="auto">
          <a:xfrm>
            <a:off x="4587170" y="4122108"/>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tx1"/>
                </a:solidFill>
              </a:rPr>
              <a:t>ADC</a:t>
            </a:r>
            <a:endParaRPr lang="en-US" sz="900" dirty="0">
              <a:solidFill>
                <a:schemeClr val="tx1"/>
              </a:solidFill>
            </a:endParaRPr>
          </a:p>
        </p:txBody>
      </p:sp>
      <p:sp>
        <p:nvSpPr>
          <p:cNvPr id="119" name="Rectangle 25"/>
          <p:cNvSpPr>
            <a:spLocks noChangeArrowheads="1"/>
          </p:cNvSpPr>
          <p:nvPr/>
        </p:nvSpPr>
        <p:spPr bwMode="auto">
          <a:xfrm>
            <a:off x="5682165" y="4122108"/>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Capture Compare</a:t>
            </a:r>
          </a:p>
          <a:p>
            <a:pPr marL="182880" indent="-182880" algn="ctr"/>
            <a:r>
              <a:rPr lang="en-US" sz="800" dirty="0" smtClean="0">
                <a:solidFill>
                  <a:schemeClr val="bg1">
                    <a:lumMod val="65000"/>
                  </a:schemeClr>
                </a:solidFill>
              </a:rPr>
              <a:t>PWM</a:t>
            </a:r>
          </a:p>
        </p:txBody>
      </p:sp>
      <p:sp>
        <p:nvSpPr>
          <p:cNvPr id="120" name="Rectangle 25"/>
          <p:cNvSpPr>
            <a:spLocks noChangeArrowheads="1"/>
          </p:cNvSpPr>
          <p:nvPr/>
        </p:nvSpPr>
        <p:spPr bwMode="auto">
          <a:xfrm>
            <a:off x="5682165" y="4469685"/>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Complementary</a:t>
            </a:r>
          </a:p>
          <a:p>
            <a:pPr marL="182880" indent="-182880" algn="ctr"/>
            <a:r>
              <a:rPr lang="en-US" sz="800" dirty="0" smtClean="0">
                <a:solidFill>
                  <a:schemeClr val="bg1">
                    <a:lumMod val="65000"/>
                  </a:schemeClr>
                </a:solidFill>
              </a:rPr>
              <a:t>Waveform Generator</a:t>
            </a:r>
          </a:p>
        </p:txBody>
      </p:sp>
      <p:sp>
        <p:nvSpPr>
          <p:cNvPr id="121" name="Rectangle 25"/>
          <p:cNvSpPr>
            <a:spLocks noChangeArrowheads="1"/>
          </p:cNvSpPr>
          <p:nvPr/>
        </p:nvSpPr>
        <p:spPr bwMode="auto">
          <a:xfrm>
            <a:off x="7874830" y="4122108"/>
            <a:ext cx="1011615" cy="30306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tx1"/>
                </a:solidFill>
              </a:rPr>
              <a:t>High Endurance</a:t>
            </a:r>
          </a:p>
          <a:p>
            <a:pPr marL="182880" indent="-182880" algn="ctr"/>
            <a:r>
              <a:rPr lang="en-US" sz="800" dirty="0" smtClean="0">
                <a:solidFill>
                  <a:schemeClr val="tx1"/>
                </a:solidFill>
              </a:rPr>
              <a:t>Flash (Data)</a:t>
            </a:r>
          </a:p>
        </p:txBody>
      </p:sp>
      <p:sp>
        <p:nvSpPr>
          <p:cNvPr id="123" name="Rectangle 25"/>
          <p:cNvSpPr>
            <a:spLocks noChangeArrowheads="1"/>
          </p:cNvSpPr>
          <p:nvPr/>
        </p:nvSpPr>
        <p:spPr bwMode="auto">
          <a:xfrm>
            <a:off x="4587170" y="585999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High Current</a:t>
            </a:r>
          </a:p>
          <a:p>
            <a:pPr marL="182880" indent="-182880" algn="ctr"/>
            <a:r>
              <a:rPr lang="en-US" sz="800" dirty="0" smtClean="0">
                <a:solidFill>
                  <a:schemeClr val="bg1">
                    <a:lumMod val="65000"/>
                  </a:schemeClr>
                </a:solidFill>
              </a:rPr>
              <a:t>100 mA I/O</a:t>
            </a:r>
          </a:p>
        </p:txBody>
      </p:sp>
      <p:sp>
        <p:nvSpPr>
          <p:cNvPr id="41" name="TextBox 40"/>
          <p:cNvSpPr txBox="1"/>
          <p:nvPr/>
        </p:nvSpPr>
        <p:spPr>
          <a:xfrm>
            <a:off x="328248" y="1239915"/>
            <a:ext cx="8487505" cy="1631216"/>
          </a:xfrm>
          <a:prstGeom prst="rect">
            <a:avLst/>
          </a:prstGeom>
          <a:noFill/>
        </p:spPr>
        <p:txBody>
          <a:bodyPr wrap="square" rtlCol="0">
            <a:spAutoFit/>
          </a:bodyPr>
          <a:lstStyle/>
          <a:p>
            <a:r>
              <a:rPr lang="en-US" b="1" dirty="0" smtClean="0"/>
              <a:t>System &amp; Safety Management Functionality Highlights</a:t>
            </a:r>
          </a:p>
          <a:p>
            <a:pPr>
              <a:buFont typeface="Arial" pitchFamily="34" charset="0"/>
              <a:buChar char="•"/>
            </a:pPr>
            <a:r>
              <a:rPr lang="en-US" dirty="0" smtClean="0"/>
              <a:t> Automated corruption detection of memory &amp; communication data</a:t>
            </a:r>
          </a:p>
          <a:p>
            <a:pPr>
              <a:buFont typeface="Arial" pitchFamily="34" charset="0"/>
              <a:buChar char="•"/>
            </a:pPr>
            <a:r>
              <a:rPr lang="en-US" dirty="0" smtClean="0"/>
              <a:t> Monitoring of missed events &amp; fault detection of external hardware</a:t>
            </a:r>
          </a:p>
          <a:p>
            <a:pPr>
              <a:buFont typeface="Arial" pitchFamily="34" charset="0"/>
              <a:buChar char="•"/>
            </a:pPr>
            <a:r>
              <a:rPr lang="en-US" dirty="0" smtClean="0"/>
              <a:t> Flexible peripheral pin mapping</a:t>
            </a:r>
          </a:p>
          <a:p>
            <a:pPr>
              <a:buFont typeface="Arial" pitchFamily="34" charset="0"/>
              <a:buChar char="•"/>
            </a:pPr>
            <a:r>
              <a:rPr lang="en-US" dirty="0" smtClean="0"/>
              <a:t> Customizable system monitoring functions</a:t>
            </a:r>
          </a:p>
        </p:txBody>
      </p:sp>
      <p:sp>
        <p:nvSpPr>
          <p:cNvPr id="40" name="Rectangle 25"/>
          <p:cNvSpPr>
            <a:spLocks noChangeArrowheads="1"/>
          </p:cNvSpPr>
          <p:nvPr/>
        </p:nvSpPr>
        <p:spPr bwMode="auto">
          <a:xfrm>
            <a:off x="7860930" y="5172247"/>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err="1" smtClean="0">
                <a:solidFill>
                  <a:schemeClr val="bg1">
                    <a:lumMod val="65000"/>
                  </a:schemeClr>
                </a:solidFill>
              </a:rPr>
              <a:t>mTouch</a:t>
            </a:r>
            <a:r>
              <a:rPr lang="en-US" sz="900" dirty="0" smtClean="0">
                <a:solidFill>
                  <a:schemeClr val="bg1">
                    <a:lumMod val="65000"/>
                  </a:schemeClr>
                </a:solidFill>
              </a:rPr>
              <a:t>®</a:t>
            </a:r>
          </a:p>
        </p:txBody>
      </p:sp>
      <p:sp>
        <p:nvSpPr>
          <p:cNvPr id="42" name="Rectangle 25"/>
          <p:cNvSpPr>
            <a:spLocks noChangeArrowheads="1"/>
          </p:cNvSpPr>
          <p:nvPr/>
        </p:nvSpPr>
        <p:spPr bwMode="auto">
          <a:xfrm>
            <a:off x="7860930" y="5867400"/>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I</a:t>
            </a:r>
            <a:r>
              <a:rPr lang="en-US" sz="900" baseline="30000" dirty="0" smtClean="0">
                <a:solidFill>
                  <a:schemeClr val="bg1">
                    <a:lumMod val="65000"/>
                  </a:schemeClr>
                </a:solidFill>
              </a:rPr>
              <a:t>2</a:t>
            </a:r>
            <a:r>
              <a:rPr lang="en-US" sz="900" dirty="0" smtClean="0">
                <a:solidFill>
                  <a:schemeClr val="bg1">
                    <a:lumMod val="65000"/>
                  </a:schemeClr>
                </a:solidFill>
              </a:rPr>
              <a:t>C™/SPI </a:t>
            </a:r>
          </a:p>
        </p:txBody>
      </p:sp>
    </p:spTree>
    <p:extLst>
      <p:ext uri="{BB962C8B-B14F-4D97-AF65-F5344CB8AC3E}">
        <p14:creationId xmlns:p14="http://schemas.microsoft.com/office/powerpoint/2010/main" xmlns="" val="15927101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a:spLocks noGrp="1"/>
          </p:cNvSpPr>
          <p:nvPr>
            <p:ph type="title"/>
          </p:nvPr>
        </p:nvSpPr>
        <p:spPr/>
        <p:txBody>
          <a:bodyPr/>
          <a:lstStyle/>
          <a:p>
            <a:r>
              <a:rPr lang="en-US" dirty="0" smtClean="0">
                <a:solidFill>
                  <a:schemeClr val="tx1"/>
                </a:solidFill>
              </a:rPr>
              <a:t>Function Enablement</a:t>
            </a:r>
            <a:r>
              <a:rPr lang="en-US" sz="2800" dirty="0" smtClean="0">
                <a:solidFill>
                  <a:schemeClr val="tx1"/>
                </a:solidFill>
              </a:rPr>
              <a:t/>
            </a:r>
            <a:br>
              <a:rPr lang="en-US" sz="2800" dirty="0" smtClean="0">
                <a:solidFill>
                  <a:schemeClr val="tx1"/>
                </a:solidFill>
              </a:rPr>
            </a:br>
            <a:r>
              <a:rPr lang="en-US" sz="2800" dirty="0" smtClean="0">
                <a:solidFill>
                  <a:schemeClr val="tx1"/>
                </a:solidFill>
              </a:rPr>
              <a:t>Flexible Peripheral Integration</a:t>
            </a:r>
            <a:endParaRPr lang="en-US" dirty="0">
              <a:solidFill>
                <a:schemeClr val="tx1"/>
              </a:solidFill>
            </a:endParaRPr>
          </a:p>
        </p:txBody>
      </p:sp>
      <p:sp>
        <p:nvSpPr>
          <p:cNvPr id="111" name="Rectangle 110"/>
          <p:cNvSpPr/>
          <p:nvPr/>
        </p:nvSpPr>
        <p:spPr>
          <a:xfrm>
            <a:off x="173603" y="3200400"/>
            <a:ext cx="4114800" cy="3200400"/>
          </a:xfrm>
          <a:prstGeom prst="rect">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pPr>
              <a:lnSpc>
                <a:spcPts val="2880"/>
              </a:lnSpc>
            </a:pPr>
            <a:r>
              <a:rPr lang="en-US" sz="1800" b="1" dirty="0" smtClean="0"/>
              <a:t>Application Functions</a:t>
            </a:r>
          </a:p>
        </p:txBody>
      </p:sp>
      <p:sp>
        <p:nvSpPr>
          <p:cNvPr id="65" name="Rounded Rectangle 64"/>
          <p:cNvSpPr/>
          <p:nvPr/>
        </p:nvSpPr>
        <p:spPr>
          <a:xfrm>
            <a:off x="339233" y="5581113"/>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Human Interface</a:t>
            </a:r>
          </a:p>
        </p:txBody>
      </p:sp>
      <p:sp>
        <p:nvSpPr>
          <p:cNvPr id="66" name="Rounded Rectangle 65"/>
          <p:cNvSpPr/>
          <p:nvPr/>
        </p:nvSpPr>
        <p:spPr>
          <a:xfrm>
            <a:off x="339233" y="4965869"/>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System Communications</a:t>
            </a:r>
          </a:p>
        </p:txBody>
      </p:sp>
      <p:sp>
        <p:nvSpPr>
          <p:cNvPr id="67" name="Rounded Rectangle 66"/>
          <p:cNvSpPr/>
          <p:nvPr/>
        </p:nvSpPr>
        <p:spPr>
          <a:xfrm>
            <a:off x="339233" y="5273491"/>
            <a:ext cx="3802095" cy="274320"/>
          </a:xfrm>
          <a:prstGeom prst="roundRect">
            <a:avLst/>
          </a:prstGeom>
          <a:solidFill>
            <a:srgbClr val="003366"/>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solidFill>
              </a:rPr>
              <a:t>Timing &amp; Counting</a:t>
            </a:r>
          </a:p>
        </p:txBody>
      </p:sp>
      <p:sp>
        <p:nvSpPr>
          <p:cNvPr id="106" name="Rounded Rectangle 105"/>
          <p:cNvSpPr/>
          <p:nvPr/>
        </p:nvSpPr>
        <p:spPr>
          <a:xfrm>
            <a:off x="339233" y="4043003"/>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System &amp; Safety Management</a:t>
            </a:r>
          </a:p>
        </p:txBody>
      </p:sp>
      <p:sp>
        <p:nvSpPr>
          <p:cNvPr id="88" name="Rounded Rectangle 87"/>
          <p:cNvSpPr/>
          <p:nvPr/>
        </p:nvSpPr>
        <p:spPr>
          <a:xfrm>
            <a:off x="339233" y="3735381"/>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Motor Control</a:t>
            </a:r>
          </a:p>
        </p:txBody>
      </p:sp>
      <p:sp>
        <p:nvSpPr>
          <p:cNvPr id="84" name="Rounded Rectangle 83"/>
          <p:cNvSpPr/>
          <p:nvPr/>
        </p:nvSpPr>
        <p:spPr>
          <a:xfrm>
            <a:off x="339233" y="4658247"/>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Input &amp; Sensor Interface</a:t>
            </a:r>
          </a:p>
        </p:txBody>
      </p:sp>
      <p:sp>
        <p:nvSpPr>
          <p:cNvPr id="82" name="Rounded Rectangle 81"/>
          <p:cNvSpPr/>
          <p:nvPr/>
        </p:nvSpPr>
        <p:spPr>
          <a:xfrm>
            <a:off x="339233" y="4350625"/>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Output &amp; Signal Generation</a:t>
            </a:r>
          </a:p>
        </p:txBody>
      </p:sp>
      <p:sp>
        <p:nvSpPr>
          <p:cNvPr id="80" name="Rounded Rectangle 79"/>
          <p:cNvSpPr/>
          <p:nvPr/>
        </p:nvSpPr>
        <p:spPr>
          <a:xfrm>
            <a:off x="339233" y="5888738"/>
            <a:ext cx="3802095" cy="274320"/>
          </a:xfrm>
          <a:prstGeom prst="round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1400" b="1" dirty="0" smtClean="0">
                <a:solidFill>
                  <a:schemeClr val="bg1">
                    <a:lumMod val="65000"/>
                  </a:schemeClr>
                </a:solidFill>
              </a:rPr>
              <a:t>Custom Functions</a:t>
            </a:r>
          </a:p>
        </p:txBody>
      </p:sp>
      <p:sp>
        <p:nvSpPr>
          <p:cNvPr id="126" name="Rounded Rectangle 125"/>
          <p:cNvSpPr/>
          <p:nvPr/>
        </p:nvSpPr>
        <p:spPr>
          <a:xfrm>
            <a:off x="4495190" y="3200388"/>
            <a:ext cx="4480560" cy="3200400"/>
          </a:xfrm>
          <a:prstGeom prst="roundRect">
            <a:avLst>
              <a:gd name="adj" fmla="val 5812"/>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tIns="0" rtlCol="0" anchor="t" anchorCtr="1"/>
          <a:lstStyle/>
          <a:p>
            <a:pPr>
              <a:lnSpc>
                <a:spcPts val="2880"/>
              </a:lnSpc>
            </a:pPr>
            <a:r>
              <a:rPr lang="en-US" sz="1800" b="1" dirty="0" smtClean="0"/>
              <a:t>PIC16(L)F161X</a:t>
            </a:r>
            <a:endParaRPr lang="en-US" sz="2400" b="1" dirty="0"/>
          </a:p>
        </p:txBody>
      </p:sp>
      <p:sp>
        <p:nvSpPr>
          <p:cNvPr id="127" name="Rounded Rectangle 126"/>
          <p:cNvSpPr/>
          <p:nvPr/>
        </p:nvSpPr>
        <p:spPr>
          <a:xfrm>
            <a:off x="458717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CPU</a:t>
            </a:r>
            <a:endParaRPr lang="en-US" sz="1400" dirty="0">
              <a:solidFill>
                <a:schemeClr val="tx1"/>
              </a:solidFill>
            </a:endParaRPr>
          </a:p>
        </p:txBody>
      </p:sp>
      <p:sp>
        <p:nvSpPr>
          <p:cNvPr id="128" name="Rounded Rectangle 127"/>
          <p:cNvSpPr/>
          <p:nvPr/>
        </p:nvSpPr>
        <p:spPr>
          <a:xfrm>
            <a:off x="6780650" y="3735381"/>
            <a:ext cx="2103120" cy="319677"/>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Memory</a:t>
            </a:r>
            <a:endParaRPr lang="en-US" sz="1400" dirty="0">
              <a:solidFill>
                <a:schemeClr val="tx1"/>
              </a:solidFill>
            </a:endParaRPr>
          </a:p>
        </p:txBody>
      </p:sp>
      <p:sp>
        <p:nvSpPr>
          <p:cNvPr id="71" name="Rectangle 25"/>
          <p:cNvSpPr>
            <a:spLocks noChangeArrowheads="1"/>
          </p:cNvSpPr>
          <p:nvPr/>
        </p:nvSpPr>
        <p:spPr bwMode="auto">
          <a:xfrm>
            <a:off x="5682165" y="5164839"/>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Cyclical</a:t>
            </a:r>
          </a:p>
          <a:p>
            <a:pPr marL="182880" indent="-182880" algn="ctr"/>
            <a:r>
              <a:rPr lang="en-US" sz="800" dirty="0" smtClean="0">
                <a:solidFill>
                  <a:schemeClr val="bg1">
                    <a:lumMod val="65000"/>
                  </a:schemeClr>
                </a:solidFill>
              </a:rPr>
              <a:t>Redundancy Check</a:t>
            </a:r>
          </a:p>
        </p:txBody>
      </p:sp>
      <p:sp>
        <p:nvSpPr>
          <p:cNvPr id="74" name="Rectangle 25"/>
          <p:cNvSpPr>
            <a:spLocks noChangeArrowheads="1"/>
          </p:cNvSpPr>
          <p:nvPr/>
        </p:nvSpPr>
        <p:spPr bwMode="auto">
          <a:xfrm>
            <a:off x="4587170" y="4469685"/>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tx1"/>
                </a:solidFill>
              </a:rPr>
              <a:t>Comparators</a:t>
            </a:r>
          </a:p>
        </p:txBody>
      </p:sp>
      <p:sp>
        <p:nvSpPr>
          <p:cNvPr id="75" name="Rectangle 25"/>
          <p:cNvSpPr>
            <a:spLocks noChangeArrowheads="1"/>
          </p:cNvSpPr>
          <p:nvPr/>
        </p:nvSpPr>
        <p:spPr bwMode="auto">
          <a:xfrm>
            <a:off x="4587170" y="5512416"/>
            <a:ext cx="1011615" cy="30306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tx1"/>
                </a:solidFill>
              </a:rPr>
              <a:t>Zero Cross</a:t>
            </a:r>
          </a:p>
          <a:p>
            <a:pPr marL="182880" indent="-182880" algn="ctr"/>
            <a:r>
              <a:rPr lang="en-US" sz="800" dirty="0" smtClean="0">
                <a:solidFill>
                  <a:schemeClr val="tx1"/>
                </a:solidFill>
              </a:rPr>
              <a:t>Detect</a:t>
            </a:r>
          </a:p>
        </p:txBody>
      </p:sp>
      <p:sp>
        <p:nvSpPr>
          <p:cNvPr id="77" name="Rectangle 25"/>
          <p:cNvSpPr>
            <a:spLocks noChangeArrowheads="1"/>
          </p:cNvSpPr>
          <p:nvPr/>
        </p:nvSpPr>
        <p:spPr bwMode="auto">
          <a:xfrm>
            <a:off x="4587170" y="5164839"/>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Voltage</a:t>
            </a:r>
          </a:p>
          <a:p>
            <a:pPr marL="182880" indent="-182880" algn="ctr"/>
            <a:r>
              <a:rPr lang="en-US" sz="800" dirty="0" smtClean="0">
                <a:solidFill>
                  <a:schemeClr val="bg1">
                    <a:lumMod val="65000"/>
                  </a:schemeClr>
                </a:solidFill>
              </a:rPr>
              <a:t>Reference</a:t>
            </a:r>
          </a:p>
        </p:txBody>
      </p:sp>
      <p:sp>
        <p:nvSpPr>
          <p:cNvPr id="78" name="Rectangle 25"/>
          <p:cNvSpPr>
            <a:spLocks noChangeArrowheads="1"/>
          </p:cNvSpPr>
          <p:nvPr/>
        </p:nvSpPr>
        <p:spPr bwMode="auto">
          <a:xfrm>
            <a:off x="4587170"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DAC</a:t>
            </a:r>
          </a:p>
        </p:txBody>
      </p:sp>
      <p:sp>
        <p:nvSpPr>
          <p:cNvPr id="86" name="Rectangle 25"/>
          <p:cNvSpPr>
            <a:spLocks noChangeArrowheads="1"/>
          </p:cNvSpPr>
          <p:nvPr/>
        </p:nvSpPr>
        <p:spPr bwMode="auto">
          <a:xfrm>
            <a:off x="5682165" y="5859992"/>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Windowed WDT</a:t>
            </a:r>
          </a:p>
        </p:txBody>
      </p:sp>
      <p:sp>
        <p:nvSpPr>
          <p:cNvPr id="90" name="Rectangle 25"/>
          <p:cNvSpPr>
            <a:spLocks noChangeArrowheads="1"/>
          </p:cNvSpPr>
          <p:nvPr/>
        </p:nvSpPr>
        <p:spPr bwMode="auto">
          <a:xfrm>
            <a:off x="7874830"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eXtreme Low Power</a:t>
            </a:r>
          </a:p>
          <a:p>
            <a:pPr marL="182880" indent="-182880" algn="ctr"/>
            <a:r>
              <a:rPr lang="en-US" sz="800" dirty="0" smtClean="0">
                <a:solidFill>
                  <a:schemeClr val="bg1">
                    <a:lumMod val="65000"/>
                  </a:schemeClr>
                </a:solidFill>
              </a:rPr>
              <a:t>XLP Technology</a:t>
            </a:r>
          </a:p>
        </p:txBody>
      </p:sp>
      <p:sp>
        <p:nvSpPr>
          <p:cNvPr id="92" name="Rectangle 25"/>
          <p:cNvSpPr>
            <a:spLocks noChangeArrowheads="1"/>
          </p:cNvSpPr>
          <p:nvPr/>
        </p:nvSpPr>
        <p:spPr bwMode="auto">
          <a:xfrm>
            <a:off x="6777160" y="5859992"/>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8/16/20/24-bit</a:t>
            </a:r>
          </a:p>
          <a:p>
            <a:pPr algn="ctr"/>
            <a:r>
              <a:rPr lang="en-US" sz="800" dirty="0" smtClean="0">
                <a:solidFill>
                  <a:schemeClr val="bg1"/>
                </a:solidFill>
              </a:rPr>
              <a:t>Timers</a:t>
            </a:r>
            <a:endParaRPr lang="en-US" sz="800" dirty="0">
              <a:solidFill>
                <a:schemeClr val="bg1"/>
              </a:solidFill>
            </a:endParaRPr>
          </a:p>
        </p:txBody>
      </p:sp>
      <p:sp>
        <p:nvSpPr>
          <p:cNvPr id="94" name="Rectangle 25"/>
          <p:cNvSpPr>
            <a:spLocks noChangeArrowheads="1"/>
          </p:cNvSpPr>
          <p:nvPr/>
        </p:nvSpPr>
        <p:spPr bwMode="auto">
          <a:xfrm>
            <a:off x="6777160" y="5512416"/>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algn="ctr"/>
            <a:r>
              <a:rPr lang="en-US" sz="900" dirty="0" smtClean="0">
                <a:solidFill>
                  <a:schemeClr val="bg1">
                    <a:lumMod val="65000"/>
                  </a:schemeClr>
                </a:solidFill>
              </a:rPr>
              <a:t>TEMP Indicator</a:t>
            </a:r>
          </a:p>
        </p:txBody>
      </p:sp>
      <p:sp>
        <p:nvSpPr>
          <p:cNvPr id="95" name="Rectangle 25"/>
          <p:cNvSpPr>
            <a:spLocks noChangeArrowheads="1"/>
          </p:cNvSpPr>
          <p:nvPr/>
        </p:nvSpPr>
        <p:spPr bwMode="auto">
          <a:xfrm>
            <a:off x="6777160" y="5164839"/>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Signal</a:t>
            </a:r>
          </a:p>
          <a:p>
            <a:pPr marL="182880" indent="-182880" algn="ctr"/>
            <a:r>
              <a:rPr lang="en-US" sz="800" dirty="0" smtClean="0">
                <a:solidFill>
                  <a:schemeClr val="bg1"/>
                </a:solidFill>
              </a:rPr>
              <a:t>Measurement Timer</a:t>
            </a:r>
          </a:p>
        </p:txBody>
      </p:sp>
      <p:sp>
        <p:nvSpPr>
          <p:cNvPr id="97" name="Rectangle 25"/>
          <p:cNvSpPr>
            <a:spLocks noChangeArrowheads="1"/>
          </p:cNvSpPr>
          <p:nvPr/>
        </p:nvSpPr>
        <p:spPr bwMode="auto">
          <a:xfrm>
            <a:off x="6777160" y="4817262"/>
            <a:ext cx="1011615" cy="303066"/>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Angular Timer</a:t>
            </a:r>
          </a:p>
        </p:txBody>
      </p:sp>
      <p:sp>
        <p:nvSpPr>
          <p:cNvPr id="98" name="Rectangle 25"/>
          <p:cNvSpPr>
            <a:spLocks noChangeArrowheads="1"/>
          </p:cNvSpPr>
          <p:nvPr/>
        </p:nvSpPr>
        <p:spPr bwMode="auto">
          <a:xfrm>
            <a:off x="7874830" y="4469685"/>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Peripheral Pin</a:t>
            </a:r>
          </a:p>
          <a:p>
            <a:pPr marL="182880" indent="-182880" algn="ctr"/>
            <a:r>
              <a:rPr lang="en-US" sz="800" dirty="0" smtClean="0">
                <a:solidFill>
                  <a:schemeClr val="bg1">
                    <a:lumMod val="65000"/>
                  </a:schemeClr>
                </a:solidFill>
              </a:rPr>
              <a:t>Select</a:t>
            </a:r>
          </a:p>
        </p:txBody>
      </p:sp>
      <p:sp>
        <p:nvSpPr>
          <p:cNvPr id="99" name="Rectangle 25"/>
          <p:cNvSpPr>
            <a:spLocks noChangeArrowheads="1"/>
          </p:cNvSpPr>
          <p:nvPr/>
        </p:nvSpPr>
        <p:spPr bwMode="auto">
          <a:xfrm>
            <a:off x="6777160" y="4122108"/>
            <a:ext cx="1011615" cy="30306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marL="182880" indent="-182880" algn="ctr"/>
            <a:r>
              <a:rPr lang="en-US" sz="800" dirty="0" smtClean="0">
                <a:solidFill>
                  <a:schemeClr val="bg1"/>
                </a:solidFill>
              </a:rPr>
              <a:t>Configurable</a:t>
            </a:r>
          </a:p>
          <a:p>
            <a:pPr marL="182880" indent="-182880" algn="ctr"/>
            <a:r>
              <a:rPr lang="en-US" sz="800" dirty="0" smtClean="0">
                <a:solidFill>
                  <a:schemeClr val="bg1"/>
                </a:solidFill>
              </a:rPr>
              <a:t>Logic Cell</a:t>
            </a:r>
            <a:endParaRPr lang="en-US" sz="800" dirty="0">
              <a:solidFill>
                <a:schemeClr val="bg1"/>
              </a:solidFill>
            </a:endParaRPr>
          </a:p>
        </p:txBody>
      </p:sp>
      <p:sp>
        <p:nvSpPr>
          <p:cNvPr id="101" name="Rectangle 25"/>
          <p:cNvSpPr>
            <a:spLocks noChangeArrowheads="1"/>
          </p:cNvSpPr>
          <p:nvPr/>
        </p:nvSpPr>
        <p:spPr bwMode="auto">
          <a:xfrm>
            <a:off x="6777160" y="4469685"/>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Math</a:t>
            </a:r>
          </a:p>
          <a:p>
            <a:pPr marL="182880" indent="-182880" algn="ctr"/>
            <a:r>
              <a:rPr lang="en-US" sz="800" dirty="0" smtClean="0">
                <a:solidFill>
                  <a:schemeClr val="bg1">
                    <a:lumMod val="65000"/>
                  </a:schemeClr>
                </a:solidFill>
              </a:rPr>
              <a:t>Accelerator</a:t>
            </a:r>
          </a:p>
        </p:txBody>
      </p:sp>
      <p:sp>
        <p:nvSpPr>
          <p:cNvPr id="104" name="Rectangle 25"/>
          <p:cNvSpPr>
            <a:spLocks noChangeArrowheads="1"/>
          </p:cNvSpPr>
          <p:nvPr/>
        </p:nvSpPr>
        <p:spPr bwMode="auto">
          <a:xfrm>
            <a:off x="7874830" y="5512416"/>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EUSART/LIN</a:t>
            </a:r>
          </a:p>
        </p:txBody>
      </p:sp>
      <p:sp>
        <p:nvSpPr>
          <p:cNvPr id="110" name="Rectangle 25"/>
          <p:cNvSpPr>
            <a:spLocks noChangeArrowheads="1"/>
          </p:cNvSpPr>
          <p:nvPr/>
        </p:nvSpPr>
        <p:spPr bwMode="auto">
          <a:xfrm>
            <a:off x="5682165" y="5512416"/>
            <a:ext cx="1011615" cy="303066"/>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0">
            <a:noAutofit/>
          </a:bodyPr>
          <a:lstStyle/>
          <a:p>
            <a:pPr algn="ctr"/>
            <a:r>
              <a:rPr lang="en-US" sz="800" dirty="0" smtClean="0">
                <a:solidFill>
                  <a:schemeClr val="bg1"/>
                </a:solidFill>
              </a:rPr>
              <a:t>Hardware</a:t>
            </a:r>
          </a:p>
          <a:p>
            <a:pPr algn="ctr"/>
            <a:r>
              <a:rPr lang="en-US" sz="800" dirty="0" smtClean="0">
                <a:solidFill>
                  <a:schemeClr val="bg1"/>
                </a:solidFill>
              </a:rPr>
              <a:t>Limit Timer</a:t>
            </a:r>
            <a:endParaRPr lang="en-US" sz="800" dirty="0">
              <a:solidFill>
                <a:schemeClr val="bg1"/>
              </a:solidFill>
            </a:endParaRPr>
          </a:p>
        </p:txBody>
      </p:sp>
      <p:sp>
        <p:nvSpPr>
          <p:cNvPr id="115" name="Rectangle 25"/>
          <p:cNvSpPr>
            <a:spLocks noChangeArrowheads="1"/>
          </p:cNvSpPr>
          <p:nvPr/>
        </p:nvSpPr>
        <p:spPr bwMode="auto">
          <a:xfrm>
            <a:off x="5682165" y="481726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10b PWM</a:t>
            </a:r>
          </a:p>
        </p:txBody>
      </p:sp>
      <p:sp>
        <p:nvSpPr>
          <p:cNvPr id="118" name="Rectangle 25"/>
          <p:cNvSpPr>
            <a:spLocks noChangeArrowheads="1"/>
          </p:cNvSpPr>
          <p:nvPr/>
        </p:nvSpPr>
        <p:spPr bwMode="auto">
          <a:xfrm>
            <a:off x="4587170" y="4122108"/>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ADC</a:t>
            </a:r>
          </a:p>
        </p:txBody>
      </p:sp>
      <p:sp>
        <p:nvSpPr>
          <p:cNvPr id="119" name="Rectangle 25"/>
          <p:cNvSpPr>
            <a:spLocks noChangeArrowheads="1"/>
          </p:cNvSpPr>
          <p:nvPr/>
        </p:nvSpPr>
        <p:spPr bwMode="auto">
          <a:xfrm>
            <a:off x="5682165" y="4122108"/>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Capture Compare</a:t>
            </a:r>
          </a:p>
          <a:p>
            <a:pPr marL="182880" indent="-182880" algn="ctr"/>
            <a:r>
              <a:rPr lang="en-US" sz="800" dirty="0" smtClean="0">
                <a:solidFill>
                  <a:schemeClr val="bg1">
                    <a:lumMod val="65000"/>
                  </a:schemeClr>
                </a:solidFill>
              </a:rPr>
              <a:t>PWM</a:t>
            </a:r>
          </a:p>
        </p:txBody>
      </p:sp>
      <p:sp>
        <p:nvSpPr>
          <p:cNvPr id="120" name="Rectangle 25"/>
          <p:cNvSpPr>
            <a:spLocks noChangeArrowheads="1"/>
          </p:cNvSpPr>
          <p:nvPr/>
        </p:nvSpPr>
        <p:spPr bwMode="auto">
          <a:xfrm>
            <a:off x="5682165" y="4469685"/>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Complementary</a:t>
            </a:r>
          </a:p>
          <a:p>
            <a:pPr marL="182880" indent="-182880" algn="ctr"/>
            <a:r>
              <a:rPr lang="en-US" sz="800" dirty="0" smtClean="0">
                <a:solidFill>
                  <a:schemeClr val="bg1">
                    <a:lumMod val="65000"/>
                  </a:schemeClr>
                </a:solidFill>
              </a:rPr>
              <a:t>Waveform Generator</a:t>
            </a:r>
          </a:p>
        </p:txBody>
      </p:sp>
      <p:sp>
        <p:nvSpPr>
          <p:cNvPr id="121" name="Rectangle 25"/>
          <p:cNvSpPr>
            <a:spLocks noChangeArrowheads="1"/>
          </p:cNvSpPr>
          <p:nvPr/>
        </p:nvSpPr>
        <p:spPr bwMode="auto">
          <a:xfrm>
            <a:off x="7874830" y="4122108"/>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High Endurance</a:t>
            </a:r>
          </a:p>
          <a:p>
            <a:pPr marL="182880" indent="-182880" algn="ctr"/>
            <a:r>
              <a:rPr lang="en-US" sz="800" dirty="0" smtClean="0">
                <a:solidFill>
                  <a:schemeClr val="bg1">
                    <a:lumMod val="65000"/>
                  </a:schemeClr>
                </a:solidFill>
              </a:rPr>
              <a:t>Flash (Data)</a:t>
            </a:r>
          </a:p>
        </p:txBody>
      </p:sp>
      <p:sp>
        <p:nvSpPr>
          <p:cNvPr id="123" name="Rectangle 25"/>
          <p:cNvSpPr>
            <a:spLocks noChangeArrowheads="1"/>
          </p:cNvSpPr>
          <p:nvPr/>
        </p:nvSpPr>
        <p:spPr bwMode="auto">
          <a:xfrm>
            <a:off x="4587170" y="5859992"/>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800" dirty="0" smtClean="0">
                <a:solidFill>
                  <a:schemeClr val="bg1">
                    <a:lumMod val="65000"/>
                  </a:schemeClr>
                </a:solidFill>
              </a:rPr>
              <a:t>High Current</a:t>
            </a:r>
          </a:p>
          <a:p>
            <a:pPr marL="182880" indent="-182880" algn="ctr"/>
            <a:r>
              <a:rPr lang="en-US" sz="800" dirty="0" smtClean="0">
                <a:solidFill>
                  <a:schemeClr val="bg1">
                    <a:lumMod val="65000"/>
                  </a:schemeClr>
                </a:solidFill>
              </a:rPr>
              <a:t>100 mA I/O</a:t>
            </a:r>
          </a:p>
        </p:txBody>
      </p:sp>
      <p:sp>
        <p:nvSpPr>
          <p:cNvPr id="41" name="TextBox 40"/>
          <p:cNvSpPr txBox="1"/>
          <p:nvPr/>
        </p:nvSpPr>
        <p:spPr>
          <a:xfrm>
            <a:off x="328248" y="1239915"/>
            <a:ext cx="8487505" cy="1631216"/>
          </a:xfrm>
          <a:prstGeom prst="rect">
            <a:avLst/>
          </a:prstGeom>
          <a:noFill/>
        </p:spPr>
        <p:txBody>
          <a:bodyPr wrap="square" rtlCol="0">
            <a:spAutoFit/>
          </a:bodyPr>
          <a:lstStyle/>
          <a:p>
            <a:r>
              <a:rPr lang="en-US" b="1" dirty="0" smtClean="0"/>
              <a:t>Timing &amp; Counting Functionality Highlights</a:t>
            </a:r>
          </a:p>
          <a:p>
            <a:pPr>
              <a:buFont typeface="Arial" pitchFamily="34" charset="0"/>
              <a:buChar char="•"/>
            </a:pPr>
            <a:r>
              <a:rPr lang="en-US" dirty="0" smtClean="0"/>
              <a:t> Phase angle timer for rotational and periodic events</a:t>
            </a:r>
          </a:p>
          <a:p>
            <a:pPr>
              <a:buFont typeface="Arial" pitchFamily="34" charset="0"/>
              <a:buChar char="•"/>
            </a:pPr>
            <a:r>
              <a:rPr lang="en-US" dirty="0" smtClean="0"/>
              <a:t> Hardware fail-safe monitoring</a:t>
            </a:r>
          </a:p>
          <a:p>
            <a:pPr>
              <a:buFont typeface="Arial" pitchFamily="34" charset="0"/>
              <a:buChar char="•"/>
            </a:pPr>
            <a:r>
              <a:rPr lang="en-US" dirty="0" smtClean="0"/>
              <a:t> Detection of software timing anomalies within critical window</a:t>
            </a:r>
          </a:p>
          <a:p>
            <a:pPr>
              <a:buFont typeface="Arial" pitchFamily="34" charset="0"/>
              <a:buChar char="•"/>
            </a:pPr>
            <a:r>
              <a:rPr lang="en-US" dirty="0" smtClean="0"/>
              <a:t> Up to 24-bit measurement of any digital signal</a:t>
            </a:r>
          </a:p>
        </p:txBody>
      </p:sp>
      <p:sp>
        <p:nvSpPr>
          <p:cNvPr id="40" name="Rectangle 25"/>
          <p:cNvSpPr>
            <a:spLocks noChangeArrowheads="1"/>
          </p:cNvSpPr>
          <p:nvPr/>
        </p:nvSpPr>
        <p:spPr bwMode="auto">
          <a:xfrm>
            <a:off x="7873260" y="5181600"/>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err="1" smtClean="0">
                <a:solidFill>
                  <a:schemeClr val="bg1">
                    <a:lumMod val="65000"/>
                  </a:schemeClr>
                </a:solidFill>
              </a:rPr>
              <a:t>mTouch</a:t>
            </a:r>
            <a:r>
              <a:rPr lang="en-US" sz="900" dirty="0" smtClean="0">
                <a:solidFill>
                  <a:schemeClr val="bg1">
                    <a:lumMod val="65000"/>
                  </a:schemeClr>
                </a:solidFill>
              </a:rPr>
              <a:t>®</a:t>
            </a:r>
          </a:p>
        </p:txBody>
      </p:sp>
      <p:sp>
        <p:nvSpPr>
          <p:cNvPr id="42" name="Rectangle 25"/>
          <p:cNvSpPr>
            <a:spLocks noChangeArrowheads="1"/>
          </p:cNvSpPr>
          <p:nvPr/>
        </p:nvSpPr>
        <p:spPr bwMode="auto">
          <a:xfrm>
            <a:off x="7873260" y="5867400"/>
            <a:ext cx="1011615" cy="303066"/>
          </a:xfrm>
          <a:prstGeom prst="rect">
            <a:avLst/>
          </a:prstGeom>
          <a:solidFill>
            <a:schemeClr val="bg1">
              <a:lumMod val="85000"/>
            </a:schemeClr>
          </a:solidFill>
          <a:ln>
            <a:headEnd/>
            <a:tailEnd/>
          </a:ln>
        </p:spPr>
        <p:style>
          <a:lnRef idx="0">
            <a:schemeClr val="accent2"/>
          </a:lnRef>
          <a:fillRef idx="3">
            <a:schemeClr val="accent2"/>
          </a:fillRef>
          <a:effectRef idx="3">
            <a:schemeClr val="accent2"/>
          </a:effectRef>
          <a:fontRef idx="minor">
            <a:schemeClr val="lt1"/>
          </a:fontRef>
        </p:style>
        <p:txBody>
          <a:bodyPr wrap="square" lIns="0" tIns="91440" rIns="0" bIns="91440" anchor="ctr" anchorCtr="1">
            <a:noAutofit/>
          </a:bodyPr>
          <a:lstStyle/>
          <a:p>
            <a:pPr marL="182880" indent="-182880" algn="ctr"/>
            <a:r>
              <a:rPr lang="en-US" sz="900" dirty="0" smtClean="0">
                <a:solidFill>
                  <a:schemeClr val="bg1">
                    <a:lumMod val="65000"/>
                  </a:schemeClr>
                </a:solidFill>
              </a:rPr>
              <a:t>I</a:t>
            </a:r>
            <a:r>
              <a:rPr lang="en-US" sz="900" baseline="30000" dirty="0" smtClean="0">
                <a:solidFill>
                  <a:schemeClr val="bg1">
                    <a:lumMod val="65000"/>
                  </a:schemeClr>
                </a:solidFill>
              </a:rPr>
              <a:t>2</a:t>
            </a:r>
            <a:r>
              <a:rPr lang="en-US" sz="900" dirty="0" smtClean="0">
                <a:solidFill>
                  <a:schemeClr val="bg1">
                    <a:lumMod val="65000"/>
                  </a:schemeClr>
                </a:solidFill>
              </a:rPr>
              <a:t>C™/SPI </a:t>
            </a:r>
          </a:p>
        </p:txBody>
      </p:sp>
    </p:spTree>
    <p:extLst>
      <p:ext uri="{BB962C8B-B14F-4D97-AF65-F5344CB8AC3E}">
        <p14:creationId xmlns:p14="http://schemas.microsoft.com/office/powerpoint/2010/main" xmlns="" val="25564395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Function Enablement</a:t>
            </a:r>
            <a:endParaRPr lang="en-US" sz="2800" dirty="0">
              <a:solidFill>
                <a:schemeClr val="tx1"/>
              </a:solidFill>
            </a:endParaRPr>
          </a:p>
        </p:txBody>
      </p:sp>
      <p:sp>
        <p:nvSpPr>
          <p:cNvPr id="156" name="Rounded Rectangle 155"/>
          <p:cNvSpPr/>
          <p:nvPr/>
        </p:nvSpPr>
        <p:spPr>
          <a:xfrm>
            <a:off x="83946" y="2476195"/>
            <a:ext cx="1645920" cy="914400"/>
          </a:xfrm>
          <a:prstGeom prst="roundRect">
            <a:avLst>
              <a:gd name="adj" fmla="val 12141"/>
            </a:avLst>
          </a:prstGeom>
          <a:solidFill>
            <a:schemeClr val="accent3">
              <a:lumMod val="7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Motor  </a:t>
            </a:r>
            <a:endParaRPr lang="en-US" sz="1400" dirty="0">
              <a:solidFill>
                <a:schemeClr val="tx1"/>
              </a:solidFill>
            </a:endParaRPr>
          </a:p>
        </p:txBody>
      </p:sp>
      <p:sp>
        <p:nvSpPr>
          <p:cNvPr id="158" name="Rounded Rectangle 157"/>
          <p:cNvSpPr/>
          <p:nvPr/>
        </p:nvSpPr>
        <p:spPr>
          <a:xfrm>
            <a:off x="7315099" y="3962400"/>
            <a:ext cx="1645920" cy="365760"/>
          </a:xfrm>
          <a:prstGeom prst="roundRect">
            <a:avLst>
              <a:gd name="adj" fmla="val 12141"/>
            </a:avLst>
          </a:prstGeom>
          <a:solidFill>
            <a:srgbClr val="BFBFBF"/>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TRIAC </a:t>
            </a:r>
            <a:endParaRPr lang="en-US" sz="1400" dirty="0">
              <a:solidFill>
                <a:schemeClr val="tx1"/>
              </a:solidFill>
            </a:endParaRPr>
          </a:p>
        </p:txBody>
      </p:sp>
      <p:sp>
        <p:nvSpPr>
          <p:cNvPr id="13" name="Rectangle 12"/>
          <p:cNvSpPr/>
          <p:nvPr/>
        </p:nvSpPr>
        <p:spPr>
          <a:xfrm>
            <a:off x="761226" y="3390005"/>
            <a:ext cx="228600" cy="1447800"/>
          </a:xfrm>
          <a:prstGeom prst="rect">
            <a:avLst/>
          </a:pr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53"/>
          <p:cNvGrpSpPr/>
          <p:nvPr/>
        </p:nvGrpSpPr>
        <p:grpSpPr>
          <a:xfrm>
            <a:off x="2108716" y="1355130"/>
            <a:ext cx="4846320" cy="5120640"/>
            <a:chOff x="2148840" y="1355130"/>
            <a:chExt cx="4846320" cy="5120640"/>
          </a:xfrm>
        </p:grpSpPr>
        <p:sp>
          <p:nvSpPr>
            <p:cNvPr id="46" name="Rounded Rectangle 45"/>
            <p:cNvSpPr/>
            <p:nvPr/>
          </p:nvSpPr>
          <p:spPr>
            <a:xfrm>
              <a:off x="2148840" y="1355130"/>
              <a:ext cx="4846320" cy="5120640"/>
            </a:xfrm>
            <a:prstGeom prst="roundRect">
              <a:avLst>
                <a:gd name="adj" fmla="val 5812"/>
              </a:avLst>
            </a:prstGeom>
            <a:gradFill>
              <a:gsLst>
                <a:gs pos="0">
                  <a:srgbClr val="FFFFFF"/>
                </a:gs>
                <a:gs pos="7001">
                  <a:srgbClr val="E6E6E6"/>
                </a:gs>
                <a:gs pos="32001">
                  <a:srgbClr val="7D8496"/>
                </a:gs>
                <a:gs pos="47000">
                  <a:srgbClr val="E6E6E6"/>
                </a:gs>
                <a:gs pos="85001">
                  <a:srgbClr val="7D8496"/>
                </a:gs>
                <a:gs pos="100000">
                  <a:srgbClr val="E6E6E6"/>
                </a:gs>
              </a:gsLst>
              <a:lin ang="16200000" scaled="0"/>
            </a:gra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r>
                <a:rPr lang="en-US" sz="1800" b="1" dirty="0" smtClean="0"/>
                <a:t>8-bit PIC</a:t>
              </a:r>
              <a:r>
                <a:rPr lang="en-US" sz="1800" b="1" baseline="30000" dirty="0" smtClean="0"/>
                <a:t>®</a:t>
              </a:r>
              <a:r>
                <a:rPr lang="en-US" sz="1800" b="1" dirty="0" smtClean="0"/>
                <a:t> Microcontrollers</a:t>
              </a:r>
              <a:endParaRPr lang="en-US" sz="2400" b="1" dirty="0"/>
            </a:p>
          </p:txBody>
        </p:sp>
        <p:sp>
          <p:nvSpPr>
            <p:cNvPr id="47" name="Rounded Rectangle 46"/>
            <p:cNvSpPr/>
            <p:nvPr/>
          </p:nvSpPr>
          <p:spPr>
            <a:xfrm>
              <a:off x="2398085" y="1798695"/>
              <a:ext cx="1950589" cy="420350"/>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CPU</a:t>
              </a:r>
              <a:endParaRPr lang="en-US" sz="1400" dirty="0">
                <a:solidFill>
                  <a:schemeClr val="tx1"/>
                </a:solidFill>
              </a:endParaRPr>
            </a:p>
          </p:txBody>
        </p:sp>
        <p:sp>
          <p:nvSpPr>
            <p:cNvPr id="48" name="Rounded Rectangle 47"/>
            <p:cNvSpPr/>
            <p:nvPr/>
          </p:nvSpPr>
          <p:spPr>
            <a:xfrm>
              <a:off x="4744096" y="1798695"/>
              <a:ext cx="1950589" cy="420350"/>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Memory</a:t>
              </a:r>
              <a:endParaRPr lang="en-US" sz="1400" dirty="0">
                <a:solidFill>
                  <a:schemeClr val="tx1"/>
                </a:solidFill>
              </a:endParaRPr>
            </a:p>
          </p:txBody>
        </p:sp>
      </p:grpSp>
      <p:sp>
        <p:nvSpPr>
          <p:cNvPr id="31" name="Rounded Rectangle 30"/>
          <p:cNvSpPr/>
          <p:nvPr/>
        </p:nvSpPr>
        <p:spPr>
          <a:xfrm>
            <a:off x="2158484" y="5459381"/>
            <a:ext cx="4724400" cy="815649"/>
          </a:xfrm>
          <a:prstGeom prst="roundRect">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r>
              <a:rPr lang="en-US" sz="1100" b="1" dirty="0" smtClean="0">
                <a:solidFill>
                  <a:schemeClr val="bg1"/>
                </a:solidFill>
              </a:rPr>
              <a:t>System &amp; Safety Management </a:t>
            </a:r>
          </a:p>
        </p:txBody>
      </p:sp>
      <p:sp>
        <p:nvSpPr>
          <p:cNvPr id="28" name="Rounded Rectangle 27"/>
          <p:cNvSpPr/>
          <p:nvPr/>
        </p:nvSpPr>
        <p:spPr>
          <a:xfrm>
            <a:off x="4597494" y="3810000"/>
            <a:ext cx="2286000" cy="1219200"/>
          </a:xfrm>
          <a:prstGeom prst="roundRect">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r>
              <a:rPr lang="en-US" sz="1100" b="1" dirty="0" smtClean="0">
                <a:solidFill>
                  <a:schemeClr val="bg1"/>
                </a:solidFill>
              </a:rPr>
              <a:t>TRIAC Control</a:t>
            </a:r>
            <a:endParaRPr lang="en-US" sz="1100" b="1" dirty="0">
              <a:solidFill>
                <a:schemeClr val="bg1"/>
              </a:solidFill>
            </a:endParaRPr>
          </a:p>
        </p:txBody>
      </p:sp>
      <p:sp>
        <p:nvSpPr>
          <p:cNvPr id="27" name="Rounded Rectangle 26"/>
          <p:cNvSpPr/>
          <p:nvPr/>
        </p:nvSpPr>
        <p:spPr>
          <a:xfrm>
            <a:off x="4564968" y="2287990"/>
            <a:ext cx="2286000" cy="1293410"/>
          </a:xfrm>
          <a:prstGeom prst="roundRect">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r>
              <a:rPr lang="en-US" sz="1100" b="1" dirty="0" smtClean="0">
                <a:solidFill>
                  <a:schemeClr val="bg1"/>
                </a:solidFill>
              </a:rPr>
              <a:t>Sensor &amp; Signal Interface</a:t>
            </a:r>
          </a:p>
        </p:txBody>
      </p:sp>
      <p:sp>
        <p:nvSpPr>
          <p:cNvPr id="163" name="Rectangle 25"/>
          <p:cNvSpPr>
            <a:spLocks noChangeArrowheads="1"/>
          </p:cNvSpPr>
          <p:nvPr/>
        </p:nvSpPr>
        <p:spPr bwMode="auto">
          <a:xfrm>
            <a:off x="4674304" y="2633328"/>
            <a:ext cx="1011615" cy="35973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900" dirty="0" smtClean="0">
                <a:solidFill>
                  <a:schemeClr val="tx1"/>
                </a:solidFill>
              </a:rPr>
              <a:t>ADC</a:t>
            </a:r>
            <a:endParaRPr lang="en-US" sz="900" dirty="0">
              <a:solidFill>
                <a:schemeClr val="tx1"/>
              </a:solidFill>
            </a:endParaRPr>
          </a:p>
        </p:txBody>
      </p:sp>
      <p:sp>
        <p:nvSpPr>
          <p:cNvPr id="105" name="Up Arrow 104"/>
          <p:cNvSpPr/>
          <p:nvPr/>
        </p:nvSpPr>
        <p:spPr>
          <a:xfrm rot="16200000" flipH="1">
            <a:off x="6882592" y="2743356"/>
            <a:ext cx="441656" cy="556871"/>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grpSp>
        <p:nvGrpSpPr>
          <p:cNvPr id="9" name="Group 65"/>
          <p:cNvGrpSpPr/>
          <p:nvPr/>
        </p:nvGrpSpPr>
        <p:grpSpPr>
          <a:xfrm>
            <a:off x="2187129" y="2288657"/>
            <a:ext cx="2286000" cy="1638438"/>
            <a:chOff x="2238445" y="2446017"/>
            <a:chExt cx="2286000" cy="1005840"/>
          </a:xfrm>
        </p:grpSpPr>
        <p:sp>
          <p:nvSpPr>
            <p:cNvPr id="29" name="Rounded Rectangle 28"/>
            <p:cNvSpPr/>
            <p:nvPr/>
          </p:nvSpPr>
          <p:spPr>
            <a:xfrm>
              <a:off x="2238445" y="2446017"/>
              <a:ext cx="2286000" cy="1005840"/>
            </a:xfrm>
            <a:prstGeom prst="roundRect">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r>
                <a:rPr lang="en-US" sz="1100" b="1" dirty="0" smtClean="0">
                  <a:solidFill>
                    <a:schemeClr val="bg1"/>
                  </a:solidFill>
                </a:rPr>
                <a:t>Motor Control</a:t>
              </a:r>
            </a:p>
          </p:txBody>
        </p:sp>
        <p:sp>
          <p:nvSpPr>
            <p:cNvPr id="169" name="Rectangle 25"/>
            <p:cNvSpPr>
              <a:spLocks noChangeArrowheads="1"/>
            </p:cNvSpPr>
            <p:nvPr/>
          </p:nvSpPr>
          <p:spPr bwMode="auto">
            <a:xfrm>
              <a:off x="2306105" y="2909588"/>
              <a:ext cx="1011615" cy="217105"/>
            </a:xfrm>
            <a:prstGeom prst="rect">
              <a:avLst/>
            </a:prstGeom>
            <a:gradFill>
              <a:gsLst>
                <a:gs pos="0">
                  <a:srgbClr val="7030A0"/>
                </a:gs>
                <a:gs pos="80000">
                  <a:srgbClr val="7030A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lumMod val="95000"/>
                    </a:schemeClr>
                  </a:solidFill>
                </a:rPr>
                <a:t>10b/16b PWM</a:t>
              </a:r>
              <a:endParaRPr lang="en-US" sz="900" dirty="0">
                <a:solidFill>
                  <a:schemeClr val="bg1">
                    <a:lumMod val="95000"/>
                  </a:schemeClr>
                </a:solidFill>
              </a:endParaRPr>
            </a:p>
          </p:txBody>
        </p:sp>
      </p:grpSp>
      <p:sp>
        <p:nvSpPr>
          <p:cNvPr id="50" name="Rectangle 25"/>
          <p:cNvSpPr>
            <a:spLocks noChangeArrowheads="1"/>
          </p:cNvSpPr>
          <p:nvPr/>
        </p:nvSpPr>
        <p:spPr bwMode="auto">
          <a:xfrm>
            <a:off x="2254789" y="2621325"/>
            <a:ext cx="1011615" cy="359736"/>
          </a:xfrm>
          <a:prstGeom prst="rect">
            <a:avLst/>
          </a:prstGeom>
          <a:gradFill>
            <a:gsLst>
              <a:gs pos="0">
                <a:srgbClr val="7030A0"/>
              </a:gs>
              <a:gs pos="80000">
                <a:srgbClr val="7030A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lumMod val="95000"/>
                  </a:schemeClr>
                </a:solidFill>
              </a:rPr>
              <a:t>Capture Compare PWM</a:t>
            </a:r>
            <a:endParaRPr lang="en-US" sz="900" dirty="0">
              <a:solidFill>
                <a:schemeClr val="bg1">
                  <a:lumMod val="95000"/>
                </a:schemeClr>
              </a:solidFill>
            </a:endParaRPr>
          </a:p>
        </p:txBody>
      </p:sp>
      <p:sp>
        <p:nvSpPr>
          <p:cNvPr id="52" name="Rectangle 25"/>
          <p:cNvSpPr>
            <a:spLocks noChangeArrowheads="1"/>
          </p:cNvSpPr>
          <p:nvPr/>
        </p:nvSpPr>
        <p:spPr bwMode="auto">
          <a:xfrm>
            <a:off x="5749644" y="2625574"/>
            <a:ext cx="1011615" cy="359736"/>
          </a:xfrm>
          <a:prstGeom prst="rect">
            <a:avLst/>
          </a:prstGeom>
          <a:gradFill>
            <a:gsLst>
              <a:gs pos="0">
                <a:srgbClr val="0000FF"/>
              </a:gs>
              <a:gs pos="80000">
                <a:srgbClr val="0000FF"/>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lumMod val="95000"/>
                  </a:schemeClr>
                </a:solidFill>
              </a:rPr>
              <a:t>TEMP Indicator</a:t>
            </a:r>
            <a:endParaRPr lang="en-US" sz="900" dirty="0">
              <a:solidFill>
                <a:schemeClr val="bg1">
                  <a:lumMod val="95000"/>
                </a:schemeClr>
              </a:solidFill>
            </a:endParaRPr>
          </a:p>
        </p:txBody>
      </p:sp>
      <p:sp>
        <p:nvSpPr>
          <p:cNvPr id="56" name="Rectangle 25"/>
          <p:cNvSpPr>
            <a:spLocks noChangeArrowheads="1"/>
          </p:cNvSpPr>
          <p:nvPr/>
        </p:nvSpPr>
        <p:spPr bwMode="auto">
          <a:xfrm>
            <a:off x="2254789" y="5794100"/>
            <a:ext cx="1011615" cy="359736"/>
          </a:xfrm>
          <a:prstGeom prst="rect">
            <a:avLst/>
          </a:prstGeom>
          <a:gradFill>
            <a:gsLst>
              <a:gs pos="0">
                <a:srgbClr val="FF0000"/>
              </a:gs>
              <a:gs pos="80000">
                <a:srgbClr val="FF000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700" dirty="0" smtClean="0">
                <a:solidFill>
                  <a:schemeClr val="tx1"/>
                </a:solidFill>
              </a:rPr>
              <a:t>Cyclical Redundancy Check</a:t>
            </a:r>
            <a:endParaRPr lang="en-US" sz="700" dirty="0">
              <a:solidFill>
                <a:schemeClr val="tx1"/>
              </a:solidFill>
            </a:endParaRPr>
          </a:p>
        </p:txBody>
      </p:sp>
      <p:sp>
        <p:nvSpPr>
          <p:cNvPr id="57" name="Rectangle 25"/>
          <p:cNvSpPr>
            <a:spLocks noChangeArrowheads="1"/>
          </p:cNvSpPr>
          <p:nvPr/>
        </p:nvSpPr>
        <p:spPr bwMode="auto">
          <a:xfrm>
            <a:off x="3368534" y="5795385"/>
            <a:ext cx="1011615" cy="359736"/>
          </a:xfrm>
          <a:prstGeom prst="rect">
            <a:avLst/>
          </a:prstGeom>
          <a:gradFill>
            <a:gsLst>
              <a:gs pos="0">
                <a:srgbClr val="FF0000"/>
              </a:gs>
              <a:gs pos="80000">
                <a:srgbClr val="FF000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tx1"/>
                </a:solidFill>
              </a:rPr>
              <a:t>Windowed WDT</a:t>
            </a:r>
            <a:endParaRPr lang="en-US" sz="900" dirty="0">
              <a:solidFill>
                <a:schemeClr val="tx1"/>
              </a:solidFill>
            </a:endParaRPr>
          </a:p>
        </p:txBody>
      </p:sp>
      <p:sp>
        <p:nvSpPr>
          <p:cNvPr id="59" name="Rounded Rectangle 58"/>
          <p:cNvSpPr/>
          <p:nvPr/>
        </p:nvSpPr>
        <p:spPr>
          <a:xfrm>
            <a:off x="2177979" y="4190999"/>
            <a:ext cx="2286000" cy="1143001"/>
          </a:xfrm>
          <a:prstGeom prst="roundRect">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r>
              <a:rPr lang="en-US" sz="1100" b="1" dirty="0" smtClean="0">
                <a:solidFill>
                  <a:schemeClr val="bg1"/>
                </a:solidFill>
              </a:rPr>
              <a:t>  Monitoring</a:t>
            </a:r>
          </a:p>
        </p:txBody>
      </p:sp>
      <p:sp>
        <p:nvSpPr>
          <p:cNvPr id="58" name="Rectangle 25"/>
          <p:cNvSpPr>
            <a:spLocks noChangeArrowheads="1"/>
          </p:cNvSpPr>
          <p:nvPr/>
        </p:nvSpPr>
        <p:spPr bwMode="auto">
          <a:xfrm>
            <a:off x="5749644" y="3048029"/>
            <a:ext cx="1011615" cy="35973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900" dirty="0" smtClean="0">
                <a:solidFill>
                  <a:schemeClr val="tx1"/>
                </a:solidFill>
              </a:rPr>
              <a:t>DAC</a:t>
            </a:r>
            <a:endParaRPr lang="en-US" sz="900" dirty="0">
              <a:solidFill>
                <a:schemeClr val="tx1"/>
              </a:solidFill>
            </a:endParaRPr>
          </a:p>
        </p:txBody>
      </p:sp>
      <p:sp>
        <p:nvSpPr>
          <p:cNvPr id="55" name="Rectangle 25"/>
          <p:cNvSpPr>
            <a:spLocks noChangeArrowheads="1"/>
          </p:cNvSpPr>
          <p:nvPr/>
        </p:nvSpPr>
        <p:spPr bwMode="auto">
          <a:xfrm>
            <a:off x="3377684" y="4495800"/>
            <a:ext cx="1011615" cy="359736"/>
          </a:xfrm>
          <a:prstGeom prst="rect">
            <a:avLst/>
          </a:prstGeom>
          <a:gradFill>
            <a:gsLst>
              <a:gs pos="0">
                <a:srgbClr val="FF0000"/>
              </a:gs>
              <a:gs pos="80000">
                <a:srgbClr val="FF000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tx1"/>
                </a:solidFill>
              </a:rPr>
              <a:t>Hardware Limit Timer</a:t>
            </a:r>
            <a:endParaRPr lang="en-US" sz="900" dirty="0">
              <a:solidFill>
                <a:schemeClr val="tx1"/>
              </a:solidFill>
            </a:endParaRPr>
          </a:p>
        </p:txBody>
      </p:sp>
      <p:sp>
        <p:nvSpPr>
          <p:cNvPr id="61" name="Rectangle 25"/>
          <p:cNvSpPr>
            <a:spLocks noChangeArrowheads="1"/>
          </p:cNvSpPr>
          <p:nvPr/>
        </p:nvSpPr>
        <p:spPr bwMode="auto">
          <a:xfrm>
            <a:off x="4665154" y="4120247"/>
            <a:ext cx="1011615" cy="359736"/>
          </a:xfrm>
          <a:prstGeom prst="rect">
            <a:avLst/>
          </a:prstGeom>
          <a:gradFill>
            <a:gsLst>
              <a:gs pos="0">
                <a:srgbClr val="7030A0"/>
              </a:gs>
              <a:gs pos="80000">
                <a:srgbClr val="7030A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800" dirty="0" smtClean="0">
                <a:solidFill>
                  <a:schemeClr val="bg1">
                    <a:lumMod val="95000"/>
                  </a:schemeClr>
                </a:solidFill>
              </a:rPr>
              <a:t>Complementary Output Generator</a:t>
            </a:r>
            <a:endParaRPr lang="en-US" sz="800" dirty="0">
              <a:solidFill>
                <a:schemeClr val="bg1">
                  <a:lumMod val="95000"/>
                </a:schemeClr>
              </a:solidFill>
            </a:endParaRPr>
          </a:p>
        </p:txBody>
      </p:sp>
      <p:sp>
        <p:nvSpPr>
          <p:cNvPr id="62" name="Rectangle 25"/>
          <p:cNvSpPr>
            <a:spLocks noChangeArrowheads="1"/>
          </p:cNvSpPr>
          <p:nvPr/>
        </p:nvSpPr>
        <p:spPr bwMode="auto">
          <a:xfrm>
            <a:off x="5765814" y="4106156"/>
            <a:ext cx="1011615" cy="359736"/>
          </a:xfrm>
          <a:prstGeom prst="rect">
            <a:avLst/>
          </a:prstGeom>
          <a:gradFill>
            <a:gsLst>
              <a:gs pos="0">
                <a:srgbClr val="7030A0"/>
              </a:gs>
              <a:gs pos="80000">
                <a:srgbClr val="7030A0"/>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lumMod val="95000"/>
                  </a:schemeClr>
                </a:solidFill>
              </a:rPr>
              <a:t>10b/16b PWM</a:t>
            </a:r>
            <a:endParaRPr lang="en-US" sz="900" dirty="0">
              <a:solidFill>
                <a:schemeClr val="bg1">
                  <a:lumMod val="95000"/>
                </a:schemeClr>
              </a:solidFill>
            </a:endParaRPr>
          </a:p>
        </p:txBody>
      </p:sp>
      <p:sp>
        <p:nvSpPr>
          <p:cNvPr id="63" name="Up Arrow 62"/>
          <p:cNvSpPr/>
          <p:nvPr/>
        </p:nvSpPr>
        <p:spPr>
          <a:xfrm rot="5400000">
            <a:off x="6906966" y="3862117"/>
            <a:ext cx="441656" cy="489822"/>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51" name="Rectangle 25"/>
          <p:cNvSpPr>
            <a:spLocks noChangeArrowheads="1"/>
          </p:cNvSpPr>
          <p:nvPr/>
        </p:nvSpPr>
        <p:spPr bwMode="auto">
          <a:xfrm>
            <a:off x="3368534" y="2590800"/>
            <a:ext cx="1011615" cy="359736"/>
          </a:xfrm>
          <a:prstGeom prst="rect">
            <a:avLst/>
          </a:prstGeom>
          <a:gradFill>
            <a:gsLst>
              <a:gs pos="0">
                <a:srgbClr val="0000FF"/>
              </a:gs>
              <a:gs pos="80000">
                <a:srgbClr val="0000FF"/>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lumMod val="95000"/>
                  </a:schemeClr>
                </a:solidFill>
              </a:rPr>
              <a:t>Angular Timer</a:t>
            </a:r>
            <a:endParaRPr lang="en-US" sz="900" dirty="0">
              <a:solidFill>
                <a:schemeClr val="bg1">
                  <a:lumMod val="95000"/>
                </a:schemeClr>
              </a:solidFill>
            </a:endParaRPr>
          </a:p>
        </p:txBody>
      </p:sp>
      <p:sp>
        <p:nvSpPr>
          <p:cNvPr id="64" name="Rectangle 25"/>
          <p:cNvSpPr>
            <a:spLocks noChangeArrowheads="1"/>
          </p:cNvSpPr>
          <p:nvPr/>
        </p:nvSpPr>
        <p:spPr bwMode="auto">
          <a:xfrm>
            <a:off x="3377684" y="2997456"/>
            <a:ext cx="1011615" cy="35973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marL="182880" indent="-182880" algn="ctr"/>
            <a:r>
              <a:rPr lang="en-US" sz="900" dirty="0" smtClean="0">
                <a:solidFill>
                  <a:schemeClr val="tx1"/>
                </a:solidFill>
              </a:rPr>
              <a:t>Configurable</a:t>
            </a:r>
          </a:p>
          <a:p>
            <a:pPr marL="182880" indent="-182880" algn="ctr"/>
            <a:r>
              <a:rPr lang="en-US" sz="900" dirty="0" smtClean="0">
                <a:solidFill>
                  <a:schemeClr val="tx1"/>
                </a:solidFill>
              </a:rPr>
              <a:t>Logic Cell</a:t>
            </a:r>
            <a:endParaRPr lang="en-US" sz="900" dirty="0">
              <a:solidFill>
                <a:schemeClr val="tx1"/>
              </a:solidFill>
            </a:endParaRPr>
          </a:p>
        </p:txBody>
      </p:sp>
      <p:sp>
        <p:nvSpPr>
          <p:cNvPr id="65" name="Rectangle 25"/>
          <p:cNvSpPr>
            <a:spLocks noChangeArrowheads="1"/>
          </p:cNvSpPr>
          <p:nvPr/>
        </p:nvSpPr>
        <p:spPr bwMode="auto">
          <a:xfrm>
            <a:off x="3368534" y="3427830"/>
            <a:ext cx="1011615" cy="359736"/>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marL="182880" indent="-182880" algn="ctr"/>
            <a:r>
              <a:rPr lang="en-US" sz="900" dirty="0" smtClean="0">
                <a:solidFill>
                  <a:schemeClr val="tx1"/>
                </a:solidFill>
              </a:rPr>
              <a:t>Math</a:t>
            </a:r>
          </a:p>
          <a:p>
            <a:pPr marL="182880" indent="-182880" algn="ctr"/>
            <a:r>
              <a:rPr lang="en-US" sz="900" dirty="0" smtClean="0">
                <a:solidFill>
                  <a:schemeClr val="tx1"/>
                </a:solidFill>
              </a:rPr>
              <a:t>Accelerator</a:t>
            </a:r>
            <a:endParaRPr lang="en-US" sz="900" dirty="0">
              <a:solidFill>
                <a:schemeClr val="tx1"/>
              </a:solidFill>
            </a:endParaRPr>
          </a:p>
        </p:txBody>
      </p:sp>
      <p:sp>
        <p:nvSpPr>
          <p:cNvPr id="67" name="Rectangle 25"/>
          <p:cNvSpPr>
            <a:spLocks noChangeArrowheads="1"/>
          </p:cNvSpPr>
          <p:nvPr/>
        </p:nvSpPr>
        <p:spPr bwMode="auto">
          <a:xfrm>
            <a:off x="5749644" y="5782501"/>
            <a:ext cx="1011615" cy="35973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solidFill>
              </a:rPr>
              <a:t>PPS</a:t>
            </a:r>
            <a:endParaRPr lang="en-US" sz="900" dirty="0">
              <a:solidFill>
                <a:schemeClr val="bg1"/>
              </a:solidFill>
            </a:endParaRPr>
          </a:p>
        </p:txBody>
      </p:sp>
      <p:sp>
        <p:nvSpPr>
          <p:cNvPr id="69" name="Rectangle 25"/>
          <p:cNvSpPr>
            <a:spLocks noChangeArrowheads="1"/>
          </p:cNvSpPr>
          <p:nvPr/>
        </p:nvSpPr>
        <p:spPr bwMode="auto">
          <a:xfrm>
            <a:off x="4635899" y="5782501"/>
            <a:ext cx="1011615" cy="359736"/>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900" dirty="0" smtClean="0">
                <a:solidFill>
                  <a:schemeClr val="bg1"/>
                </a:solidFill>
              </a:rPr>
              <a:t>XLP Technology</a:t>
            </a:r>
            <a:endParaRPr lang="en-US" sz="900" dirty="0">
              <a:solidFill>
                <a:schemeClr val="bg1"/>
              </a:solidFill>
            </a:endParaRPr>
          </a:p>
        </p:txBody>
      </p:sp>
      <p:sp>
        <p:nvSpPr>
          <p:cNvPr id="70" name="Rectangle 25"/>
          <p:cNvSpPr>
            <a:spLocks noChangeArrowheads="1"/>
          </p:cNvSpPr>
          <p:nvPr/>
        </p:nvSpPr>
        <p:spPr bwMode="auto">
          <a:xfrm>
            <a:off x="4685414" y="4554780"/>
            <a:ext cx="1011615" cy="35973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900" dirty="0" smtClean="0">
                <a:solidFill>
                  <a:schemeClr val="tx1"/>
                </a:solidFill>
              </a:rPr>
              <a:t>High Current </a:t>
            </a:r>
          </a:p>
          <a:p>
            <a:pPr algn="ctr"/>
            <a:r>
              <a:rPr lang="en-US" sz="900" dirty="0" smtClean="0">
                <a:solidFill>
                  <a:schemeClr val="tx1"/>
                </a:solidFill>
              </a:rPr>
              <a:t>100mA</a:t>
            </a:r>
            <a:endParaRPr lang="en-US" sz="900" dirty="0">
              <a:solidFill>
                <a:schemeClr val="tx1"/>
              </a:solidFill>
            </a:endParaRPr>
          </a:p>
        </p:txBody>
      </p:sp>
      <p:sp>
        <p:nvSpPr>
          <p:cNvPr id="12" name="Rectangle 11"/>
          <p:cNvSpPr/>
          <p:nvPr/>
        </p:nvSpPr>
        <p:spPr>
          <a:xfrm>
            <a:off x="2158484" y="2286000"/>
            <a:ext cx="2286000" cy="3048000"/>
          </a:xfrm>
          <a:prstGeom prst="rect">
            <a:avLst/>
          </a:prstGeom>
          <a:gradFill flip="none" rotWithShape="1">
            <a:gsLst>
              <a:gs pos="0">
                <a:schemeClr val="accent1">
                  <a:tint val="100000"/>
                  <a:shade val="100000"/>
                  <a:satMod val="130000"/>
                  <a:alpha val="0"/>
                </a:schemeClr>
              </a:gs>
              <a:gs pos="100000">
                <a:schemeClr val="accent1">
                  <a:tint val="50000"/>
                  <a:shade val="100000"/>
                  <a:satMod val="350000"/>
                  <a:alpha val="0"/>
                </a:schemeClr>
              </a:gs>
            </a:gsLst>
            <a:lin ang="16200000" scaled="0"/>
            <a:tileRect/>
          </a:gradFill>
          <a:ln w="38100" cap="rnd" cmpd="sng">
            <a:solidFill>
              <a:srgbClr val="660066"/>
            </a:solidFill>
            <a:beve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25"/>
          <p:cNvSpPr>
            <a:spLocks noChangeArrowheads="1"/>
          </p:cNvSpPr>
          <p:nvPr/>
        </p:nvSpPr>
        <p:spPr bwMode="auto">
          <a:xfrm>
            <a:off x="5739884" y="4545845"/>
            <a:ext cx="1011615" cy="35973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900" dirty="0" smtClean="0">
                <a:solidFill>
                  <a:schemeClr val="tx1"/>
                </a:solidFill>
              </a:rPr>
              <a:t>Zero Cross Detect</a:t>
            </a:r>
            <a:endParaRPr lang="en-US" sz="900" dirty="0">
              <a:solidFill>
                <a:schemeClr val="tx1"/>
              </a:solidFill>
            </a:endParaRPr>
          </a:p>
        </p:txBody>
      </p:sp>
      <p:sp>
        <p:nvSpPr>
          <p:cNvPr id="49" name="Left-Right Arrow 48"/>
          <p:cNvSpPr/>
          <p:nvPr/>
        </p:nvSpPr>
        <p:spPr>
          <a:xfrm rot="5400000">
            <a:off x="3124200" y="3867150"/>
            <a:ext cx="381000" cy="419100"/>
          </a:xfrm>
          <a:prstGeom prst="leftRightArrow">
            <a:avLst>
              <a:gd name="adj1" fmla="val 31435"/>
              <a:gd name="adj2" fmla="val 31435"/>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endParaRPr lang="en-US" sz="1100" b="1" dirty="0">
              <a:solidFill>
                <a:schemeClr val="bg1"/>
              </a:solidFill>
            </a:endParaRPr>
          </a:p>
        </p:txBody>
      </p:sp>
      <p:sp>
        <p:nvSpPr>
          <p:cNvPr id="66" name="Left-Right Arrow 65"/>
          <p:cNvSpPr/>
          <p:nvPr/>
        </p:nvSpPr>
        <p:spPr>
          <a:xfrm>
            <a:off x="4343400" y="2975397"/>
            <a:ext cx="381000" cy="381000"/>
          </a:xfrm>
          <a:prstGeom prst="leftRightArrow">
            <a:avLst>
              <a:gd name="adj1" fmla="val 31435"/>
              <a:gd name="adj2" fmla="val 31435"/>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endParaRPr lang="en-US" sz="1100" b="1" dirty="0">
              <a:solidFill>
                <a:schemeClr val="bg1"/>
              </a:solidFill>
            </a:endParaRPr>
          </a:p>
        </p:txBody>
      </p:sp>
      <p:sp>
        <p:nvSpPr>
          <p:cNvPr id="68" name="Left-Right Arrow 67"/>
          <p:cNvSpPr/>
          <p:nvPr/>
        </p:nvSpPr>
        <p:spPr>
          <a:xfrm rot="5400000">
            <a:off x="5511284" y="3505200"/>
            <a:ext cx="381000" cy="381000"/>
          </a:xfrm>
          <a:prstGeom prst="leftRightArrow">
            <a:avLst>
              <a:gd name="adj1" fmla="val 31435"/>
              <a:gd name="adj2" fmla="val 31435"/>
            </a:avLst>
          </a:prstGeom>
          <a:solidFill>
            <a:srgbClr val="A365D1"/>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1">
            <a:noAutofit/>
          </a:bodyPr>
          <a:lstStyle/>
          <a:p>
            <a:pPr algn="ctr"/>
            <a:endParaRPr lang="en-US" sz="1100" b="1" dirty="0">
              <a:solidFill>
                <a:schemeClr val="bg1"/>
              </a:solidFill>
            </a:endParaRPr>
          </a:p>
        </p:txBody>
      </p:sp>
      <p:sp>
        <p:nvSpPr>
          <p:cNvPr id="54" name="Rectangle 25"/>
          <p:cNvSpPr>
            <a:spLocks noChangeArrowheads="1"/>
          </p:cNvSpPr>
          <p:nvPr/>
        </p:nvSpPr>
        <p:spPr bwMode="auto">
          <a:xfrm>
            <a:off x="2289869" y="4495800"/>
            <a:ext cx="1011615" cy="359736"/>
          </a:xfrm>
          <a:prstGeom prst="rect">
            <a:avLst/>
          </a:prstGeom>
          <a:gradFill>
            <a:gsLst>
              <a:gs pos="0">
                <a:srgbClr val="0000FF"/>
              </a:gs>
              <a:gs pos="80000">
                <a:srgbClr val="0000FF"/>
              </a:gs>
              <a:gs pos="100000">
                <a:schemeClr val="bg2">
                  <a:lumMod val="40000"/>
                  <a:lumOff val="60000"/>
                </a:schemeClr>
              </a:gs>
            </a:gsLst>
          </a:gra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algn="ctr"/>
            <a:r>
              <a:rPr lang="en-US" sz="700" dirty="0" smtClean="0">
                <a:solidFill>
                  <a:schemeClr val="bg1">
                    <a:lumMod val="95000"/>
                  </a:schemeClr>
                </a:solidFill>
              </a:rPr>
              <a:t>Signal Measurement Timer</a:t>
            </a:r>
            <a:endParaRPr lang="en-US" sz="700" dirty="0">
              <a:solidFill>
                <a:schemeClr val="bg1">
                  <a:lumMod val="95000"/>
                </a:schemeClr>
              </a:solidFill>
            </a:endParaRPr>
          </a:p>
        </p:txBody>
      </p:sp>
      <p:sp>
        <p:nvSpPr>
          <p:cNvPr id="21" name="Rectangle 25"/>
          <p:cNvSpPr>
            <a:spLocks noChangeArrowheads="1"/>
          </p:cNvSpPr>
          <p:nvPr/>
        </p:nvSpPr>
        <p:spPr bwMode="auto">
          <a:xfrm>
            <a:off x="2298055" y="4915284"/>
            <a:ext cx="1011615" cy="359736"/>
          </a:xfrm>
          <a:prstGeom prst="rect">
            <a:avLst/>
          </a:prstGeom>
          <a:solidFill>
            <a:srgbClr val="FFC00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algn="ctr"/>
            <a:r>
              <a:rPr lang="en-US" sz="900" dirty="0" smtClean="0">
                <a:solidFill>
                  <a:schemeClr val="tx1"/>
                </a:solidFill>
              </a:rPr>
              <a:t>Zero Cross Detect</a:t>
            </a:r>
            <a:endParaRPr lang="en-US" sz="900" dirty="0">
              <a:solidFill>
                <a:schemeClr val="tx1"/>
              </a:solidFill>
            </a:endParaRPr>
          </a:p>
        </p:txBody>
      </p:sp>
      <p:sp>
        <p:nvSpPr>
          <p:cNvPr id="73" name="Up Arrow 72"/>
          <p:cNvSpPr/>
          <p:nvPr/>
        </p:nvSpPr>
        <p:spPr>
          <a:xfrm rot="16200000" flipH="1">
            <a:off x="1682691" y="2761793"/>
            <a:ext cx="441656" cy="404470"/>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76" name="Up Arrow 75"/>
          <p:cNvSpPr/>
          <p:nvPr/>
        </p:nvSpPr>
        <p:spPr>
          <a:xfrm rot="5400000">
            <a:off x="1305880" y="4103545"/>
            <a:ext cx="441656" cy="1251822"/>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78" name="Up Arrow 77"/>
          <p:cNvSpPr/>
          <p:nvPr/>
        </p:nvSpPr>
        <p:spPr>
          <a:xfrm>
            <a:off x="7949684" y="4343400"/>
            <a:ext cx="441656" cy="290783"/>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79" name="Up Arrow 78"/>
          <p:cNvSpPr/>
          <p:nvPr/>
        </p:nvSpPr>
        <p:spPr>
          <a:xfrm rot="16200000">
            <a:off x="6866161" y="4465472"/>
            <a:ext cx="441656" cy="533399"/>
          </a:xfrm>
          <a:prstGeom prst="up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157" name="Rounded Rectangle 156"/>
          <p:cNvSpPr/>
          <p:nvPr/>
        </p:nvSpPr>
        <p:spPr>
          <a:xfrm>
            <a:off x="7291339" y="2514600"/>
            <a:ext cx="1645920" cy="914400"/>
          </a:xfrm>
          <a:prstGeom prst="roundRect">
            <a:avLst>
              <a:gd name="adj" fmla="val 12141"/>
            </a:avLst>
          </a:prstGeom>
          <a:solidFill>
            <a:srgbClr val="BFBFBF"/>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Environmental   Sensors</a:t>
            </a:r>
            <a:endParaRPr lang="en-US" sz="1400" dirty="0">
              <a:solidFill>
                <a:schemeClr val="tx1"/>
              </a:solidFill>
            </a:endParaRPr>
          </a:p>
        </p:txBody>
      </p:sp>
      <p:sp>
        <p:nvSpPr>
          <p:cNvPr id="74" name="Rounded Rectangle 73"/>
          <p:cNvSpPr/>
          <p:nvPr/>
        </p:nvSpPr>
        <p:spPr>
          <a:xfrm>
            <a:off x="7340084" y="4572000"/>
            <a:ext cx="1645920" cy="365760"/>
          </a:xfrm>
          <a:prstGeom prst="roundRect">
            <a:avLst>
              <a:gd name="adj" fmla="val 12141"/>
            </a:avLst>
          </a:prstGeom>
          <a:solidFill>
            <a:srgbClr val="BFBFBF"/>
          </a:solidFill>
          <a:ln/>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400" dirty="0" smtClean="0">
                <a:solidFill>
                  <a:schemeClr val="tx1"/>
                </a:solidFill>
              </a:rPr>
              <a:t>AC Power </a:t>
            </a:r>
            <a:endParaRPr lang="en-US" sz="1400" dirty="0">
              <a:solidFill>
                <a:schemeClr val="tx1"/>
              </a:solidFill>
            </a:endParaRPr>
          </a:p>
        </p:txBody>
      </p:sp>
    </p:spTree>
    <p:extLst>
      <p:ext uri="{BB962C8B-B14F-4D97-AF65-F5344CB8AC3E}">
        <p14:creationId xmlns:p14="http://schemas.microsoft.com/office/powerpoint/2010/main" xmlns="" val="32894545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idx="4294967295"/>
          </p:nvPr>
        </p:nvSpPr>
        <p:spPr>
          <a:xfrm>
            <a:off x="2362200" y="198438"/>
            <a:ext cx="6781800" cy="868362"/>
          </a:xfrm>
        </p:spPr>
        <p:txBody>
          <a:bodyPr/>
          <a:lstStyle/>
          <a:p>
            <a:r>
              <a:rPr lang="en-US" sz="3200" dirty="0" smtClean="0"/>
              <a:t>Advantages of </a:t>
            </a:r>
            <a:br>
              <a:rPr lang="en-US" sz="3200" dirty="0" smtClean="0"/>
            </a:br>
            <a:r>
              <a:rPr lang="en-US" sz="3200" dirty="0" smtClean="0"/>
              <a:t>Core Independent Peripherals</a:t>
            </a:r>
            <a:endParaRPr lang="en-US" sz="3200" b="0" dirty="0" smtClean="0"/>
          </a:p>
        </p:txBody>
      </p:sp>
      <p:sp>
        <p:nvSpPr>
          <p:cNvPr id="100" name="Rectangle 3"/>
          <p:cNvSpPr>
            <a:spLocks noChangeArrowheads="1"/>
          </p:cNvSpPr>
          <p:nvPr/>
        </p:nvSpPr>
        <p:spPr bwMode="auto">
          <a:xfrm>
            <a:off x="130628" y="1280160"/>
            <a:ext cx="4920343" cy="3291840"/>
          </a:xfrm>
          <a:prstGeom prst="rect">
            <a:avLst/>
          </a:prstGeom>
          <a:noFill/>
          <a:ln w="9525">
            <a:noFill/>
            <a:miter lim="800000"/>
            <a:headEnd/>
            <a:tailEnd/>
          </a:ln>
        </p:spPr>
        <p:txBody>
          <a:bodyPr/>
          <a:lstStyle/>
          <a:p>
            <a:pPr eaLnBrk="1" hangingPunct="1">
              <a:buSzPct val="150000"/>
              <a:defRPr/>
            </a:pPr>
            <a:r>
              <a:rPr lang="en-US" sz="1800" b="1" dirty="0" smtClean="0">
                <a:solidFill>
                  <a:schemeClr val="accent2"/>
                </a:solidFill>
                <a:latin typeface="Arial" charset="0"/>
                <a:ea typeface="+mn-ea"/>
              </a:rPr>
              <a:t>Math Accelerator (MathACC)</a:t>
            </a:r>
          </a:p>
          <a:p>
            <a:pPr marL="347663" lvl="1" indent="-347663" eaLnBrk="0" hangingPunct="0">
              <a:lnSpc>
                <a:spcPct val="80000"/>
              </a:lnSpc>
              <a:spcBef>
                <a:spcPct val="20000"/>
              </a:spcBef>
              <a:buSzPct val="150000"/>
              <a:buFont typeface="Arial"/>
              <a:buChar char="•"/>
              <a:defRPr/>
            </a:pPr>
            <a:r>
              <a:rPr lang="en-US" sz="1400" dirty="0" smtClean="0">
                <a:latin typeface="Arial" charset="0"/>
              </a:rPr>
              <a:t>General purpose MATH &amp; PID functions</a:t>
            </a:r>
          </a:p>
          <a:p>
            <a:pPr marL="347663" lvl="1" indent="-347663" eaLnBrk="0" hangingPunct="0">
              <a:lnSpc>
                <a:spcPct val="80000"/>
              </a:lnSpc>
              <a:spcBef>
                <a:spcPct val="20000"/>
              </a:spcBef>
              <a:buSzPct val="150000"/>
              <a:buFont typeface="Arial"/>
              <a:buChar char="•"/>
              <a:defRPr/>
            </a:pPr>
            <a:r>
              <a:rPr lang="en-US" sz="1400" dirty="0" smtClean="0">
                <a:latin typeface="Arial" charset="0"/>
              </a:rPr>
              <a:t>MULTIPLY, ADD, ACCUMULATE functions</a:t>
            </a:r>
          </a:p>
          <a:p>
            <a:pPr marL="804863" lvl="2" indent="-347663" eaLnBrk="0" hangingPunct="0">
              <a:lnSpc>
                <a:spcPct val="80000"/>
              </a:lnSpc>
              <a:spcBef>
                <a:spcPct val="20000"/>
              </a:spcBef>
              <a:buSzPct val="150000"/>
              <a:buFont typeface="Arial"/>
              <a:buChar char="•"/>
              <a:defRPr/>
            </a:pPr>
            <a:r>
              <a:rPr lang="en-US" sz="1400" dirty="0" smtClean="0">
                <a:latin typeface="Arial" charset="0"/>
              </a:rPr>
              <a:t>8-bit/16-bit values with 35-bit result</a:t>
            </a:r>
          </a:p>
          <a:p>
            <a:pPr marL="347663" lvl="1" indent="-347663" eaLnBrk="0" hangingPunct="0">
              <a:lnSpc>
                <a:spcPct val="80000"/>
              </a:lnSpc>
              <a:spcBef>
                <a:spcPct val="20000"/>
              </a:spcBef>
              <a:buSzPct val="150000"/>
              <a:buFont typeface="Arial"/>
              <a:buChar char="•"/>
              <a:defRPr/>
            </a:pPr>
            <a:r>
              <a:rPr lang="en-US" sz="1400" dirty="0" smtClean="0">
                <a:latin typeface="Arial" charset="0"/>
              </a:rPr>
              <a:t>Four Operation Modes</a:t>
            </a:r>
          </a:p>
          <a:p>
            <a:pPr marL="804863" lvl="2" indent="-347663" eaLnBrk="0" hangingPunct="0">
              <a:lnSpc>
                <a:spcPct val="80000"/>
              </a:lnSpc>
              <a:spcBef>
                <a:spcPct val="20000"/>
              </a:spcBef>
              <a:buSzPct val="150000"/>
              <a:buFont typeface="Arial"/>
              <a:buChar char="•"/>
              <a:defRPr/>
            </a:pPr>
            <a:r>
              <a:rPr lang="en-US" sz="1400" dirty="0" smtClean="0">
                <a:latin typeface="Arial" charset="0"/>
              </a:rPr>
              <a:t>Multiply and Accumulate (MAC)</a:t>
            </a:r>
          </a:p>
          <a:p>
            <a:pPr marL="804863" lvl="2" indent="-347663" eaLnBrk="0" hangingPunct="0">
              <a:lnSpc>
                <a:spcPct val="80000"/>
              </a:lnSpc>
              <a:spcBef>
                <a:spcPct val="20000"/>
              </a:spcBef>
              <a:buSzPct val="150000"/>
              <a:buFont typeface="Arial"/>
              <a:buChar char="•"/>
              <a:defRPr/>
            </a:pPr>
            <a:r>
              <a:rPr lang="en-US" sz="1400" dirty="0" smtClean="0">
                <a:latin typeface="Arial" charset="0"/>
              </a:rPr>
              <a:t>Add and Multiply</a:t>
            </a:r>
          </a:p>
          <a:p>
            <a:pPr marL="804863" lvl="2" indent="-347663" eaLnBrk="0" hangingPunct="0">
              <a:lnSpc>
                <a:spcPct val="80000"/>
              </a:lnSpc>
              <a:spcBef>
                <a:spcPct val="20000"/>
              </a:spcBef>
              <a:buSzPct val="150000"/>
              <a:buFont typeface="Arial"/>
              <a:buChar char="•"/>
              <a:defRPr/>
            </a:pPr>
            <a:r>
              <a:rPr lang="en-US" sz="1400" dirty="0" smtClean="0">
                <a:latin typeface="Arial" charset="0"/>
              </a:rPr>
              <a:t>Simple Multiplier</a:t>
            </a:r>
          </a:p>
          <a:p>
            <a:pPr marL="1262063" lvl="3" indent="-347663" eaLnBrk="0" hangingPunct="0">
              <a:lnSpc>
                <a:spcPct val="80000"/>
              </a:lnSpc>
              <a:spcBef>
                <a:spcPct val="20000"/>
              </a:spcBef>
              <a:buSzPct val="150000"/>
              <a:buFont typeface="Arial"/>
              <a:buChar char="•"/>
              <a:defRPr/>
            </a:pPr>
            <a:r>
              <a:rPr lang="en-US" sz="1400" dirty="0" smtClean="0">
                <a:latin typeface="Arial" charset="0"/>
              </a:rPr>
              <a:t>Signed &amp; un-signed multiplies </a:t>
            </a:r>
          </a:p>
          <a:p>
            <a:pPr marL="804863" lvl="2" indent="-347663" eaLnBrk="0" hangingPunct="0">
              <a:lnSpc>
                <a:spcPct val="80000"/>
              </a:lnSpc>
              <a:spcBef>
                <a:spcPct val="20000"/>
              </a:spcBef>
              <a:buSzPct val="150000"/>
              <a:buFont typeface="Arial"/>
              <a:buChar char="•"/>
              <a:defRPr/>
            </a:pPr>
            <a:r>
              <a:rPr lang="en-US" sz="1400" dirty="0" smtClean="0">
                <a:latin typeface="Arial" charset="0"/>
              </a:rPr>
              <a:t>Programmable PID Controller</a:t>
            </a:r>
          </a:p>
          <a:p>
            <a:pPr marL="1262063" lvl="3" indent="-347663" eaLnBrk="0" hangingPunct="0">
              <a:lnSpc>
                <a:spcPct val="80000"/>
              </a:lnSpc>
              <a:spcBef>
                <a:spcPct val="20000"/>
              </a:spcBef>
              <a:buSzPct val="150000"/>
              <a:buFont typeface="Arial"/>
              <a:buChar char="•"/>
              <a:defRPr/>
            </a:pPr>
            <a:r>
              <a:rPr lang="en-US" sz="1400" dirty="0" smtClean="0">
                <a:latin typeface="Arial" charset="0"/>
              </a:rPr>
              <a:t>16-bit PID function based on configurable Kp, Ki, Kd constants with a 34-bit result</a:t>
            </a:r>
          </a:p>
          <a:p>
            <a:pPr marL="804863" lvl="2" indent="-347663" eaLnBrk="0" hangingPunct="0">
              <a:lnSpc>
                <a:spcPct val="80000"/>
              </a:lnSpc>
              <a:spcBef>
                <a:spcPct val="20000"/>
              </a:spcBef>
              <a:buSzPct val="150000"/>
              <a:buFont typeface="Arial"/>
              <a:buChar char="•"/>
              <a:defRPr/>
            </a:pPr>
            <a:endParaRPr lang="en-US" sz="1400" dirty="0" smtClean="0">
              <a:latin typeface="Arial" charset="0"/>
            </a:endParaRPr>
          </a:p>
          <a:p>
            <a:pPr marL="347663" lvl="1" indent="-347663" eaLnBrk="0" hangingPunct="0">
              <a:lnSpc>
                <a:spcPct val="80000"/>
              </a:lnSpc>
              <a:spcBef>
                <a:spcPct val="20000"/>
              </a:spcBef>
              <a:buSzPct val="150000"/>
              <a:buFont typeface="Arial"/>
              <a:buChar char="•"/>
              <a:defRPr/>
            </a:pPr>
            <a:endParaRPr lang="en-US" sz="1400" dirty="0" smtClean="0">
              <a:latin typeface="Arial" charset="0"/>
            </a:endParaRPr>
          </a:p>
        </p:txBody>
      </p:sp>
      <p:sp>
        <p:nvSpPr>
          <p:cNvPr id="101" name="Rectangle 100"/>
          <p:cNvSpPr>
            <a:spLocks noChangeArrowheads="1"/>
          </p:cNvSpPr>
          <p:nvPr/>
        </p:nvSpPr>
        <p:spPr bwMode="auto">
          <a:xfrm>
            <a:off x="228600" y="4419600"/>
            <a:ext cx="3749040" cy="1600200"/>
          </a:xfrm>
          <a:prstGeom prst="rect">
            <a:avLst/>
          </a:prstGeom>
          <a:noFill/>
          <a:ln w="9525">
            <a:noFill/>
            <a:miter lim="800000"/>
            <a:headEnd/>
            <a:tailEnd/>
          </a:ln>
        </p:spPr>
        <p:txBody>
          <a:bodyPr rIns="0"/>
          <a:lstStyle/>
          <a:p>
            <a:pPr eaLnBrk="0" hangingPunct="0">
              <a:spcBef>
                <a:spcPct val="20000"/>
              </a:spcBef>
              <a:buSzPct val="15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150000"/>
              <a:buFont typeface="Arial"/>
              <a:buChar char="•"/>
              <a:defRPr/>
            </a:pPr>
            <a:r>
              <a:rPr lang="en-US" sz="1400" dirty="0" smtClean="0">
                <a:latin typeface="Arial" charset="0"/>
              </a:rPr>
              <a:t>Speeds up math performance</a:t>
            </a:r>
          </a:p>
          <a:p>
            <a:pPr marL="347663" lvl="1" indent="-347663" eaLnBrk="0" hangingPunct="0">
              <a:lnSpc>
                <a:spcPct val="80000"/>
              </a:lnSpc>
              <a:spcBef>
                <a:spcPct val="20000"/>
              </a:spcBef>
              <a:buSzPct val="150000"/>
              <a:buFont typeface="Arial"/>
              <a:buChar char="•"/>
              <a:defRPr/>
            </a:pPr>
            <a:r>
              <a:rPr lang="en-US" sz="1400" dirty="0" smtClean="0">
                <a:latin typeface="Arial" charset="0"/>
              </a:rPr>
              <a:t>Reduces code size</a:t>
            </a:r>
          </a:p>
          <a:p>
            <a:pPr marL="347663" lvl="1" indent="-347663" eaLnBrk="0" hangingPunct="0">
              <a:lnSpc>
                <a:spcPct val="80000"/>
              </a:lnSpc>
              <a:spcBef>
                <a:spcPct val="20000"/>
              </a:spcBef>
              <a:buSzPct val="150000"/>
              <a:buFont typeface="Arial"/>
              <a:buChar char="•"/>
              <a:defRPr/>
            </a:pPr>
            <a:r>
              <a:rPr lang="en-US" sz="1400" dirty="0" smtClean="0">
                <a:latin typeface="Arial" charset="0"/>
              </a:rPr>
              <a:t>Accelerates PID control </a:t>
            </a:r>
          </a:p>
          <a:p>
            <a:pPr marL="347663" lvl="1" indent="-347663" eaLnBrk="0" hangingPunct="0">
              <a:lnSpc>
                <a:spcPct val="80000"/>
              </a:lnSpc>
              <a:spcBef>
                <a:spcPct val="20000"/>
              </a:spcBef>
              <a:buSzPct val="150000"/>
              <a:buFont typeface="Arial"/>
              <a:buChar char="•"/>
              <a:defRPr/>
            </a:pPr>
            <a:r>
              <a:rPr lang="en-US" sz="1400" dirty="0" smtClean="0">
                <a:latin typeface="Arial" charset="0"/>
              </a:rPr>
              <a:t>Core independent operation</a:t>
            </a:r>
          </a:p>
          <a:p>
            <a:pPr marL="347663" lvl="1" indent="-347663" eaLnBrk="0" hangingPunct="0">
              <a:lnSpc>
                <a:spcPct val="80000"/>
              </a:lnSpc>
              <a:spcBef>
                <a:spcPct val="20000"/>
              </a:spcBef>
              <a:buSzPct val="150000"/>
              <a:buFont typeface="Arial"/>
              <a:buChar char="•"/>
              <a:defRPr/>
            </a:pPr>
            <a:endParaRPr lang="en-US" sz="1400" dirty="0" smtClean="0">
              <a:latin typeface="Arial" charset="0"/>
            </a:endParaRPr>
          </a:p>
          <a:p>
            <a:pPr marL="342900" indent="-342900" eaLnBrk="0" hangingPunct="0">
              <a:spcBef>
                <a:spcPct val="20000"/>
              </a:spcBef>
              <a:buSzPct val="150000"/>
              <a:buFont typeface="Arial"/>
              <a:buChar char="•"/>
              <a:defRPr/>
            </a:pPr>
            <a:endParaRPr lang="en-US" sz="1800" b="1" dirty="0" smtClean="0">
              <a:solidFill>
                <a:schemeClr val="accent2"/>
              </a:solidFill>
              <a:latin typeface="Arial" charset="0"/>
            </a:endParaRPr>
          </a:p>
        </p:txBody>
      </p:sp>
      <p:grpSp>
        <p:nvGrpSpPr>
          <p:cNvPr id="20" name="Group 19"/>
          <p:cNvGrpSpPr/>
          <p:nvPr/>
        </p:nvGrpSpPr>
        <p:grpSpPr>
          <a:xfrm>
            <a:off x="4995349" y="2277633"/>
            <a:ext cx="3767651" cy="3361167"/>
            <a:chOff x="5223949" y="1591833"/>
            <a:chExt cx="3767651" cy="3361167"/>
          </a:xfrm>
        </p:grpSpPr>
        <p:cxnSp>
          <p:nvCxnSpPr>
            <p:cNvPr id="16" name="Straight Arrow Connector 15"/>
            <p:cNvCxnSpPr/>
            <p:nvPr/>
          </p:nvCxnSpPr>
          <p:spPr>
            <a:xfrm flipV="1">
              <a:off x="5851075" y="1659075"/>
              <a:ext cx="0" cy="280336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7" name="Straight Arrow Connector 16"/>
            <p:cNvCxnSpPr/>
            <p:nvPr/>
          </p:nvCxnSpPr>
          <p:spPr>
            <a:xfrm>
              <a:off x="5851075" y="4462436"/>
              <a:ext cx="3140525" cy="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18" name="Round Same Side Corner Rectangle 17"/>
            <p:cNvSpPr/>
            <p:nvPr/>
          </p:nvSpPr>
          <p:spPr>
            <a:xfrm>
              <a:off x="7770284" y="4053632"/>
              <a:ext cx="697894" cy="408804"/>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4" name="TextBox 23"/>
            <p:cNvSpPr txBox="1"/>
            <p:nvPr/>
          </p:nvSpPr>
          <p:spPr>
            <a:xfrm>
              <a:off x="7552192" y="4655787"/>
              <a:ext cx="1134078" cy="297213"/>
            </a:xfrm>
            <a:prstGeom prst="rect">
              <a:avLst/>
            </a:prstGeom>
            <a:noFill/>
          </p:spPr>
          <p:txBody>
            <a:bodyPr wrap="square" rtlCol="0">
              <a:spAutoFit/>
            </a:bodyPr>
            <a:lstStyle/>
            <a:p>
              <a:pPr algn="ctr"/>
              <a:r>
                <a:rPr lang="en-US" sz="1200" b="1" i="1" dirty="0" err="1" smtClean="0"/>
                <a:t>MathACC</a:t>
              </a:r>
              <a:endParaRPr lang="en-US" sz="1200" b="1" i="1" dirty="0"/>
            </a:p>
          </p:txBody>
        </p:sp>
        <p:sp>
          <p:nvSpPr>
            <p:cNvPr id="25" name="TextBox 24"/>
            <p:cNvSpPr txBox="1"/>
            <p:nvPr/>
          </p:nvSpPr>
          <p:spPr>
            <a:xfrm>
              <a:off x="6025549" y="4457645"/>
              <a:ext cx="1483026" cy="495355"/>
            </a:xfrm>
            <a:prstGeom prst="rect">
              <a:avLst/>
            </a:prstGeom>
            <a:noFill/>
          </p:spPr>
          <p:txBody>
            <a:bodyPr wrap="square" rtlCol="0">
              <a:spAutoFit/>
            </a:bodyPr>
            <a:lstStyle/>
            <a:p>
              <a:pPr algn="ctr"/>
              <a:r>
                <a:rPr lang="en-US" sz="1200" b="1" i="1" dirty="0" smtClean="0"/>
                <a:t>W/O</a:t>
              </a:r>
            </a:p>
            <a:p>
              <a:pPr algn="ctr"/>
              <a:r>
                <a:rPr lang="en-US" sz="1200" b="1" i="1" dirty="0" err="1" smtClean="0"/>
                <a:t>MathACC</a:t>
              </a:r>
              <a:endParaRPr lang="en-US" sz="1200" b="1" i="1" dirty="0"/>
            </a:p>
          </p:txBody>
        </p:sp>
        <p:sp>
          <p:nvSpPr>
            <p:cNvPr id="26" name="Round Same Side Corner Rectangle 25"/>
            <p:cNvSpPr/>
            <p:nvPr/>
          </p:nvSpPr>
          <p:spPr>
            <a:xfrm>
              <a:off x="6418115" y="2827222"/>
              <a:ext cx="697894" cy="1623465"/>
            </a:xfrm>
            <a:prstGeom prst="round2SameRect">
              <a:avLst/>
            </a:prstGeom>
            <a:gradFill flip="none" rotWithShape="1">
              <a:gsLst>
                <a:gs pos="66000">
                  <a:srgbClr val="FF0000"/>
                </a:gs>
                <a:gs pos="100000">
                  <a:srgbClr val="FFFFFF"/>
                </a:gs>
              </a:gsLst>
              <a:path path="circle">
                <a:fillToRect l="100000" t="100000"/>
              </a:path>
              <a:tileRect r="-100000" b="-100000"/>
            </a:gra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27" name="TextBox 26"/>
            <p:cNvSpPr txBox="1"/>
            <p:nvPr/>
          </p:nvSpPr>
          <p:spPr>
            <a:xfrm>
              <a:off x="6112785" y="3399546"/>
              <a:ext cx="1395789" cy="738664"/>
            </a:xfrm>
            <a:prstGeom prst="rect">
              <a:avLst/>
            </a:prstGeom>
            <a:noFill/>
          </p:spPr>
          <p:txBody>
            <a:bodyPr wrap="square" rtlCol="0">
              <a:spAutoFit/>
            </a:bodyPr>
            <a:lstStyle/>
            <a:p>
              <a:pPr algn="ctr"/>
              <a:r>
                <a:rPr lang="en-US" sz="1400" dirty="0" smtClean="0"/>
                <a:t>~300</a:t>
              </a:r>
            </a:p>
            <a:p>
              <a:pPr algn="ctr"/>
              <a:r>
                <a:rPr lang="en-US" sz="1400" dirty="0" smtClean="0"/>
                <a:t>Instruction Cycles</a:t>
              </a:r>
              <a:endParaRPr lang="en-US" sz="1400" dirty="0"/>
            </a:p>
          </p:txBody>
        </p:sp>
        <p:sp>
          <p:nvSpPr>
            <p:cNvPr id="28" name="TextBox 27"/>
            <p:cNvSpPr txBox="1"/>
            <p:nvPr/>
          </p:nvSpPr>
          <p:spPr>
            <a:xfrm>
              <a:off x="7239001" y="3591580"/>
              <a:ext cx="1676400" cy="523220"/>
            </a:xfrm>
            <a:prstGeom prst="rect">
              <a:avLst/>
            </a:prstGeom>
            <a:noFill/>
          </p:spPr>
          <p:txBody>
            <a:bodyPr wrap="square" rtlCol="0">
              <a:spAutoFit/>
            </a:bodyPr>
            <a:lstStyle/>
            <a:p>
              <a:pPr algn="ctr"/>
              <a:r>
                <a:rPr lang="en-US" sz="1400" dirty="0" smtClean="0">
                  <a:solidFill>
                    <a:srgbClr val="000000"/>
                  </a:solidFill>
                </a:rPr>
                <a:t>7</a:t>
              </a:r>
            </a:p>
            <a:p>
              <a:pPr algn="ctr"/>
              <a:r>
                <a:rPr lang="en-US" sz="1400" dirty="0" smtClean="0">
                  <a:solidFill>
                    <a:srgbClr val="000000"/>
                  </a:solidFill>
                </a:rPr>
                <a:t>Instruction Cycles</a:t>
              </a:r>
              <a:endParaRPr lang="en-US" sz="1400" dirty="0">
                <a:solidFill>
                  <a:srgbClr val="000000"/>
                </a:solidFill>
              </a:endParaRPr>
            </a:p>
          </p:txBody>
        </p:sp>
        <p:sp>
          <p:nvSpPr>
            <p:cNvPr id="29" name="TextBox 28"/>
            <p:cNvSpPr txBox="1"/>
            <p:nvPr/>
          </p:nvSpPr>
          <p:spPr>
            <a:xfrm rot="16200000">
              <a:off x="3999275" y="2816507"/>
              <a:ext cx="3034124" cy="584775"/>
            </a:xfrm>
            <a:prstGeom prst="rect">
              <a:avLst/>
            </a:prstGeom>
            <a:noFill/>
          </p:spPr>
          <p:txBody>
            <a:bodyPr wrap="square" rtlCol="0">
              <a:spAutoFit/>
            </a:bodyPr>
            <a:lstStyle/>
            <a:p>
              <a:pPr algn="ctr"/>
              <a:r>
                <a:rPr lang="en-US" sz="1600" b="1" i="1" dirty="0"/>
                <a:t>Execution Time</a:t>
              </a:r>
            </a:p>
            <a:p>
              <a:pPr algn="ctr"/>
              <a:r>
                <a:rPr lang="en-US" sz="1600" b="1" i="1" dirty="0" smtClean="0"/>
                <a:t> </a:t>
              </a:r>
              <a:r>
                <a:rPr lang="en-US" sz="1200" b="1" i="1" dirty="0" smtClean="0"/>
                <a:t>(Instruction cycles) @16 MHz</a:t>
              </a:r>
              <a:endParaRPr lang="en-US" sz="1200" b="1" i="1" dirty="0"/>
            </a:p>
          </p:txBody>
        </p:sp>
        <p:sp>
          <p:nvSpPr>
            <p:cNvPr id="23570" name="TextBox 23569"/>
            <p:cNvSpPr txBox="1"/>
            <p:nvPr/>
          </p:nvSpPr>
          <p:spPr>
            <a:xfrm>
              <a:off x="6172200" y="1828800"/>
              <a:ext cx="2590800" cy="369332"/>
            </a:xfrm>
            <a:prstGeom prst="rect">
              <a:avLst/>
            </a:prstGeom>
            <a:noFill/>
          </p:spPr>
          <p:txBody>
            <a:bodyPr wrap="square" rtlCol="0">
              <a:spAutoFit/>
            </a:bodyPr>
            <a:lstStyle/>
            <a:p>
              <a:pPr algn="ctr"/>
              <a:r>
                <a:rPr lang="en-US" dirty="0" smtClean="0"/>
                <a:t>Running a PID </a:t>
              </a:r>
              <a:r>
                <a:rPr lang="en-US" dirty="0"/>
                <a:t>L</a:t>
              </a:r>
              <a:r>
                <a:rPr lang="en-US" dirty="0" smtClean="0"/>
                <a:t>oop   </a:t>
              </a:r>
              <a:endParaRPr lang="en-US" dirty="0"/>
            </a:p>
          </p:txBody>
        </p:sp>
        <p:sp>
          <p:nvSpPr>
            <p:cNvPr id="19" name="TextBox 18"/>
            <p:cNvSpPr txBox="1"/>
            <p:nvPr/>
          </p:nvSpPr>
          <p:spPr>
            <a:xfrm>
              <a:off x="6347962" y="2590800"/>
              <a:ext cx="838200" cy="307777"/>
            </a:xfrm>
            <a:prstGeom prst="rect">
              <a:avLst/>
            </a:prstGeom>
            <a:noFill/>
          </p:spPr>
          <p:txBody>
            <a:bodyPr wrap="square" rtlCol="0">
              <a:spAutoFit/>
            </a:bodyPr>
            <a:lstStyle/>
            <a:p>
              <a:pPr algn="ctr"/>
              <a:r>
                <a:rPr lang="en-US" sz="1400" b="1" i="1" dirty="0" smtClean="0"/>
                <a:t>75 </a:t>
              </a:r>
              <a:r>
                <a:rPr lang="en-US" sz="1400" b="1" i="1" dirty="0" err="1" smtClean="0"/>
                <a:t>μs</a:t>
              </a:r>
              <a:endParaRPr lang="en-US" sz="1400" b="1" i="1" dirty="0"/>
            </a:p>
          </p:txBody>
        </p:sp>
        <p:sp>
          <p:nvSpPr>
            <p:cNvPr id="21" name="12-Point Star 20"/>
            <p:cNvSpPr/>
            <p:nvPr/>
          </p:nvSpPr>
          <p:spPr>
            <a:xfrm>
              <a:off x="7596716" y="2743200"/>
              <a:ext cx="1166284" cy="805192"/>
            </a:xfrm>
            <a:prstGeom prst="star12">
              <a:avLst/>
            </a:prstGeom>
            <a:gradFill>
              <a:gsLst>
                <a:gs pos="0">
                  <a:srgbClr val="92D050"/>
                </a:gs>
                <a:gs pos="80000">
                  <a:srgbClr val="00B050"/>
                </a:gs>
                <a:gs pos="100000">
                  <a:srgbClr val="92D050"/>
                </a:gs>
              </a:gsLst>
            </a:gradFill>
          </p:spPr>
          <p:style>
            <a:lnRef idx="0">
              <a:schemeClr val="accent1"/>
            </a:lnRef>
            <a:fillRef idx="3">
              <a:schemeClr val="accent1"/>
            </a:fillRef>
            <a:effectRef idx="3">
              <a:schemeClr val="accent1"/>
            </a:effectRef>
            <a:fontRef idx="minor">
              <a:schemeClr val="lt1"/>
            </a:fontRef>
          </p:style>
          <p:txBody>
            <a:bodyPr lIns="0" rIns="0" rtlCol="0" anchor="ctr"/>
            <a:lstStyle/>
            <a:p>
              <a:pPr algn="ctr"/>
              <a:r>
                <a:rPr lang="en-US" sz="1400" b="1" i="1" dirty="0" smtClean="0">
                  <a:solidFill>
                    <a:schemeClr val="bg1"/>
                  </a:solidFill>
                </a:rPr>
                <a:t>1.75 </a:t>
              </a:r>
              <a:r>
                <a:rPr lang="en-US" sz="1400" b="1" i="1" dirty="0" err="1"/>
                <a:t>μs</a:t>
              </a:r>
              <a:endParaRPr lang="en-US" sz="1400" b="1" i="1" dirty="0"/>
            </a:p>
          </p:txBody>
        </p:sp>
      </p:grpSp>
    </p:spTree>
    <p:extLst>
      <p:ext uri="{BB962C8B-B14F-4D97-AF65-F5344CB8AC3E}">
        <p14:creationId xmlns:p14="http://schemas.microsoft.com/office/powerpoint/2010/main" xmlns="" val="2334468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HOTO-AngularTimerDemo_rev2.png"/>
          <p:cNvPicPr>
            <a:picLocks noChangeAspect="1"/>
          </p:cNvPicPr>
          <p:nvPr/>
        </p:nvPicPr>
        <p:blipFill rotWithShape="1">
          <a:blip r:embed="rId3" cstate="screen">
            <a:extLst>
              <a:ext uri="{28A0092B-C50C-407E-A947-70E740481C1C}">
                <a14:useLocalDpi xmlns:a14="http://schemas.microsoft.com/office/drawing/2010/main" xmlns=""/>
              </a:ext>
            </a:extLst>
          </a:blip>
          <a:srcRect/>
          <a:stretch/>
        </p:blipFill>
        <p:spPr>
          <a:xfrm rot="1248648">
            <a:off x="6219774" y="2079454"/>
            <a:ext cx="2470781" cy="34352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4577" name="Rectangle 2"/>
          <p:cNvSpPr>
            <a:spLocks noGrp="1" noChangeArrowheads="1"/>
          </p:cNvSpPr>
          <p:nvPr>
            <p:ph type="title"/>
          </p:nvPr>
        </p:nvSpPr>
        <p:spPr>
          <a:xfrm>
            <a:off x="1764254" y="198438"/>
            <a:ext cx="6922545" cy="868362"/>
          </a:xfrm>
        </p:spPr>
        <p:txBody>
          <a:bodyPr/>
          <a:lstStyle/>
          <a:p>
            <a:pPr lvl="1">
              <a:lnSpc>
                <a:spcPct val="100000"/>
              </a:lnSpc>
            </a:pPr>
            <a:r>
              <a:rPr lang="en-US" sz="3600" dirty="0" smtClean="0"/>
              <a:t>Angular Timer </a:t>
            </a:r>
            <a:br>
              <a:rPr lang="en-US" sz="3600" dirty="0" smtClean="0"/>
            </a:br>
            <a:r>
              <a:rPr lang="en-US" sz="2400" dirty="0" smtClean="0"/>
              <a:t>Demonstration Platform</a:t>
            </a:r>
          </a:p>
        </p:txBody>
      </p:sp>
      <p:sp>
        <p:nvSpPr>
          <p:cNvPr id="6" name="Content Placeholder 2"/>
          <p:cNvSpPr txBox="1">
            <a:spLocks/>
          </p:cNvSpPr>
          <p:nvPr/>
        </p:nvSpPr>
        <p:spPr>
          <a:xfrm>
            <a:off x="76200" y="1167888"/>
            <a:ext cx="6248400" cy="5537712"/>
          </a:xfrm>
          <a:prstGeom prst="rect">
            <a:avLst/>
          </a:prstGeom>
        </p:spPr>
        <p:txBody>
          <a:bodyPr/>
          <a:lstStyle/>
          <a:p>
            <a:pPr marL="342900" indent="-342900" eaLnBrk="0" hangingPunct="0">
              <a:spcBef>
                <a:spcPct val="20000"/>
              </a:spcBef>
              <a:buSzPct val="150000"/>
            </a:pPr>
            <a:r>
              <a:rPr lang="en-US" b="1" kern="0" dirty="0" smtClean="0">
                <a:solidFill>
                  <a:srgbClr val="000099"/>
                </a:solidFill>
              </a:rPr>
              <a:t>PIC16F161X Angular Timer Demonstration</a:t>
            </a:r>
            <a:endParaRPr lang="en-US" sz="1200" dirty="0" smtClean="0"/>
          </a:p>
          <a:p>
            <a:pPr marL="342900" indent="-342900" eaLnBrk="0" hangingPunct="0">
              <a:spcBef>
                <a:spcPct val="20000"/>
              </a:spcBef>
              <a:buSzPct val="150000"/>
              <a:buFont typeface="Arial"/>
              <a:buChar char="•"/>
            </a:pPr>
            <a:r>
              <a:rPr lang="en-US" sz="1400" dirty="0" smtClean="0"/>
              <a:t>The PIC</a:t>
            </a:r>
            <a:r>
              <a:rPr lang="en-US" sz="1400" baseline="30000" dirty="0" smtClean="0"/>
              <a:t>®</a:t>
            </a:r>
            <a:r>
              <a:rPr lang="en-US" sz="1400" dirty="0" smtClean="0"/>
              <a:t> MCU uses its on-chip Angular Timer to maintain a precise and consistent location for the displayed image, making automatic adjustments as the propeller slows to a halt.  </a:t>
            </a:r>
          </a:p>
          <a:p>
            <a:pPr marL="342900" indent="-342900" eaLnBrk="0" hangingPunct="0">
              <a:spcBef>
                <a:spcPct val="20000"/>
              </a:spcBef>
              <a:buSzPct val="150000"/>
              <a:buFont typeface="Arial"/>
              <a:buChar char="•"/>
            </a:pPr>
            <a:r>
              <a:rPr lang="en-US" sz="1400" dirty="0" smtClean="0"/>
              <a:t>Angular Timer offers a latency-free way to identify any angle-of-rotation, regardless of speed or acceleration.  </a:t>
            </a:r>
          </a:p>
          <a:p>
            <a:pPr marL="342900" indent="-342900" eaLnBrk="0" hangingPunct="0">
              <a:spcBef>
                <a:spcPct val="20000"/>
              </a:spcBef>
              <a:buSzPct val="150000"/>
              <a:buFont typeface="Arial"/>
              <a:buChar char="•"/>
            </a:pPr>
            <a:r>
              <a:rPr lang="en-US" sz="1400" dirty="0" smtClean="0"/>
              <a:t>Hardware-based solution reduces power consumption, increases system performance, and frees the CPU to perform the task of driving the LED array.</a:t>
            </a:r>
          </a:p>
          <a:p>
            <a:pPr marL="342900" indent="-342900" eaLnBrk="0" hangingPunct="0">
              <a:spcBef>
                <a:spcPct val="20000"/>
              </a:spcBef>
              <a:buSzPct val="150000"/>
              <a:buFont typeface="Arial"/>
              <a:buChar char="•"/>
            </a:pPr>
            <a:endParaRPr lang="en-US" sz="800" b="1" kern="0" dirty="0" smtClean="0">
              <a:solidFill>
                <a:srgbClr val="000099"/>
              </a:solidFill>
            </a:endParaRPr>
          </a:p>
          <a:p>
            <a:pPr marL="342900" indent="-342900" eaLnBrk="0" hangingPunct="0">
              <a:spcBef>
                <a:spcPct val="20000"/>
              </a:spcBef>
              <a:buSzPct val="150000"/>
              <a:buFont typeface="Arial" pitchFamily="34" charset="0"/>
              <a:buChar char="•"/>
            </a:pPr>
            <a:r>
              <a:rPr lang="en-US" sz="1600" b="1" kern="0" dirty="0" smtClean="0"/>
              <a:t>PIC16F1619</a:t>
            </a:r>
            <a:r>
              <a:rPr lang="en-US" sz="1600" kern="0" dirty="0" smtClean="0"/>
              <a:t> </a:t>
            </a:r>
            <a:r>
              <a:rPr lang="en-US" sz="1600" b="1" kern="0" dirty="0" smtClean="0"/>
              <a:t>Controlled</a:t>
            </a:r>
          </a:p>
          <a:p>
            <a:pPr marL="800100" lvl="1" indent="-342900" eaLnBrk="0" hangingPunct="0">
              <a:spcBef>
                <a:spcPct val="20000"/>
              </a:spcBef>
              <a:buSzPct val="150000"/>
              <a:buFont typeface="Arial" pitchFamily="34" charset="0"/>
              <a:buChar char="•"/>
            </a:pPr>
            <a:r>
              <a:rPr lang="en-US" sz="1400" kern="0" dirty="0" smtClean="0"/>
              <a:t>Uses integrated peripherals, including:</a:t>
            </a:r>
          </a:p>
          <a:p>
            <a:pPr marL="1257300" lvl="2" indent="-342900" eaLnBrk="0" hangingPunct="0">
              <a:spcBef>
                <a:spcPct val="20000"/>
              </a:spcBef>
              <a:buSzPct val="150000"/>
              <a:buFont typeface="Arial" pitchFamily="34" charset="0"/>
              <a:buChar char="•"/>
            </a:pPr>
            <a:r>
              <a:rPr lang="en-US" sz="1400" kern="0" dirty="0" smtClean="0"/>
              <a:t>Angular Timer – Timing measurement</a:t>
            </a:r>
          </a:p>
          <a:p>
            <a:pPr marL="1257300" lvl="2" indent="-342900" eaLnBrk="0" hangingPunct="0">
              <a:spcBef>
                <a:spcPct val="20000"/>
              </a:spcBef>
              <a:buSzPct val="150000"/>
              <a:buFont typeface="Arial" pitchFamily="34" charset="0"/>
              <a:buChar char="•"/>
            </a:pPr>
            <a:r>
              <a:rPr lang="en-US" sz="1400" kern="0" dirty="0" smtClean="0"/>
              <a:t>ADC – Sensor  </a:t>
            </a:r>
          </a:p>
          <a:p>
            <a:pPr marL="1257300" lvl="2" indent="-342900" eaLnBrk="0" hangingPunct="0">
              <a:spcBef>
                <a:spcPct val="20000"/>
              </a:spcBef>
              <a:buSzPct val="150000"/>
              <a:buFont typeface="Arial" pitchFamily="34" charset="0"/>
              <a:buChar char="•"/>
            </a:pPr>
            <a:r>
              <a:rPr lang="en-US" sz="1400" kern="0" dirty="0" smtClean="0"/>
              <a:t>I/O Pins – Driving LEDs directly</a:t>
            </a:r>
          </a:p>
          <a:p>
            <a:pPr marL="800100" lvl="1" indent="-342900" eaLnBrk="0" hangingPunct="0">
              <a:spcBef>
                <a:spcPct val="20000"/>
              </a:spcBef>
              <a:buSzPct val="150000"/>
              <a:buFont typeface="Arial" pitchFamily="34" charset="0"/>
              <a:buChar char="•"/>
            </a:pPr>
            <a:r>
              <a:rPr lang="en-US" sz="1400" kern="0" dirty="0" smtClean="0"/>
              <a:t>Sensor</a:t>
            </a:r>
          </a:p>
          <a:p>
            <a:pPr marL="1257300" lvl="2" indent="-342900" eaLnBrk="0" hangingPunct="0">
              <a:spcBef>
                <a:spcPct val="20000"/>
              </a:spcBef>
              <a:buSzPct val="150000"/>
              <a:buFont typeface="Arial" pitchFamily="34" charset="0"/>
              <a:buChar char="•"/>
            </a:pPr>
            <a:r>
              <a:rPr lang="en-US" sz="1400" kern="0" dirty="0" smtClean="0"/>
              <a:t>Initiates timing activities</a:t>
            </a:r>
          </a:p>
          <a:p>
            <a:pPr marL="800100" lvl="1" indent="-342900" eaLnBrk="0" hangingPunct="0">
              <a:spcBef>
                <a:spcPct val="20000"/>
              </a:spcBef>
              <a:buSzPct val="150000"/>
              <a:buFont typeface="Arial" pitchFamily="34" charset="0"/>
              <a:buChar char="•"/>
            </a:pPr>
            <a:r>
              <a:rPr lang="en-US" sz="1400" kern="0" dirty="0" smtClean="0"/>
              <a:t>12 – LEDS </a:t>
            </a:r>
          </a:p>
          <a:p>
            <a:pPr marL="800100" lvl="1" indent="-342900" eaLnBrk="0" hangingPunct="0">
              <a:spcBef>
                <a:spcPct val="20000"/>
              </a:spcBef>
              <a:buSzPct val="150000"/>
              <a:buFont typeface="Arial" pitchFamily="34" charset="0"/>
              <a:buChar char="•"/>
            </a:pPr>
            <a:endParaRPr lang="en-US" sz="1400" kern="0" dirty="0" smtClean="0"/>
          </a:p>
          <a:p>
            <a:pPr marL="342900" indent="-342900" eaLnBrk="0" hangingPunct="0">
              <a:spcBef>
                <a:spcPct val="20000"/>
              </a:spcBef>
              <a:buSzPct val="150000"/>
            </a:pPr>
            <a:r>
              <a:rPr lang="en-US" b="1" kern="0" dirty="0" smtClean="0">
                <a:solidFill>
                  <a:srgbClr val="000099"/>
                </a:solidFill>
              </a:rPr>
              <a:t>Powered via: </a:t>
            </a:r>
          </a:p>
          <a:p>
            <a:pPr marL="342900" indent="-342900" eaLnBrk="0" hangingPunct="0">
              <a:spcBef>
                <a:spcPct val="20000"/>
              </a:spcBef>
              <a:buSzPct val="150000"/>
              <a:buFont typeface="Arial"/>
              <a:buChar char="•"/>
            </a:pPr>
            <a:r>
              <a:rPr lang="en-US" sz="1400" kern="0" dirty="0" smtClean="0"/>
              <a:t>2 x AAA</a:t>
            </a:r>
          </a:p>
          <a:p>
            <a:pPr algn="r" eaLnBrk="0" hangingPunct="0">
              <a:lnSpc>
                <a:spcPct val="50000"/>
              </a:lnSpc>
              <a:spcBef>
                <a:spcPct val="20000"/>
              </a:spcBef>
              <a:buSzPct val="150000"/>
            </a:pPr>
            <a:endParaRPr lang="en-US" sz="1600" b="1" kern="0" dirty="0">
              <a:solidFill>
                <a:srgbClr val="000099"/>
              </a:solidFill>
            </a:endParaRPr>
          </a:p>
          <a:p>
            <a:pPr marL="342900" indent="-342900" algn="ctr" eaLnBrk="0" hangingPunct="0">
              <a:spcBef>
                <a:spcPct val="20000"/>
              </a:spcBef>
              <a:buSzPct val="150000"/>
              <a:buFont typeface="Arial"/>
              <a:buChar char="•"/>
            </a:pPr>
            <a:endParaRPr lang="en-US" sz="1400" kern="0" dirty="0" smtClean="0"/>
          </a:p>
          <a:p>
            <a:pPr lvl="1" eaLnBrk="0" hangingPunct="0">
              <a:spcBef>
                <a:spcPct val="20000"/>
              </a:spcBef>
              <a:buSzPct val="150000"/>
            </a:pPr>
            <a:endParaRPr lang="en-US" sz="1400" kern="0" dirty="0" smtClean="0"/>
          </a:p>
          <a:p>
            <a:pPr marL="800100" lvl="1" indent="-342900" eaLnBrk="0" hangingPunct="0">
              <a:spcBef>
                <a:spcPct val="20000"/>
              </a:spcBef>
              <a:buSzPct val="150000"/>
              <a:buFont typeface="Arial" pitchFamily="34" charset="0"/>
              <a:buChar char="•"/>
            </a:pPr>
            <a:endParaRPr lang="en-US" kern="0" dirty="0" smtClean="0"/>
          </a:p>
          <a:p>
            <a:pPr marL="800100" lvl="1" indent="-342900" eaLnBrk="0" hangingPunct="0">
              <a:spcBef>
                <a:spcPct val="20000"/>
              </a:spcBef>
              <a:buSzPct val="150000"/>
            </a:pPr>
            <a:endParaRPr lang="en-US" kern="0" dirty="0" smtClean="0"/>
          </a:p>
          <a:p>
            <a:pPr marL="342900" indent="-342900" eaLnBrk="0" hangingPunct="0">
              <a:spcBef>
                <a:spcPct val="20000"/>
              </a:spcBef>
              <a:buSzPct val="150000"/>
            </a:pPr>
            <a:endParaRPr lang="en-US" kern="0" dirty="0" smtClean="0"/>
          </a:p>
          <a:p>
            <a:pPr marL="800100" lvl="1" indent="-342900" eaLnBrk="0" hangingPunct="0">
              <a:spcBef>
                <a:spcPct val="20000"/>
              </a:spcBef>
              <a:buSzPct val="150000"/>
              <a:buFont typeface="Monotype Sorts" pitchFamily="2" charset="2"/>
              <a:buChar char="l"/>
            </a:pPr>
            <a:endParaRPr kumimoji="0" lang="en-US" sz="1800" i="0" u="none" strike="noStrike" kern="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Pct val="150000"/>
              <a:buFont typeface="Monotype Sorts" pitchFamily="2" charset="2"/>
              <a:buChar char="l"/>
              <a:tabLst/>
              <a:defRPr/>
            </a:pPr>
            <a:endParaRPr kumimoji="0" lang="en-US" sz="1800" i="0" u="none" strike="noStrike" kern="0" cap="none" spc="0" normalizeH="0" baseline="0" noProof="0" dirty="0" smtClean="0">
              <a:ln>
                <a:noFill/>
              </a:ln>
              <a:solidFill>
                <a:schemeClr val="tx1"/>
              </a:solidFill>
              <a:effectLst/>
              <a:uLnTx/>
              <a:uFillTx/>
              <a:latin typeface="+mn-lt"/>
              <a:ea typeface="+mn-ea"/>
              <a:cs typeface="+mn-cs"/>
            </a:endParaRPr>
          </a:p>
        </p:txBody>
      </p:sp>
      <p:sp>
        <p:nvSpPr>
          <p:cNvPr id="4" name="Curved Right Arrow 3"/>
          <p:cNvSpPr>
            <a:spLocks noChangeAspect="1"/>
          </p:cNvSpPr>
          <p:nvPr/>
        </p:nvSpPr>
        <p:spPr>
          <a:xfrm rot="697889" flipV="1">
            <a:off x="6185214" y="2255730"/>
            <a:ext cx="629261" cy="1704976"/>
          </a:xfrm>
          <a:prstGeom prst="curv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
        <p:nvSpPr>
          <p:cNvPr id="9" name="Rectangle 8"/>
          <p:cNvSpPr/>
          <p:nvPr/>
        </p:nvSpPr>
        <p:spPr>
          <a:xfrm>
            <a:off x="2010241" y="6248400"/>
            <a:ext cx="5123518" cy="300852"/>
          </a:xfrm>
          <a:prstGeom prst="rect">
            <a:avLst/>
          </a:prstGeom>
        </p:spPr>
        <p:txBody>
          <a:bodyPr wrap="none">
            <a:spAutoFit/>
          </a:bodyPr>
          <a:lstStyle/>
          <a:p>
            <a:pPr algn="r" eaLnBrk="0" hangingPunct="0">
              <a:lnSpc>
                <a:spcPct val="50000"/>
              </a:lnSpc>
              <a:spcBef>
                <a:spcPct val="20000"/>
              </a:spcBef>
              <a:buSzPct val="150000"/>
            </a:pPr>
            <a:r>
              <a:rPr lang="en-US" sz="2400" b="1" kern="0" dirty="0" err="1" smtClean="0">
                <a:solidFill>
                  <a:srgbClr val="000099"/>
                </a:solidFill>
                <a:hlinkClick r:id="rId4"/>
              </a:rPr>
              <a:t>www.microchip.com/angtmrdemo</a:t>
            </a:r>
            <a:endParaRPr lang="en-US" b="1" kern="0" dirty="0" smtClean="0">
              <a:solidFill>
                <a:srgbClr val="000099"/>
              </a:solidFill>
            </a:endParaRPr>
          </a:p>
        </p:txBody>
      </p:sp>
      <p:sp>
        <p:nvSpPr>
          <p:cNvPr id="11" name="Curved Right Arrow 10"/>
          <p:cNvSpPr>
            <a:spLocks noChangeAspect="1"/>
          </p:cNvSpPr>
          <p:nvPr/>
        </p:nvSpPr>
        <p:spPr>
          <a:xfrm rot="2527120" flipH="1">
            <a:off x="8110486" y="3257160"/>
            <a:ext cx="629261" cy="1704976"/>
          </a:xfrm>
          <a:prstGeom prst="curved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xmlns="" val="8949533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p:cNvSpPr>
            <a:spLocks noGrp="1"/>
          </p:cNvSpPr>
          <p:nvPr>
            <p:ph idx="4294967295"/>
          </p:nvPr>
        </p:nvSpPr>
        <p:spPr>
          <a:xfrm>
            <a:off x="4114800" y="1295400"/>
            <a:ext cx="5029200" cy="3048000"/>
          </a:xfrm>
        </p:spPr>
        <p:txBody>
          <a:bodyPr/>
          <a:lstStyle/>
          <a:p>
            <a:r>
              <a:rPr lang="en-US" sz="2000" dirty="0" smtClean="0">
                <a:solidFill>
                  <a:schemeClr val="accent2"/>
                </a:solidFill>
              </a:rPr>
              <a:t>Off-loading from the CPU</a:t>
            </a:r>
          </a:p>
          <a:p>
            <a:pPr lvl="1"/>
            <a:r>
              <a:rPr lang="en-US" sz="1800" dirty="0" smtClean="0">
                <a:solidFill>
                  <a:srgbClr val="000000"/>
                </a:solidFill>
              </a:rPr>
              <a:t>Reduces instruction cycles</a:t>
            </a:r>
          </a:p>
          <a:p>
            <a:pPr lvl="1"/>
            <a:r>
              <a:rPr lang="en-US" sz="1800" dirty="0" smtClean="0">
                <a:solidFill>
                  <a:srgbClr val="000000"/>
                </a:solidFill>
              </a:rPr>
              <a:t>Core independent operation</a:t>
            </a:r>
          </a:p>
          <a:p>
            <a:pPr lvl="1"/>
            <a:r>
              <a:rPr lang="en-US" sz="1800" dirty="0" smtClean="0">
                <a:solidFill>
                  <a:srgbClr val="000000"/>
                </a:solidFill>
              </a:rPr>
              <a:t>Cycle Ratio:</a:t>
            </a:r>
            <a:r>
              <a:rPr lang="en-US" sz="1800" dirty="0" smtClean="0">
                <a:solidFill>
                  <a:schemeClr val="accent2"/>
                </a:solidFill>
              </a:rPr>
              <a:t> </a:t>
            </a:r>
            <a:r>
              <a:rPr lang="en-US" sz="1800" dirty="0" smtClean="0">
                <a:solidFill>
                  <a:srgbClr val="000000"/>
                </a:solidFill>
              </a:rPr>
              <a:t>~300 to 1 CPU instructions</a:t>
            </a:r>
          </a:p>
          <a:p>
            <a:pPr lvl="1"/>
            <a:endParaRPr lang="en-US" sz="800" dirty="0" smtClean="0">
              <a:solidFill>
                <a:srgbClr val="000000"/>
              </a:solidFill>
            </a:endParaRPr>
          </a:p>
          <a:p>
            <a:r>
              <a:rPr lang="en-US" sz="2000" dirty="0" smtClean="0">
                <a:solidFill>
                  <a:schemeClr val="accent2"/>
                </a:solidFill>
              </a:rPr>
              <a:t>Improving </a:t>
            </a:r>
            <a:r>
              <a:rPr lang="en-US" sz="2000" dirty="0">
                <a:solidFill>
                  <a:schemeClr val="accent2"/>
                </a:solidFill>
              </a:rPr>
              <a:t>P</a:t>
            </a:r>
            <a:r>
              <a:rPr lang="en-US" sz="2000" dirty="0" smtClean="0">
                <a:solidFill>
                  <a:schemeClr val="accent2"/>
                </a:solidFill>
              </a:rPr>
              <a:t>erformance </a:t>
            </a:r>
            <a:endParaRPr lang="en-US" sz="2000" dirty="0">
              <a:solidFill>
                <a:schemeClr val="accent2"/>
              </a:solidFill>
            </a:endParaRPr>
          </a:p>
          <a:p>
            <a:pPr lvl="1"/>
            <a:r>
              <a:rPr lang="en-US" sz="1800" dirty="0" smtClean="0">
                <a:solidFill>
                  <a:srgbClr val="000000"/>
                </a:solidFill>
              </a:rPr>
              <a:t>Increases accurate measurements </a:t>
            </a:r>
          </a:p>
          <a:p>
            <a:pPr lvl="1"/>
            <a:r>
              <a:rPr lang="en-US" sz="1800" dirty="0" smtClean="0">
                <a:solidFill>
                  <a:srgbClr val="000000"/>
                </a:solidFill>
              </a:rPr>
              <a:t>Simplifying Design</a:t>
            </a:r>
            <a:endParaRPr lang="en-US" sz="1600" dirty="0" smtClean="0"/>
          </a:p>
          <a:p>
            <a:pPr lvl="1" eaLnBrk="1" hangingPunct="1"/>
            <a:endParaRPr lang="en-US" sz="1600" dirty="0" smtClean="0"/>
          </a:p>
          <a:p>
            <a:pPr marL="457200" lvl="1" indent="0" eaLnBrk="1" hangingPunct="1">
              <a:buNone/>
            </a:pPr>
            <a:endParaRPr lang="en-US" sz="1600" dirty="0" smtClean="0"/>
          </a:p>
          <a:p>
            <a:pPr lvl="1" eaLnBrk="1" hangingPunct="1"/>
            <a:endParaRPr lang="en-US" sz="1600" dirty="0" smtClean="0"/>
          </a:p>
          <a:p>
            <a:pPr lvl="1" eaLnBrk="1" hangingPunct="1"/>
            <a:endParaRPr lang="en-US" sz="1600" dirty="0" smtClean="0"/>
          </a:p>
          <a:p>
            <a:pPr lvl="1" eaLnBrk="1" hangingPunct="1">
              <a:buFont typeface="Monotype Sorts" pitchFamily="2" charset="2"/>
              <a:buNone/>
            </a:pPr>
            <a:endParaRPr lang="en-US" sz="1600" dirty="0" smtClean="0"/>
          </a:p>
          <a:p>
            <a:pPr lvl="1" eaLnBrk="1" hangingPunct="1">
              <a:buFont typeface="Monotype Sorts" pitchFamily="2" charset="2"/>
              <a:buNone/>
            </a:pPr>
            <a:endParaRPr lang="en-US" sz="1600" dirty="0" smtClean="0"/>
          </a:p>
          <a:p>
            <a:pPr marL="457200" lvl="1" indent="0" eaLnBrk="1" hangingPunct="1">
              <a:buNone/>
            </a:pPr>
            <a:endParaRPr lang="en-US" sz="1600" dirty="0"/>
          </a:p>
        </p:txBody>
      </p:sp>
      <p:sp>
        <p:nvSpPr>
          <p:cNvPr id="4099" name="Title 1"/>
          <p:cNvSpPr>
            <a:spLocks noGrp="1"/>
          </p:cNvSpPr>
          <p:nvPr>
            <p:ph type="title" idx="4294967295"/>
          </p:nvPr>
        </p:nvSpPr>
        <p:spPr>
          <a:xfrm>
            <a:off x="1676400" y="198438"/>
            <a:ext cx="7467600" cy="868362"/>
          </a:xfrm>
        </p:spPr>
        <p:txBody>
          <a:bodyPr/>
          <a:lstStyle/>
          <a:p>
            <a:r>
              <a:rPr lang="en-US" sz="3200" dirty="0" smtClean="0"/>
              <a:t>Advantages of </a:t>
            </a:r>
            <a:br>
              <a:rPr lang="en-US" sz="3200" dirty="0" smtClean="0"/>
            </a:br>
            <a:r>
              <a:rPr lang="en-US" sz="3200" dirty="0" smtClean="0"/>
              <a:t>Core Independent Peripherals</a:t>
            </a:r>
            <a:endParaRPr lang="en-US" sz="3200" b="0" dirty="0" smtClean="0"/>
          </a:p>
        </p:txBody>
      </p:sp>
      <p:cxnSp>
        <p:nvCxnSpPr>
          <p:cNvPr id="3" name="Straight Arrow Connector 2"/>
          <p:cNvCxnSpPr/>
          <p:nvPr/>
        </p:nvCxnSpPr>
        <p:spPr>
          <a:xfrm flipV="1">
            <a:off x="685800" y="1304795"/>
            <a:ext cx="0" cy="2618739"/>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1" name="Straight Arrow Connector 10"/>
          <p:cNvCxnSpPr/>
          <p:nvPr/>
        </p:nvCxnSpPr>
        <p:spPr>
          <a:xfrm>
            <a:off x="685800" y="3923534"/>
            <a:ext cx="2743200" cy="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12" name="Round Same Side Corner Rectangle 11"/>
          <p:cNvSpPr/>
          <p:nvPr/>
        </p:nvSpPr>
        <p:spPr>
          <a:xfrm>
            <a:off x="2171700" y="3618734"/>
            <a:ext cx="609600" cy="304800"/>
          </a:xfrm>
          <a:prstGeom prst="round2Same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5" name="Round Same Side Corner Rectangle 14"/>
          <p:cNvSpPr/>
          <p:nvPr/>
        </p:nvSpPr>
        <p:spPr>
          <a:xfrm>
            <a:off x="990600" y="1474185"/>
            <a:ext cx="609600" cy="2438400"/>
          </a:xfrm>
          <a:prstGeom prst="round2SameRect">
            <a:avLst/>
          </a:prstGeom>
          <a:gradFill flip="none" rotWithShape="1">
            <a:gsLst>
              <a:gs pos="66000">
                <a:srgbClr val="FF0000"/>
              </a:gs>
              <a:gs pos="100000">
                <a:srgbClr val="FFFFFF"/>
              </a:gs>
            </a:gsLst>
            <a:path path="circle">
              <a:fillToRect l="100000" t="100000"/>
            </a:path>
            <a:tileRect r="-100000" b="-100000"/>
          </a:gradFill>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dirty="0"/>
          </a:p>
        </p:txBody>
      </p:sp>
      <p:sp>
        <p:nvSpPr>
          <p:cNvPr id="13" name="TextBox 12"/>
          <p:cNvSpPr txBox="1"/>
          <p:nvPr/>
        </p:nvSpPr>
        <p:spPr>
          <a:xfrm>
            <a:off x="1828800" y="4103735"/>
            <a:ext cx="1295400" cy="276999"/>
          </a:xfrm>
          <a:prstGeom prst="rect">
            <a:avLst/>
          </a:prstGeom>
          <a:noFill/>
        </p:spPr>
        <p:txBody>
          <a:bodyPr wrap="square" rtlCol="0">
            <a:spAutoFit/>
          </a:bodyPr>
          <a:lstStyle/>
          <a:p>
            <a:pPr algn="ctr"/>
            <a:r>
              <a:rPr lang="en-US" sz="1200" b="1" i="1" dirty="0" smtClean="0"/>
              <a:t>Angular </a:t>
            </a:r>
            <a:r>
              <a:rPr lang="en-US" sz="1200" b="1" i="1" dirty="0" err="1" smtClean="0"/>
              <a:t>Tmr</a:t>
            </a:r>
            <a:endParaRPr lang="en-US" sz="1200" b="1" i="1" dirty="0"/>
          </a:p>
        </p:txBody>
      </p:sp>
      <p:sp>
        <p:nvSpPr>
          <p:cNvPr id="20" name="TextBox 19"/>
          <p:cNvSpPr txBox="1"/>
          <p:nvPr/>
        </p:nvSpPr>
        <p:spPr>
          <a:xfrm>
            <a:off x="609600" y="3923534"/>
            <a:ext cx="1295400" cy="461665"/>
          </a:xfrm>
          <a:prstGeom prst="rect">
            <a:avLst/>
          </a:prstGeom>
          <a:noFill/>
        </p:spPr>
        <p:txBody>
          <a:bodyPr wrap="square" rtlCol="0">
            <a:spAutoFit/>
          </a:bodyPr>
          <a:lstStyle/>
          <a:p>
            <a:pPr algn="ctr"/>
            <a:r>
              <a:rPr lang="en-US" sz="1200" b="1" i="1" dirty="0" smtClean="0"/>
              <a:t>W/O</a:t>
            </a:r>
          </a:p>
          <a:p>
            <a:pPr algn="ctr"/>
            <a:r>
              <a:rPr lang="en-US" sz="1200" b="1" i="1" dirty="0" smtClean="0"/>
              <a:t>Angular </a:t>
            </a:r>
            <a:r>
              <a:rPr lang="en-US" sz="1200" b="1" i="1" dirty="0" err="1" smtClean="0"/>
              <a:t>Tmr</a:t>
            </a:r>
            <a:endParaRPr lang="en-US" sz="1200" b="1" i="1" dirty="0"/>
          </a:p>
        </p:txBody>
      </p:sp>
      <p:sp>
        <p:nvSpPr>
          <p:cNvPr id="10" name="TextBox 9"/>
          <p:cNvSpPr txBox="1"/>
          <p:nvPr/>
        </p:nvSpPr>
        <p:spPr>
          <a:xfrm>
            <a:off x="685800" y="2028714"/>
            <a:ext cx="1219200" cy="738664"/>
          </a:xfrm>
          <a:prstGeom prst="rect">
            <a:avLst/>
          </a:prstGeom>
          <a:noFill/>
        </p:spPr>
        <p:txBody>
          <a:bodyPr wrap="square" rtlCol="0">
            <a:spAutoFit/>
          </a:bodyPr>
          <a:lstStyle/>
          <a:p>
            <a:pPr algn="ctr"/>
            <a:r>
              <a:rPr lang="en-US" sz="1400" dirty="0" smtClean="0"/>
              <a:t>~900</a:t>
            </a:r>
          </a:p>
          <a:p>
            <a:pPr algn="ctr"/>
            <a:r>
              <a:rPr lang="en-US" sz="1400" dirty="0" smtClean="0"/>
              <a:t>Instruction</a:t>
            </a:r>
          </a:p>
          <a:p>
            <a:pPr algn="ctr"/>
            <a:r>
              <a:rPr lang="en-US" sz="1400" dirty="0" smtClean="0"/>
              <a:t>Cycles</a:t>
            </a:r>
            <a:endParaRPr lang="en-US" sz="1400" dirty="0"/>
          </a:p>
        </p:txBody>
      </p:sp>
      <p:sp>
        <p:nvSpPr>
          <p:cNvPr id="23" name="TextBox 22"/>
          <p:cNvSpPr txBox="1"/>
          <p:nvPr/>
        </p:nvSpPr>
        <p:spPr>
          <a:xfrm>
            <a:off x="1676400" y="3134380"/>
            <a:ext cx="1676400" cy="523220"/>
          </a:xfrm>
          <a:prstGeom prst="rect">
            <a:avLst/>
          </a:prstGeom>
          <a:noFill/>
        </p:spPr>
        <p:txBody>
          <a:bodyPr wrap="square" rtlCol="0">
            <a:spAutoFit/>
          </a:bodyPr>
          <a:lstStyle/>
          <a:p>
            <a:pPr algn="ctr"/>
            <a:r>
              <a:rPr lang="en-US" sz="1400" dirty="0"/>
              <a:t>3</a:t>
            </a:r>
            <a:endParaRPr lang="en-US" sz="1400" dirty="0" smtClean="0"/>
          </a:p>
          <a:p>
            <a:pPr algn="ctr"/>
            <a:r>
              <a:rPr lang="en-US" sz="1400" dirty="0" smtClean="0"/>
              <a:t>Instruction Cycles</a:t>
            </a:r>
            <a:endParaRPr lang="en-US" sz="1400" dirty="0"/>
          </a:p>
        </p:txBody>
      </p:sp>
      <p:sp>
        <p:nvSpPr>
          <p:cNvPr id="30" name="TextBox 29"/>
          <p:cNvSpPr txBox="1"/>
          <p:nvPr/>
        </p:nvSpPr>
        <p:spPr>
          <a:xfrm rot="16200000">
            <a:off x="-1045295" y="2454230"/>
            <a:ext cx="2827767" cy="584776"/>
          </a:xfrm>
          <a:prstGeom prst="rect">
            <a:avLst/>
          </a:prstGeom>
          <a:noFill/>
        </p:spPr>
        <p:txBody>
          <a:bodyPr wrap="square" rtlCol="0">
            <a:spAutoFit/>
          </a:bodyPr>
          <a:lstStyle/>
          <a:p>
            <a:pPr algn="ctr"/>
            <a:r>
              <a:rPr lang="en-US" sz="1600" b="1" i="1" dirty="0" smtClean="0"/>
              <a:t>Execution Time</a:t>
            </a:r>
          </a:p>
          <a:p>
            <a:pPr algn="ctr"/>
            <a:r>
              <a:rPr lang="en-US" sz="1600" b="1" i="1" dirty="0" smtClean="0"/>
              <a:t> </a:t>
            </a:r>
            <a:r>
              <a:rPr lang="en-US" sz="1200" b="1" i="1" dirty="0" smtClean="0"/>
              <a:t>(Instruction cycles)</a:t>
            </a:r>
            <a:endParaRPr lang="en-US" sz="1200" b="1" i="1" dirty="0"/>
          </a:p>
        </p:txBody>
      </p:sp>
      <p:sp>
        <p:nvSpPr>
          <p:cNvPr id="34" name="TextBox 33"/>
          <p:cNvSpPr txBox="1"/>
          <p:nvPr/>
        </p:nvSpPr>
        <p:spPr>
          <a:xfrm>
            <a:off x="685800" y="1292423"/>
            <a:ext cx="1219200" cy="307777"/>
          </a:xfrm>
          <a:prstGeom prst="rect">
            <a:avLst/>
          </a:prstGeom>
          <a:noFill/>
        </p:spPr>
        <p:txBody>
          <a:bodyPr wrap="square" rtlCol="0">
            <a:spAutoFit/>
          </a:bodyPr>
          <a:lstStyle/>
          <a:p>
            <a:pPr algn="ctr"/>
            <a:r>
              <a:rPr lang="en-US" sz="1400" b="1" dirty="0" smtClean="0"/>
              <a:t>225 </a:t>
            </a:r>
            <a:r>
              <a:rPr lang="en-US" sz="1400" b="1" i="1" dirty="0" err="1" smtClean="0"/>
              <a:t>μs</a:t>
            </a:r>
            <a:endParaRPr lang="en-US" sz="1400" b="1" i="1" dirty="0"/>
          </a:p>
        </p:txBody>
      </p:sp>
      <p:grpSp>
        <p:nvGrpSpPr>
          <p:cNvPr id="24" name="Group 23"/>
          <p:cNvGrpSpPr/>
          <p:nvPr/>
        </p:nvGrpSpPr>
        <p:grpSpPr>
          <a:xfrm>
            <a:off x="1371600" y="4601618"/>
            <a:ext cx="7696197" cy="2027782"/>
            <a:chOff x="1371600" y="4482972"/>
            <a:chExt cx="7696197" cy="2027782"/>
          </a:xfrm>
        </p:grpSpPr>
        <p:cxnSp>
          <p:nvCxnSpPr>
            <p:cNvPr id="66" name="Straight Connector 65"/>
            <p:cNvCxnSpPr/>
            <p:nvPr/>
          </p:nvCxnSpPr>
          <p:spPr>
            <a:xfrm flipH="1">
              <a:off x="4953000" y="5943600"/>
              <a:ext cx="2667000" cy="0"/>
            </a:xfrm>
            <a:prstGeom prst="line">
              <a:avLst/>
            </a:prstGeom>
            <a:ln/>
            <a:effectLst/>
          </p:spPr>
          <p:style>
            <a:lnRef idx="2">
              <a:schemeClr val="dk1"/>
            </a:lnRef>
            <a:fillRef idx="0">
              <a:schemeClr val="dk1"/>
            </a:fillRef>
            <a:effectRef idx="1">
              <a:schemeClr val="dk1"/>
            </a:effectRef>
            <a:fontRef idx="minor">
              <a:schemeClr val="tx1"/>
            </a:fontRef>
          </p:style>
        </p:cxnSp>
        <p:sp>
          <p:nvSpPr>
            <p:cNvPr id="23565" name="TextBox 23564"/>
            <p:cNvSpPr txBox="1"/>
            <p:nvPr/>
          </p:nvSpPr>
          <p:spPr>
            <a:xfrm>
              <a:off x="1392515" y="5017140"/>
              <a:ext cx="2286000" cy="307777"/>
            </a:xfrm>
            <a:prstGeom prst="rect">
              <a:avLst/>
            </a:prstGeom>
            <a:noFill/>
          </p:spPr>
          <p:txBody>
            <a:bodyPr wrap="square" rtlCol="0">
              <a:spAutoFit/>
            </a:bodyPr>
            <a:lstStyle/>
            <a:p>
              <a:r>
                <a:rPr lang="en-US" sz="1400" b="1" dirty="0" smtClean="0"/>
                <a:t>CPU – w/o </a:t>
              </a:r>
              <a:r>
                <a:rPr lang="en-US" sz="1400" b="1" dirty="0" err="1" smtClean="0"/>
                <a:t>AngTmr</a:t>
              </a:r>
              <a:endParaRPr lang="en-US" sz="1400" b="1" dirty="0"/>
            </a:p>
          </p:txBody>
        </p:sp>
        <p:sp>
          <p:nvSpPr>
            <p:cNvPr id="95" name="TextBox 94"/>
            <p:cNvSpPr txBox="1"/>
            <p:nvPr/>
          </p:nvSpPr>
          <p:spPr>
            <a:xfrm>
              <a:off x="1371600" y="5626740"/>
              <a:ext cx="2286000" cy="307777"/>
            </a:xfrm>
            <a:prstGeom prst="rect">
              <a:avLst/>
            </a:prstGeom>
            <a:noFill/>
          </p:spPr>
          <p:txBody>
            <a:bodyPr wrap="square" rtlCol="0">
              <a:spAutoFit/>
            </a:bodyPr>
            <a:lstStyle/>
            <a:p>
              <a:r>
                <a:rPr lang="en-US" sz="1400" b="1" dirty="0" smtClean="0"/>
                <a:t>CPU – w/</a:t>
              </a:r>
              <a:r>
                <a:rPr lang="en-US" sz="1400" b="1" dirty="0" err="1" smtClean="0"/>
                <a:t>AngTmr</a:t>
              </a:r>
              <a:endParaRPr lang="en-US" sz="1400" b="1" dirty="0"/>
            </a:p>
          </p:txBody>
        </p:sp>
        <p:grpSp>
          <p:nvGrpSpPr>
            <p:cNvPr id="23564" name="Group 23563"/>
            <p:cNvGrpSpPr/>
            <p:nvPr/>
          </p:nvGrpSpPr>
          <p:grpSpPr>
            <a:xfrm>
              <a:off x="3174414" y="4505062"/>
              <a:ext cx="3130026" cy="1791021"/>
              <a:chOff x="2513053" y="4739537"/>
              <a:chExt cx="2477105" cy="1280160"/>
            </a:xfrm>
          </p:grpSpPr>
          <p:sp>
            <p:nvSpPr>
              <p:cNvPr id="58" name="Freeform 57"/>
              <p:cNvSpPr/>
              <p:nvPr/>
            </p:nvSpPr>
            <p:spPr>
              <a:xfrm>
                <a:off x="2541398"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71" name="Freeform 45"/>
              <p:cNvSpPr>
                <a:spLocks/>
              </p:cNvSpPr>
              <p:nvPr/>
            </p:nvSpPr>
            <p:spPr bwMode="auto">
              <a:xfrm>
                <a:off x="3679408" y="5549894"/>
                <a:ext cx="266934" cy="227928"/>
              </a:xfrm>
              <a:custGeom>
                <a:avLst/>
                <a:gdLst>
                  <a:gd name="connsiteX0" fmla="*/ 0 w 12691"/>
                  <a:gd name="connsiteY0" fmla="*/ 10000 h 10000"/>
                  <a:gd name="connsiteX1" fmla="*/ 1884 w 12691"/>
                  <a:gd name="connsiteY1" fmla="*/ 10000 h 10000"/>
                  <a:gd name="connsiteX2" fmla="*/ 1884 w 12691"/>
                  <a:gd name="connsiteY2" fmla="*/ 0 h 10000"/>
                  <a:gd name="connsiteX3" fmla="*/ 12691 w 12691"/>
                  <a:gd name="connsiteY3" fmla="*/ 0 h 10000"/>
                  <a:gd name="connsiteX4" fmla="*/ 7739 w 12691"/>
                  <a:gd name="connsiteY4" fmla="*/ 9913 h 10000"/>
                  <a:gd name="connsiteX5" fmla="*/ 9105 w 12691"/>
                  <a:gd name="connsiteY5" fmla="*/ 9913 h 10000"/>
                  <a:gd name="connsiteX6" fmla="*/ 10000 w 12691"/>
                  <a:gd name="connsiteY6" fmla="*/ 9913 h 10000"/>
                  <a:gd name="connsiteX0" fmla="*/ 0 w 12691"/>
                  <a:gd name="connsiteY0" fmla="*/ 10000 h 10000"/>
                  <a:gd name="connsiteX1" fmla="*/ 1884 w 12691"/>
                  <a:gd name="connsiteY1" fmla="*/ 10000 h 10000"/>
                  <a:gd name="connsiteX2" fmla="*/ 1884 w 12691"/>
                  <a:gd name="connsiteY2" fmla="*/ 0 h 10000"/>
                  <a:gd name="connsiteX3" fmla="*/ 12691 w 12691"/>
                  <a:gd name="connsiteY3" fmla="*/ 0 h 10000"/>
                  <a:gd name="connsiteX4" fmla="*/ 12691 w 12691"/>
                  <a:gd name="connsiteY4" fmla="*/ 9913 h 10000"/>
                  <a:gd name="connsiteX5" fmla="*/ 9105 w 12691"/>
                  <a:gd name="connsiteY5" fmla="*/ 9913 h 10000"/>
                  <a:gd name="connsiteX6" fmla="*/ 10000 w 12691"/>
                  <a:gd name="connsiteY6" fmla="*/ 9913 h 10000"/>
                  <a:gd name="connsiteX0" fmla="*/ 0 w 13851"/>
                  <a:gd name="connsiteY0" fmla="*/ 10000 h 10000"/>
                  <a:gd name="connsiteX1" fmla="*/ 1884 w 13851"/>
                  <a:gd name="connsiteY1" fmla="*/ 10000 h 10000"/>
                  <a:gd name="connsiteX2" fmla="*/ 1884 w 13851"/>
                  <a:gd name="connsiteY2" fmla="*/ 0 h 10000"/>
                  <a:gd name="connsiteX3" fmla="*/ 12691 w 13851"/>
                  <a:gd name="connsiteY3" fmla="*/ 0 h 10000"/>
                  <a:gd name="connsiteX4" fmla="*/ 12691 w 13851"/>
                  <a:gd name="connsiteY4" fmla="*/ 9913 h 10000"/>
                  <a:gd name="connsiteX5" fmla="*/ 9105 w 13851"/>
                  <a:gd name="connsiteY5" fmla="*/ 9913 h 10000"/>
                  <a:gd name="connsiteX6" fmla="*/ 13851 w 13851"/>
                  <a:gd name="connsiteY6" fmla="*/ 9913 h 10000"/>
                  <a:gd name="connsiteX0" fmla="*/ 0 w 13851"/>
                  <a:gd name="connsiteY0" fmla="*/ 10000 h 10000"/>
                  <a:gd name="connsiteX1" fmla="*/ 1884 w 13851"/>
                  <a:gd name="connsiteY1" fmla="*/ 10000 h 10000"/>
                  <a:gd name="connsiteX2" fmla="*/ 1884 w 13851"/>
                  <a:gd name="connsiteY2" fmla="*/ 0 h 10000"/>
                  <a:gd name="connsiteX3" fmla="*/ 12691 w 13851"/>
                  <a:gd name="connsiteY3" fmla="*/ 0 h 10000"/>
                  <a:gd name="connsiteX4" fmla="*/ 12691 w 13851"/>
                  <a:gd name="connsiteY4" fmla="*/ 9913 h 10000"/>
                  <a:gd name="connsiteX5" fmla="*/ 12681 w 13851"/>
                  <a:gd name="connsiteY5" fmla="*/ 9913 h 10000"/>
                  <a:gd name="connsiteX6" fmla="*/ 13851 w 13851"/>
                  <a:gd name="connsiteY6" fmla="*/ 991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51" h="10000">
                    <a:moveTo>
                      <a:pt x="0" y="10000"/>
                    </a:moveTo>
                    <a:lnTo>
                      <a:pt x="1884" y="10000"/>
                    </a:lnTo>
                    <a:lnTo>
                      <a:pt x="1884" y="0"/>
                    </a:lnTo>
                    <a:lnTo>
                      <a:pt x="12691" y="0"/>
                    </a:lnTo>
                    <a:lnTo>
                      <a:pt x="12691" y="9913"/>
                    </a:lnTo>
                    <a:lnTo>
                      <a:pt x="12681" y="9913"/>
                    </a:lnTo>
                    <a:lnTo>
                      <a:pt x="13851" y="9913"/>
                    </a:lnTo>
                  </a:path>
                </a:pathLst>
              </a:custGeom>
              <a:noFill/>
              <a:ln w="25400">
                <a:solidFill>
                  <a:schemeClr val="tx1"/>
                </a:solidFill>
                <a:round/>
                <a:headEnd/>
                <a:tailEnd/>
              </a:ln>
              <a:effectLst/>
            </p:spPr>
            <p:txBody>
              <a:bodyPr/>
              <a:lstStyle/>
              <a:p>
                <a:pPr algn="r"/>
                <a:endParaRPr lang="en-US" dirty="0"/>
              </a:p>
            </p:txBody>
          </p:sp>
          <p:sp>
            <p:nvSpPr>
              <p:cNvPr id="61" name="Freeform 60"/>
              <p:cNvSpPr/>
              <p:nvPr/>
            </p:nvSpPr>
            <p:spPr>
              <a:xfrm>
                <a:off x="3379616"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63" name="Freeform 62"/>
              <p:cNvSpPr/>
              <p:nvPr/>
            </p:nvSpPr>
            <p:spPr>
              <a:xfrm>
                <a:off x="3923912"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cxnSp>
            <p:nvCxnSpPr>
              <p:cNvPr id="82" name="Straight Connector 81"/>
              <p:cNvCxnSpPr>
                <a:stCxn id="71" idx="0"/>
              </p:cNvCxnSpPr>
              <p:nvPr/>
            </p:nvCxnSpPr>
            <p:spPr>
              <a:xfrm flipH="1">
                <a:off x="2513053" y="5777822"/>
                <a:ext cx="1166355" cy="366"/>
              </a:xfrm>
              <a:prstGeom prst="line">
                <a:avLst/>
              </a:prstGeom>
              <a:ln/>
              <a:effectLst/>
            </p:spPr>
            <p:style>
              <a:lnRef idx="2">
                <a:schemeClr val="dk1"/>
              </a:lnRef>
              <a:fillRef idx="0">
                <a:schemeClr val="dk1"/>
              </a:fillRef>
              <a:effectRef idx="1">
                <a:schemeClr val="dk1"/>
              </a:effectRef>
              <a:fontRef idx="minor">
                <a:schemeClr val="tx1"/>
              </a:fontRef>
            </p:style>
          </p:cxnSp>
          <p:sp>
            <p:nvSpPr>
              <p:cNvPr id="90" name="Freeform 45"/>
              <p:cNvSpPr>
                <a:spLocks/>
              </p:cNvSpPr>
              <p:nvPr/>
            </p:nvSpPr>
            <p:spPr bwMode="auto">
              <a:xfrm>
                <a:off x="2531363" y="5029200"/>
                <a:ext cx="2458795" cy="256715"/>
              </a:xfrm>
              <a:custGeom>
                <a:avLst/>
                <a:gdLst>
                  <a:gd name="connsiteX0" fmla="*/ 261 w 8116"/>
                  <a:gd name="connsiteY0" fmla="*/ 10000 h 10000"/>
                  <a:gd name="connsiteX1" fmla="*/ 0 w 8116"/>
                  <a:gd name="connsiteY1" fmla="*/ 10000 h 10000"/>
                  <a:gd name="connsiteX2" fmla="*/ 0 w 8116"/>
                  <a:gd name="connsiteY2" fmla="*/ 0 h 10000"/>
                  <a:gd name="connsiteX3" fmla="*/ 5855 w 8116"/>
                  <a:gd name="connsiteY3" fmla="*/ 0 h 10000"/>
                  <a:gd name="connsiteX4" fmla="*/ 5855 w 8116"/>
                  <a:gd name="connsiteY4" fmla="*/ 9913 h 10000"/>
                  <a:gd name="connsiteX5" fmla="*/ 7221 w 8116"/>
                  <a:gd name="connsiteY5" fmla="*/ 9913 h 10000"/>
                  <a:gd name="connsiteX6" fmla="*/ 8116 w 8116"/>
                  <a:gd name="connsiteY6" fmla="*/ 9913 h 10000"/>
                  <a:gd name="connsiteX0" fmla="*/ 0 w 10017"/>
                  <a:gd name="connsiteY0" fmla="*/ 9816 h 10000"/>
                  <a:gd name="connsiteX1" fmla="*/ 17 w 10017"/>
                  <a:gd name="connsiteY1" fmla="*/ 10000 h 10000"/>
                  <a:gd name="connsiteX2" fmla="*/ 17 w 10017"/>
                  <a:gd name="connsiteY2" fmla="*/ 0 h 10000"/>
                  <a:gd name="connsiteX3" fmla="*/ 7231 w 10017"/>
                  <a:gd name="connsiteY3" fmla="*/ 0 h 10000"/>
                  <a:gd name="connsiteX4" fmla="*/ 7231 w 10017"/>
                  <a:gd name="connsiteY4" fmla="*/ 9913 h 10000"/>
                  <a:gd name="connsiteX5" fmla="*/ 8914 w 10017"/>
                  <a:gd name="connsiteY5" fmla="*/ 9913 h 10000"/>
                  <a:gd name="connsiteX6" fmla="*/ 10017 w 10017"/>
                  <a:gd name="connsiteY6" fmla="*/ 9913 h 10000"/>
                  <a:gd name="connsiteX0" fmla="*/ 0 w 11775"/>
                  <a:gd name="connsiteY0" fmla="*/ 9816 h 10000"/>
                  <a:gd name="connsiteX1" fmla="*/ 17 w 11775"/>
                  <a:gd name="connsiteY1" fmla="*/ 10000 h 10000"/>
                  <a:gd name="connsiteX2" fmla="*/ 17 w 11775"/>
                  <a:gd name="connsiteY2" fmla="*/ 0 h 10000"/>
                  <a:gd name="connsiteX3" fmla="*/ 7231 w 11775"/>
                  <a:gd name="connsiteY3" fmla="*/ 0 h 10000"/>
                  <a:gd name="connsiteX4" fmla="*/ 7231 w 11775"/>
                  <a:gd name="connsiteY4" fmla="*/ 9913 h 10000"/>
                  <a:gd name="connsiteX5" fmla="*/ 8914 w 11775"/>
                  <a:gd name="connsiteY5" fmla="*/ 9913 h 10000"/>
                  <a:gd name="connsiteX6" fmla="*/ 11775 w 11775"/>
                  <a:gd name="connsiteY6" fmla="*/ 9913 h 10000"/>
                  <a:gd name="connsiteX0" fmla="*/ 0 w 20756"/>
                  <a:gd name="connsiteY0" fmla="*/ 9816 h 10373"/>
                  <a:gd name="connsiteX1" fmla="*/ 17 w 20756"/>
                  <a:gd name="connsiteY1" fmla="*/ 10000 h 10373"/>
                  <a:gd name="connsiteX2" fmla="*/ 17 w 20756"/>
                  <a:gd name="connsiteY2" fmla="*/ 0 h 10373"/>
                  <a:gd name="connsiteX3" fmla="*/ 7231 w 20756"/>
                  <a:gd name="connsiteY3" fmla="*/ 0 h 10373"/>
                  <a:gd name="connsiteX4" fmla="*/ 7231 w 20756"/>
                  <a:gd name="connsiteY4" fmla="*/ 9913 h 10373"/>
                  <a:gd name="connsiteX5" fmla="*/ 8914 w 20756"/>
                  <a:gd name="connsiteY5" fmla="*/ 9913 h 10373"/>
                  <a:gd name="connsiteX6" fmla="*/ 20756 w 20756"/>
                  <a:gd name="connsiteY6" fmla="*/ 10373 h 10373"/>
                  <a:gd name="connsiteX0" fmla="*/ 0 w 20756"/>
                  <a:gd name="connsiteY0" fmla="*/ 9816 h 10373"/>
                  <a:gd name="connsiteX1" fmla="*/ 17 w 20756"/>
                  <a:gd name="connsiteY1" fmla="*/ 10000 h 10373"/>
                  <a:gd name="connsiteX2" fmla="*/ 17 w 20756"/>
                  <a:gd name="connsiteY2" fmla="*/ 0 h 10373"/>
                  <a:gd name="connsiteX3" fmla="*/ 11622 w 20756"/>
                  <a:gd name="connsiteY3" fmla="*/ 338 h 10373"/>
                  <a:gd name="connsiteX4" fmla="*/ 7231 w 20756"/>
                  <a:gd name="connsiteY4" fmla="*/ 9913 h 10373"/>
                  <a:gd name="connsiteX5" fmla="*/ 8914 w 20756"/>
                  <a:gd name="connsiteY5" fmla="*/ 9913 h 10373"/>
                  <a:gd name="connsiteX6" fmla="*/ 20756 w 20756"/>
                  <a:gd name="connsiteY6" fmla="*/ 10373 h 10373"/>
                  <a:gd name="connsiteX0" fmla="*/ 0 w 20756"/>
                  <a:gd name="connsiteY0" fmla="*/ 9816 h 10373"/>
                  <a:gd name="connsiteX1" fmla="*/ 17 w 20756"/>
                  <a:gd name="connsiteY1" fmla="*/ 10000 h 10373"/>
                  <a:gd name="connsiteX2" fmla="*/ 17 w 20756"/>
                  <a:gd name="connsiteY2" fmla="*/ 0 h 10373"/>
                  <a:gd name="connsiteX3" fmla="*/ 11622 w 20756"/>
                  <a:gd name="connsiteY3" fmla="*/ 338 h 10373"/>
                  <a:gd name="connsiteX4" fmla="*/ 7231 w 20756"/>
                  <a:gd name="connsiteY4" fmla="*/ 9913 h 10373"/>
                  <a:gd name="connsiteX5" fmla="*/ 16210 w 20756"/>
                  <a:gd name="connsiteY5" fmla="*/ 9575 h 10373"/>
                  <a:gd name="connsiteX6" fmla="*/ 20756 w 20756"/>
                  <a:gd name="connsiteY6" fmla="*/ 10373 h 10373"/>
                  <a:gd name="connsiteX0" fmla="*/ 0 w 20756"/>
                  <a:gd name="connsiteY0" fmla="*/ 9816 h 10926"/>
                  <a:gd name="connsiteX1" fmla="*/ 17 w 20756"/>
                  <a:gd name="connsiteY1" fmla="*/ 10000 h 10926"/>
                  <a:gd name="connsiteX2" fmla="*/ 17 w 20756"/>
                  <a:gd name="connsiteY2" fmla="*/ 0 h 10926"/>
                  <a:gd name="connsiteX3" fmla="*/ 11622 w 20756"/>
                  <a:gd name="connsiteY3" fmla="*/ 338 h 10926"/>
                  <a:gd name="connsiteX4" fmla="*/ 11622 w 20756"/>
                  <a:gd name="connsiteY4" fmla="*/ 10926 h 10926"/>
                  <a:gd name="connsiteX5" fmla="*/ 16210 w 20756"/>
                  <a:gd name="connsiteY5" fmla="*/ 9575 h 10926"/>
                  <a:gd name="connsiteX6" fmla="*/ 20756 w 20756"/>
                  <a:gd name="connsiteY6" fmla="*/ 10373 h 10926"/>
                  <a:gd name="connsiteX0" fmla="*/ 0 w 20756"/>
                  <a:gd name="connsiteY0" fmla="*/ 9816 h 11263"/>
                  <a:gd name="connsiteX1" fmla="*/ 17 w 20756"/>
                  <a:gd name="connsiteY1" fmla="*/ 10000 h 11263"/>
                  <a:gd name="connsiteX2" fmla="*/ 17 w 20756"/>
                  <a:gd name="connsiteY2" fmla="*/ 0 h 11263"/>
                  <a:gd name="connsiteX3" fmla="*/ 11622 w 20756"/>
                  <a:gd name="connsiteY3" fmla="*/ 338 h 11263"/>
                  <a:gd name="connsiteX4" fmla="*/ 11622 w 20756"/>
                  <a:gd name="connsiteY4" fmla="*/ 10926 h 11263"/>
                  <a:gd name="connsiteX5" fmla="*/ 16339 w 20756"/>
                  <a:gd name="connsiteY5" fmla="*/ 11263 h 11263"/>
                  <a:gd name="connsiteX6" fmla="*/ 20756 w 20756"/>
                  <a:gd name="connsiteY6" fmla="*/ 10373 h 11263"/>
                  <a:gd name="connsiteX0" fmla="*/ 0 w 20756"/>
                  <a:gd name="connsiteY0" fmla="*/ 9816 h 10926"/>
                  <a:gd name="connsiteX1" fmla="*/ 17 w 20756"/>
                  <a:gd name="connsiteY1" fmla="*/ 10000 h 10926"/>
                  <a:gd name="connsiteX2" fmla="*/ 17 w 20756"/>
                  <a:gd name="connsiteY2" fmla="*/ 0 h 10926"/>
                  <a:gd name="connsiteX3" fmla="*/ 11622 w 20756"/>
                  <a:gd name="connsiteY3" fmla="*/ 338 h 10926"/>
                  <a:gd name="connsiteX4" fmla="*/ 11622 w 20756"/>
                  <a:gd name="connsiteY4" fmla="*/ 10926 h 10926"/>
                  <a:gd name="connsiteX5" fmla="*/ 16339 w 20756"/>
                  <a:gd name="connsiteY5" fmla="*/ 10250 h 10926"/>
                  <a:gd name="connsiteX6" fmla="*/ 20756 w 20756"/>
                  <a:gd name="connsiteY6" fmla="*/ 10373 h 10926"/>
                  <a:gd name="connsiteX0" fmla="*/ 0 w 20756"/>
                  <a:gd name="connsiteY0" fmla="*/ 9816 h 11263"/>
                  <a:gd name="connsiteX1" fmla="*/ 17 w 20756"/>
                  <a:gd name="connsiteY1" fmla="*/ 10000 h 11263"/>
                  <a:gd name="connsiteX2" fmla="*/ 17 w 20756"/>
                  <a:gd name="connsiteY2" fmla="*/ 0 h 11263"/>
                  <a:gd name="connsiteX3" fmla="*/ 11622 w 20756"/>
                  <a:gd name="connsiteY3" fmla="*/ 338 h 11263"/>
                  <a:gd name="connsiteX4" fmla="*/ 11622 w 20756"/>
                  <a:gd name="connsiteY4" fmla="*/ 10926 h 11263"/>
                  <a:gd name="connsiteX5" fmla="*/ 16274 w 20756"/>
                  <a:gd name="connsiteY5" fmla="*/ 11263 h 11263"/>
                  <a:gd name="connsiteX6" fmla="*/ 20756 w 20756"/>
                  <a:gd name="connsiteY6" fmla="*/ 10373 h 11263"/>
                  <a:gd name="connsiteX0" fmla="*/ 0 w 20627"/>
                  <a:gd name="connsiteY0" fmla="*/ 9816 h 11263"/>
                  <a:gd name="connsiteX1" fmla="*/ 17 w 20627"/>
                  <a:gd name="connsiteY1" fmla="*/ 10000 h 11263"/>
                  <a:gd name="connsiteX2" fmla="*/ 17 w 20627"/>
                  <a:gd name="connsiteY2" fmla="*/ 0 h 11263"/>
                  <a:gd name="connsiteX3" fmla="*/ 11622 w 20627"/>
                  <a:gd name="connsiteY3" fmla="*/ 338 h 11263"/>
                  <a:gd name="connsiteX4" fmla="*/ 11622 w 20627"/>
                  <a:gd name="connsiteY4" fmla="*/ 10926 h 11263"/>
                  <a:gd name="connsiteX5" fmla="*/ 16274 w 20627"/>
                  <a:gd name="connsiteY5" fmla="*/ 11263 h 11263"/>
                  <a:gd name="connsiteX6" fmla="*/ 20627 w 20627"/>
                  <a:gd name="connsiteY6" fmla="*/ 11048 h 1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27" h="11263">
                    <a:moveTo>
                      <a:pt x="0" y="9816"/>
                    </a:moveTo>
                    <a:cubicBezTo>
                      <a:pt x="6" y="9877"/>
                      <a:pt x="11" y="9939"/>
                      <a:pt x="17" y="10000"/>
                    </a:cubicBezTo>
                    <a:lnTo>
                      <a:pt x="17" y="0"/>
                    </a:lnTo>
                    <a:lnTo>
                      <a:pt x="11622" y="338"/>
                    </a:lnTo>
                    <a:lnTo>
                      <a:pt x="11622" y="10926"/>
                    </a:lnTo>
                    <a:lnTo>
                      <a:pt x="16274" y="11263"/>
                    </a:lnTo>
                    <a:lnTo>
                      <a:pt x="20627" y="11048"/>
                    </a:lnTo>
                  </a:path>
                </a:pathLst>
              </a:custGeom>
              <a:noFill/>
              <a:ln w="25400">
                <a:solidFill>
                  <a:schemeClr val="tx1"/>
                </a:solidFill>
                <a:round/>
                <a:headEnd/>
                <a:tailEnd/>
              </a:ln>
              <a:effectLst/>
            </p:spPr>
            <p:txBody>
              <a:bodyPr/>
              <a:lstStyle/>
              <a:p>
                <a:pPr algn="r"/>
                <a:endParaRPr lang="en-US" dirty="0"/>
              </a:p>
            </p:txBody>
          </p:sp>
        </p:grpSp>
        <p:sp>
          <p:nvSpPr>
            <p:cNvPr id="23566" name="Round Same Side Corner Rectangle 23565"/>
            <p:cNvSpPr/>
            <p:nvPr/>
          </p:nvSpPr>
          <p:spPr>
            <a:xfrm>
              <a:off x="3200400" y="5638800"/>
              <a:ext cx="1500390" cy="302260"/>
            </a:xfrm>
            <a:prstGeom prst="round2SameRect">
              <a:avLst>
                <a:gd name="adj1" fmla="val 0"/>
                <a:gd name="adj2" fmla="val 0"/>
              </a:avLst>
            </a:prstGeom>
            <a:gradFill flip="none" rotWithShape="1">
              <a:gsLst>
                <a:gs pos="82000">
                  <a:srgbClr val="00CC00">
                    <a:alpha val="58000"/>
                  </a:srgbClr>
                </a:gs>
                <a:gs pos="100000">
                  <a:srgbClr val="FFFFFF">
                    <a:alpha val="58000"/>
                  </a:srgbClr>
                </a:gs>
              </a:gsLst>
              <a:path path="rect">
                <a:fillToRect t="100000" r="100000"/>
              </a:path>
              <a:tileRect l="-100000" b="-100000"/>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Free    </a:t>
              </a:r>
              <a:endParaRPr lang="en-US" sz="1000" dirty="0">
                <a:solidFill>
                  <a:srgbClr val="000000"/>
                </a:solidFill>
              </a:endParaRPr>
            </a:p>
          </p:txBody>
        </p:sp>
        <p:sp>
          <p:nvSpPr>
            <p:cNvPr id="23567" name="Rounded Rectangle 23566"/>
            <p:cNvSpPr/>
            <p:nvPr/>
          </p:nvSpPr>
          <p:spPr>
            <a:xfrm>
              <a:off x="3200400" y="4917054"/>
              <a:ext cx="1759878" cy="362469"/>
            </a:xfrm>
            <a:prstGeom prst="roundRect">
              <a:avLst/>
            </a:prstGeom>
            <a:solidFill>
              <a:srgbClr val="FF0000">
                <a:alpha val="5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6" name="Freeform 35"/>
            <p:cNvSpPr/>
            <p:nvPr/>
          </p:nvSpPr>
          <p:spPr>
            <a:xfrm>
              <a:off x="5650603" y="4483740"/>
              <a:ext cx="0" cy="1791021"/>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37" name="Freeform 36"/>
            <p:cNvSpPr/>
            <p:nvPr/>
          </p:nvSpPr>
          <p:spPr>
            <a:xfrm>
              <a:off x="6324598" y="4483740"/>
              <a:ext cx="0" cy="1791021"/>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7" name="TextBox 6"/>
            <p:cNvSpPr txBox="1"/>
            <p:nvPr/>
          </p:nvSpPr>
          <p:spPr>
            <a:xfrm>
              <a:off x="4702503" y="5594630"/>
              <a:ext cx="228600" cy="461665"/>
            </a:xfrm>
            <a:prstGeom prst="rect">
              <a:avLst/>
            </a:prstGeom>
            <a:noFill/>
          </p:spPr>
          <p:txBody>
            <a:bodyPr wrap="square" rtlCol="0">
              <a:spAutoFit/>
            </a:bodyPr>
            <a:lstStyle/>
            <a:p>
              <a:r>
                <a:rPr lang="en-US" sz="800" dirty="0" smtClean="0"/>
                <a:t>LED</a:t>
              </a:r>
              <a:endParaRPr lang="en-US" sz="800" dirty="0"/>
            </a:p>
          </p:txBody>
        </p:sp>
        <p:cxnSp>
          <p:nvCxnSpPr>
            <p:cNvPr id="9" name="Straight Connector 8"/>
            <p:cNvCxnSpPr/>
            <p:nvPr/>
          </p:nvCxnSpPr>
          <p:spPr>
            <a:xfrm>
              <a:off x="4699293" y="4915284"/>
              <a:ext cx="0" cy="381000"/>
            </a:xfrm>
            <a:prstGeom prst="line">
              <a:avLst/>
            </a:prstGeom>
            <a:ln>
              <a:prstDash val="sysDash"/>
            </a:ln>
          </p:spPr>
          <p:style>
            <a:lnRef idx="2">
              <a:schemeClr val="dk1"/>
            </a:lnRef>
            <a:fillRef idx="0">
              <a:schemeClr val="dk1"/>
            </a:fillRef>
            <a:effectRef idx="1">
              <a:schemeClr val="dk1"/>
            </a:effectRef>
            <a:fontRef idx="minor">
              <a:schemeClr val="tx1"/>
            </a:fontRef>
          </p:style>
        </p:cxnSp>
        <p:sp>
          <p:nvSpPr>
            <p:cNvPr id="31" name="TextBox 30"/>
            <p:cNvSpPr txBox="1"/>
            <p:nvPr/>
          </p:nvSpPr>
          <p:spPr>
            <a:xfrm>
              <a:off x="3657600" y="4953000"/>
              <a:ext cx="609600" cy="276999"/>
            </a:xfrm>
            <a:prstGeom prst="rect">
              <a:avLst/>
            </a:prstGeom>
            <a:noFill/>
          </p:spPr>
          <p:txBody>
            <a:bodyPr wrap="square" rtlCol="0">
              <a:spAutoFit/>
            </a:bodyPr>
            <a:lstStyle/>
            <a:p>
              <a:r>
                <a:rPr lang="en-US" sz="1200" dirty="0" smtClean="0"/>
                <a:t>Math</a:t>
              </a:r>
              <a:endParaRPr lang="en-US" sz="1200" dirty="0"/>
            </a:p>
          </p:txBody>
        </p:sp>
        <p:sp>
          <p:nvSpPr>
            <p:cNvPr id="48" name="TextBox 47"/>
            <p:cNvSpPr txBox="1"/>
            <p:nvPr/>
          </p:nvSpPr>
          <p:spPr>
            <a:xfrm>
              <a:off x="4717101" y="4876800"/>
              <a:ext cx="228600" cy="461665"/>
            </a:xfrm>
            <a:prstGeom prst="rect">
              <a:avLst/>
            </a:prstGeom>
            <a:noFill/>
          </p:spPr>
          <p:txBody>
            <a:bodyPr wrap="square" rtlCol="0">
              <a:spAutoFit/>
            </a:bodyPr>
            <a:lstStyle/>
            <a:p>
              <a:r>
                <a:rPr lang="en-US" sz="800" dirty="0" smtClean="0"/>
                <a:t>LED</a:t>
              </a:r>
              <a:endParaRPr lang="en-US" sz="800" dirty="0"/>
            </a:p>
          </p:txBody>
        </p:sp>
        <p:sp>
          <p:nvSpPr>
            <p:cNvPr id="33" name="Rounded Rectangle 32"/>
            <p:cNvSpPr/>
            <p:nvPr/>
          </p:nvSpPr>
          <p:spPr>
            <a:xfrm>
              <a:off x="4699293" y="5638800"/>
              <a:ext cx="251460" cy="362469"/>
            </a:xfrm>
            <a:prstGeom prst="roundRect">
              <a:avLst/>
            </a:prstGeom>
            <a:solidFill>
              <a:srgbClr val="FF0000">
                <a:alpha val="5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p>
          </p:txBody>
        </p:sp>
        <p:grpSp>
          <p:nvGrpSpPr>
            <p:cNvPr id="44" name="Group 43"/>
            <p:cNvGrpSpPr/>
            <p:nvPr/>
          </p:nvGrpSpPr>
          <p:grpSpPr>
            <a:xfrm>
              <a:off x="6305711" y="4504294"/>
              <a:ext cx="2744285" cy="1791021"/>
              <a:chOff x="2531363" y="4739537"/>
              <a:chExt cx="2458795" cy="1280160"/>
            </a:xfrm>
          </p:grpSpPr>
          <p:sp>
            <p:nvSpPr>
              <p:cNvPr id="52" name="Freeform 51"/>
              <p:cNvSpPr/>
              <p:nvPr/>
            </p:nvSpPr>
            <p:spPr>
              <a:xfrm>
                <a:off x="2541398"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53" name="Freeform 45"/>
              <p:cNvSpPr>
                <a:spLocks/>
              </p:cNvSpPr>
              <p:nvPr/>
            </p:nvSpPr>
            <p:spPr bwMode="auto">
              <a:xfrm>
                <a:off x="3698318" y="5540009"/>
                <a:ext cx="251000" cy="227928"/>
              </a:xfrm>
              <a:custGeom>
                <a:avLst/>
                <a:gdLst>
                  <a:gd name="connsiteX0" fmla="*/ 0 w 12691"/>
                  <a:gd name="connsiteY0" fmla="*/ 10000 h 10000"/>
                  <a:gd name="connsiteX1" fmla="*/ 1884 w 12691"/>
                  <a:gd name="connsiteY1" fmla="*/ 10000 h 10000"/>
                  <a:gd name="connsiteX2" fmla="*/ 1884 w 12691"/>
                  <a:gd name="connsiteY2" fmla="*/ 0 h 10000"/>
                  <a:gd name="connsiteX3" fmla="*/ 12691 w 12691"/>
                  <a:gd name="connsiteY3" fmla="*/ 0 h 10000"/>
                  <a:gd name="connsiteX4" fmla="*/ 7739 w 12691"/>
                  <a:gd name="connsiteY4" fmla="*/ 9913 h 10000"/>
                  <a:gd name="connsiteX5" fmla="*/ 9105 w 12691"/>
                  <a:gd name="connsiteY5" fmla="*/ 9913 h 10000"/>
                  <a:gd name="connsiteX6" fmla="*/ 10000 w 12691"/>
                  <a:gd name="connsiteY6" fmla="*/ 9913 h 10000"/>
                  <a:gd name="connsiteX0" fmla="*/ 0 w 12691"/>
                  <a:gd name="connsiteY0" fmla="*/ 10000 h 10000"/>
                  <a:gd name="connsiteX1" fmla="*/ 1884 w 12691"/>
                  <a:gd name="connsiteY1" fmla="*/ 10000 h 10000"/>
                  <a:gd name="connsiteX2" fmla="*/ 1884 w 12691"/>
                  <a:gd name="connsiteY2" fmla="*/ 0 h 10000"/>
                  <a:gd name="connsiteX3" fmla="*/ 12691 w 12691"/>
                  <a:gd name="connsiteY3" fmla="*/ 0 h 10000"/>
                  <a:gd name="connsiteX4" fmla="*/ 12691 w 12691"/>
                  <a:gd name="connsiteY4" fmla="*/ 9913 h 10000"/>
                  <a:gd name="connsiteX5" fmla="*/ 9105 w 12691"/>
                  <a:gd name="connsiteY5" fmla="*/ 9913 h 10000"/>
                  <a:gd name="connsiteX6" fmla="*/ 10000 w 12691"/>
                  <a:gd name="connsiteY6" fmla="*/ 9913 h 10000"/>
                  <a:gd name="connsiteX0" fmla="*/ 0 w 13851"/>
                  <a:gd name="connsiteY0" fmla="*/ 10000 h 10000"/>
                  <a:gd name="connsiteX1" fmla="*/ 1884 w 13851"/>
                  <a:gd name="connsiteY1" fmla="*/ 10000 h 10000"/>
                  <a:gd name="connsiteX2" fmla="*/ 1884 w 13851"/>
                  <a:gd name="connsiteY2" fmla="*/ 0 h 10000"/>
                  <a:gd name="connsiteX3" fmla="*/ 12691 w 13851"/>
                  <a:gd name="connsiteY3" fmla="*/ 0 h 10000"/>
                  <a:gd name="connsiteX4" fmla="*/ 12691 w 13851"/>
                  <a:gd name="connsiteY4" fmla="*/ 9913 h 10000"/>
                  <a:gd name="connsiteX5" fmla="*/ 9105 w 13851"/>
                  <a:gd name="connsiteY5" fmla="*/ 9913 h 10000"/>
                  <a:gd name="connsiteX6" fmla="*/ 13851 w 13851"/>
                  <a:gd name="connsiteY6" fmla="*/ 9913 h 10000"/>
                  <a:gd name="connsiteX0" fmla="*/ 0 w 13851"/>
                  <a:gd name="connsiteY0" fmla="*/ 10000 h 10000"/>
                  <a:gd name="connsiteX1" fmla="*/ 1884 w 13851"/>
                  <a:gd name="connsiteY1" fmla="*/ 10000 h 10000"/>
                  <a:gd name="connsiteX2" fmla="*/ 1884 w 13851"/>
                  <a:gd name="connsiteY2" fmla="*/ 0 h 10000"/>
                  <a:gd name="connsiteX3" fmla="*/ 12691 w 13851"/>
                  <a:gd name="connsiteY3" fmla="*/ 0 h 10000"/>
                  <a:gd name="connsiteX4" fmla="*/ 12691 w 13851"/>
                  <a:gd name="connsiteY4" fmla="*/ 9913 h 10000"/>
                  <a:gd name="connsiteX5" fmla="*/ 12681 w 13851"/>
                  <a:gd name="connsiteY5" fmla="*/ 9913 h 10000"/>
                  <a:gd name="connsiteX6" fmla="*/ 13851 w 13851"/>
                  <a:gd name="connsiteY6" fmla="*/ 991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51" h="10000">
                    <a:moveTo>
                      <a:pt x="0" y="10000"/>
                    </a:moveTo>
                    <a:lnTo>
                      <a:pt x="1884" y="10000"/>
                    </a:lnTo>
                    <a:lnTo>
                      <a:pt x="1884" y="0"/>
                    </a:lnTo>
                    <a:lnTo>
                      <a:pt x="12691" y="0"/>
                    </a:lnTo>
                    <a:lnTo>
                      <a:pt x="12691" y="9913"/>
                    </a:lnTo>
                    <a:lnTo>
                      <a:pt x="12681" y="9913"/>
                    </a:lnTo>
                    <a:lnTo>
                      <a:pt x="13851" y="9913"/>
                    </a:lnTo>
                  </a:path>
                </a:pathLst>
              </a:custGeom>
              <a:noFill/>
              <a:ln w="25400">
                <a:solidFill>
                  <a:schemeClr val="tx1"/>
                </a:solidFill>
                <a:round/>
                <a:headEnd/>
                <a:tailEnd/>
              </a:ln>
              <a:effectLst/>
            </p:spPr>
            <p:txBody>
              <a:bodyPr/>
              <a:lstStyle/>
              <a:p>
                <a:pPr algn="r"/>
                <a:endParaRPr lang="en-US" dirty="0"/>
              </a:p>
            </p:txBody>
          </p:sp>
          <p:sp>
            <p:nvSpPr>
              <p:cNvPr id="54" name="Freeform 53"/>
              <p:cNvSpPr/>
              <p:nvPr/>
            </p:nvSpPr>
            <p:spPr>
              <a:xfrm>
                <a:off x="3379616"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55" name="Freeform 54"/>
              <p:cNvSpPr/>
              <p:nvPr/>
            </p:nvSpPr>
            <p:spPr>
              <a:xfrm>
                <a:off x="3923912" y="47395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cxnSp>
            <p:nvCxnSpPr>
              <p:cNvPr id="56" name="Straight Connector 55"/>
              <p:cNvCxnSpPr/>
              <p:nvPr/>
            </p:nvCxnSpPr>
            <p:spPr>
              <a:xfrm flipH="1">
                <a:off x="3942779" y="5768303"/>
                <a:ext cx="1024093" cy="0"/>
              </a:xfrm>
              <a:prstGeom prst="line">
                <a:avLst/>
              </a:prstGeom>
              <a:ln/>
              <a:effectLst/>
            </p:spPr>
            <p:style>
              <a:lnRef idx="2">
                <a:schemeClr val="dk1"/>
              </a:lnRef>
              <a:fillRef idx="0">
                <a:schemeClr val="dk1"/>
              </a:fillRef>
              <a:effectRef idx="1">
                <a:schemeClr val="dk1"/>
              </a:effectRef>
              <a:fontRef idx="minor">
                <a:schemeClr val="tx1"/>
              </a:fontRef>
            </p:style>
          </p:cxnSp>
          <p:sp>
            <p:nvSpPr>
              <p:cNvPr id="57" name="Freeform 45"/>
              <p:cNvSpPr>
                <a:spLocks/>
              </p:cNvSpPr>
              <p:nvPr/>
            </p:nvSpPr>
            <p:spPr bwMode="auto">
              <a:xfrm>
                <a:off x="2531363" y="5029200"/>
                <a:ext cx="2458795" cy="256715"/>
              </a:xfrm>
              <a:custGeom>
                <a:avLst/>
                <a:gdLst>
                  <a:gd name="connsiteX0" fmla="*/ 261 w 8116"/>
                  <a:gd name="connsiteY0" fmla="*/ 10000 h 10000"/>
                  <a:gd name="connsiteX1" fmla="*/ 0 w 8116"/>
                  <a:gd name="connsiteY1" fmla="*/ 10000 h 10000"/>
                  <a:gd name="connsiteX2" fmla="*/ 0 w 8116"/>
                  <a:gd name="connsiteY2" fmla="*/ 0 h 10000"/>
                  <a:gd name="connsiteX3" fmla="*/ 5855 w 8116"/>
                  <a:gd name="connsiteY3" fmla="*/ 0 h 10000"/>
                  <a:gd name="connsiteX4" fmla="*/ 5855 w 8116"/>
                  <a:gd name="connsiteY4" fmla="*/ 9913 h 10000"/>
                  <a:gd name="connsiteX5" fmla="*/ 7221 w 8116"/>
                  <a:gd name="connsiteY5" fmla="*/ 9913 h 10000"/>
                  <a:gd name="connsiteX6" fmla="*/ 8116 w 8116"/>
                  <a:gd name="connsiteY6" fmla="*/ 9913 h 10000"/>
                  <a:gd name="connsiteX0" fmla="*/ 0 w 10017"/>
                  <a:gd name="connsiteY0" fmla="*/ 9816 h 10000"/>
                  <a:gd name="connsiteX1" fmla="*/ 17 w 10017"/>
                  <a:gd name="connsiteY1" fmla="*/ 10000 h 10000"/>
                  <a:gd name="connsiteX2" fmla="*/ 17 w 10017"/>
                  <a:gd name="connsiteY2" fmla="*/ 0 h 10000"/>
                  <a:gd name="connsiteX3" fmla="*/ 7231 w 10017"/>
                  <a:gd name="connsiteY3" fmla="*/ 0 h 10000"/>
                  <a:gd name="connsiteX4" fmla="*/ 7231 w 10017"/>
                  <a:gd name="connsiteY4" fmla="*/ 9913 h 10000"/>
                  <a:gd name="connsiteX5" fmla="*/ 8914 w 10017"/>
                  <a:gd name="connsiteY5" fmla="*/ 9913 h 10000"/>
                  <a:gd name="connsiteX6" fmla="*/ 10017 w 10017"/>
                  <a:gd name="connsiteY6" fmla="*/ 9913 h 10000"/>
                  <a:gd name="connsiteX0" fmla="*/ 0 w 11775"/>
                  <a:gd name="connsiteY0" fmla="*/ 9816 h 10000"/>
                  <a:gd name="connsiteX1" fmla="*/ 17 w 11775"/>
                  <a:gd name="connsiteY1" fmla="*/ 10000 h 10000"/>
                  <a:gd name="connsiteX2" fmla="*/ 17 w 11775"/>
                  <a:gd name="connsiteY2" fmla="*/ 0 h 10000"/>
                  <a:gd name="connsiteX3" fmla="*/ 7231 w 11775"/>
                  <a:gd name="connsiteY3" fmla="*/ 0 h 10000"/>
                  <a:gd name="connsiteX4" fmla="*/ 7231 w 11775"/>
                  <a:gd name="connsiteY4" fmla="*/ 9913 h 10000"/>
                  <a:gd name="connsiteX5" fmla="*/ 8914 w 11775"/>
                  <a:gd name="connsiteY5" fmla="*/ 9913 h 10000"/>
                  <a:gd name="connsiteX6" fmla="*/ 11775 w 11775"/>
                  <a:gd name="connsiteY6" fmla="*/ 9913 h 10000"/>
                  <a:gd name="connsiteX0" fmla="*/ 0 w 20756"/>
                  <a:gd name="connsiteY0" fmla="*/ 9816 h 10373"/>
                  <a:gd name="connsiteX1" fmla="*/ 17 w 20756"/>
                  <a:gd name="connsiteY1" fmla="*/ 10000 h 10373"/>
                  <a:gd name="connsiteX2" fmla="*/ 17 w 20756"/>
                  <a:gd name="connsiteY2" fmla="*/ 0 h 10373"/>
                  <a:gd name="connsiteX3" fmla="*/ 7231 w 20756"/>
                  <a:gd name="connsiteY3" fmla="*/ 0 h 10373"/>
                  <a:gd name="connsiteX4" fmla="*/ 7231 w 20756"/>
                  <a:gd name="connsiteY4" fmla="*/ 9913 h 10373"/>
                  <a:gd name="connsiteX5" fmla="*/ 8914 w 20756"/>
                  <a:gd name="connsiteY5" fmla="*/ 9913 h 10373"/>
                  <a:gd name="connsiteX6" fmla="*/ 20756 w 20756"/>
                  <a:gd name="connsiteY6" fmla="*/ 10373 h 10373"/>
                  <a:gd name="connsiteX0" fmla="*/ 0 w 20756"/>
                  <a:gd name="connsiteY0" fmla="*/ 9816 h 10373"/>
                  <a:gd name="connsiteX1" fmla="*/ 17 w 20756"/>
                  <a:gd name="connsiteY1" fmla="*/ 10000 h 10373"/>
                  <a:gd name="connsiteX2" fmla="*/ 17 w 20756"/>
                  <a:gd name="connsiteY2" fmla="*/ 0 h 10373"/>
                  <a:gd name="connsiteX3" fmla="*/ 11622 w 20756"/>
                  <a:gd name="connsiteY3" fmla="*/ 338 h 10373"/>
                  <a:gd name="connsiteX4" fmla="*/ 7231 w 20756"/>
                  <a:gd name="connsiteY4" fmla="*/ 9913 h 10373"/>
                  <a:gd name="connsiteX5" fmla="*/ 8914 w 20756"/>
                  <a:gd name="connsiteY5" fmla="*/ 9913 h 10373"/>
                  <a:gd name="connsiteX6" fmla="*/ 20756 w 20756"/>
                  <a:gd name="connsiteY6" fmla="*/ 10373 h 10373"/>
                  <a:gd name="connsiteX0" fmla="*/ 0 w 20756"/>
                  <a:gd name="connsiteY0" fmla="*/ 9816 h 10373"/>
                  <a:gd name="connsiteX1" fmla="*/ 17 w 20756"/>
                  <a:gd name="connsiteY1" fmla="*/ 10000 h 10373"/>
                  <a:gd name="connsiteX2" fmla="*/ 17 w 20756"/>
                  <a:gd name="connsiteY2" fmla="*/ 0 h 10373"/>
                  <a:gd name="connsiteX3" fmla="*/ 11622 w 20756"/>
                  <a:gd name="connsiteY3" fmla="*/ 338 h 10373"/>
                  <a:gd name="connsiteX4" fmla="*/ 7231 w 20756"/>
                  <a:gd name="connsiteY4" fmla="*/ 9913 h 10373"/>
                  <a:gd name="connsiteX5" fmla="*/ 16210 w 20756"/>
                  <a:gd name="connsiteY5" fmla="*/ 9575 h 10373"/>
                  <a:gd name="connsiteX6" fmla="*/ 20756 w 20756"/>
                  <a:gd name="connsiteY6" fmla="*/ 10373 h 10373"/>
                  <a:gd name="connsiteX0" fmla="*/ 0 w 20756"/>
                  <a:gd name="connsiteY0" fmla="*/ 9816 h 10926"/>
                  <a:gd name="connsiteX1" fmla="*/ 17 w 20756"/>
                  <a:gd name="connsiteY1" fmla="*/ 10000 h 10926"/>
                  <a:gd name="connsiteX2" fmla="*/ 17 w 20756"/>
                  <a:gd name="connsiteY2" fmla="*/ 0 h 10926"/>
                  <a:gd name="connsiteX3" fmla="*/ 11622 w 20756"/>
                  <a:gd name="connsiteY3" fmla="*/ 338 h 10926"/>
                  <a:gd name="connsiteX4" fmla="*/ 11622 w 20756"/>
                  <a:gd name="connsiteY4" fmla="*/ 10926 h 10926"/>
                  <a:gd name="connsiteX5" fmla="*/ 16210 w 20756"/>
                  <a:gd name="connsiteY5" fmla="*/ 9575 h 10926"/>
                  <a:gd name="connsiteX6" fmla="*/ 20756 w 20756"/>
                  <a:gd name="connsiteY6" fmla="*/ 10373 h 10926"/>
                  <a:gd name="connsiteX0" fmla="*/ 0 w 20756"/>
                  <a:gd name="connsiteY0" fmla="*/ 9816 h 11263"/>
                  <a:gd name="connsiteX1" fmla="*/ 17 w 20756"/>
                  <a:gd name="connsiteY1" fmla="*/ 10000 h 11263"/>
                  <a:gd name="connsiteX2" fmla="*/ 17 w 20756"/>
                  <a:gd name="connsiteY2" fmla="*/ 0 h 11263"/>
                  <a:gd name="connsiteX3" fmla="*/ 11622 w 20756"/>
                  <a:gd name="connsiteY3" fmla="*/ 338 h 11263"/>
                  <a:gd name="connsiteX4" fmla="*/ 11622 w 20756"/>
                  <a:gd name="connsiteY4" fmla="*/ 10926 h 11263"/>
                  <a:gd name="connsiteX5" fmla="*/ 16339 w 20756"/>
                  <a:gd name="connsiteY5" fmla="*/ 11263 h 11263"/>
                  <a:gd name="connsiteX6" fmla="*/ 20756 w 20756"/>
                  <a:gd name="connsiteY6" fmla="*/ 10373 h 11263"/>
                  <a:gd name="connsiteX0" fmla="*/ 0 w 20756"/>
                  <a:gd name="connsiteY0" fmla="*/ 9816 h 10926"/>
                  <a:gd name="connsiteX1" fmla="*/ 17 w 20756"/>
                  <a:gd name="connsiteY1" fmla="*/ 10000 h 10926"/>
                  <a:gd name="connsiteX2" fmla="*/ 17 w 20756"/>
                  <a:gd name="connsiteY2" fmla="*/ 0 h 10926"/>
                  <a:gd name="connsiteX3" fmla="*/ 11622 w 20756"/>
                  <a:gd name="connsiteY3" fmla="*/ 338 h 10926"/>
                  <a:gd name="connsiteX4" fmla="*/ 11622 w 20756"/>
                  <a:gd name="connsiteY4" fmla="*/ 10926 h 10926"/>
                  <a:gd name="connsiteX5" fmla="*/ 16339 w 20756"/>
                  <a:gd name="connsiteY5" fmla="*/ 10250 h 10926"/>
                  <a:gd name="connsiteX6" fmla="*/ 20756 w 20756"/>
                  <a:gd name="connsiteY6" fmla="*/ 10373 h 10926"/>
                  <a:gd name="connsiteX0" fmla="*/ 0 w 20756"/>
                  <a:gd name="connsiteY0" fmla="*/ 9816 h 11263"/>
                  <a:gd name="connsiteX1" fmla="*/ 17 w 20756"/>
                  <a:gd name="connsiteY1" fmla="*/ 10000 h 11263"/>
                  <a:gd name="connsiteX2" fmla="*/ 17 w 20756"/>
                  <a:gd name="connsiteY2" fmla="*/ 0 h 11263"/>
                  <a:gd name="connsiteX3" fmla="*/ 11622 w 20756"/>
                  <a:gd name="connsiteY3" fmla="*/ 338 h 11263"/>
                  <a:gd name="connsiteX4" fmla="*/ 11622 w 20756"/>
                  <a:gd name="connsiteY4" fmla="*/ 10926 h 11263"/>
                  <a:gd name="connsiteX5" fmla="*/ 16274 w 20756"/>
                  <a:gd name="connsiteY5" fmla="*/ 11263 h 11263"/>
                  <a:gd name="connsiteX6" fmla="*/ 20756 w 20756"/>
                  <a:gd name="connsiteY6" fmla="*/ 10373 h 11263"/>
                  <a:gd name="connsiteX0" fmla="*/ 0 w 20627"/>
                  <a:gd name="connsiteY0" fmla="*/ 9816 h 11263"/>
                  <a:gd name="connsiteX1" fmla="*/ 17 w 20627"/>
                  <a:gd name="connsiteY1" fmla="*/ 10000 h 11263"/>
                  <a:gd name="connsiteX2" fmla="*/ 17 w 20627"/>
                  <a:gd name="connsiteY2" fmla="*/ 0 h 11263"/>
                  <a:gd name="connsiteX3" fmla="*/ 11622 w 20627"/>
                  <a:gd name="connsiteY3" fmla="*/ 338 h 11263"/>
                  <a:gd name="connsiteX4" fmla="*/ 11622 w 20627"/>
                  <a:gd name="connsiteY4" fmla="*/ 10926 h 11263"/>
                  <a:gd name="connsiteX5" fmla="*/ 16274 w 20627"/>
                  <a:gd name="connsiteY5" fmla="*/ 11263 h 11263"/>
                  <a:gd name="connsiteX6" fmla="*/ 20627 w 20627"/>
                  <a:gd name="connsiteY6" fmla="*/ 11048 h 11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27" h="11263">
                    <a:moveTo>
                      <a:pt x="0" y="9816"/>
                    </a:moveTo>
                    <a:cubicBezTo>
                      <a:pt x="6" y="9877"/>
                      <a:pt x="11" y="9939"/>
                      <a:pt x="17" y="10000"/>
                    </a:cubicBezTo>
                    <a:lnTo>
                      <a:pt x="17" y="0"/>
                    </a:lnTo>
                    <a:lnTo>
                      <a:pt x="11622" y="338"/>
                    </a:lnTo>
                    <a:lnTo>
                      <a:pt x="11622" y="10926"/>
                    </a:lnTo>
                    <a:lnTo>
                      <a:pt x="16274" y="11263"/>
                    </a:lnTo>
                    <a:lnTo>
                      <a:pt x="20627" y="11048"/>
                    </a:lnTo>
                  </a:path>
                </a:pathLst>
              </a:custGeom>
              <a:noFill/>
              <a:ln w="25400">
                <a:solidFill>
                  <a:schemeClr val="tx1"/>
                </a:solidFill>
                <a:round/>
                <a:headEnd/>
                <a:tailEnd/>
              </a:ln>
              <a:effectLst/>
            </p:spPr>
            <p:txBody>
              <a:bodyPr/>
              <a:lstStyle/>
              <a:p>
                <a:pPr algn="r"/>
                <a:endParaRPr lang="en-US" dirty="0"/>
              </a:p>
            </p:txBody>
          </p:sp>
        </p:grpSp>
        <p:sp>
          <p:nvSpPr>
            <p:cNvPr id="45" name="Round Same Side Corner Rectangle 44"/>
            <p:cNvSpPr/>
            <p:nvPr/>
          </p:nvSpPr>
          <p:spPr>
            <a:xfrm>
              <a:off x="6324600" y="5638800"/>
              <a:ext cx="1343065" cy="302260"/>
            </a:xfrm>
            <a:prstGeom prst="round2SameRect">
              <a:avLst>
                <a:gd name="adj1" fmla="val 0"/>
                <a:gd name="adj2" fmla="val 0"/>
              </a:avLst>
            </a:prstGeom>
            <a:gradFill flip="none" rotWithShape="1">
              <a:gsLst>
                <a:gs pos="82000">
                  <a:srgbClr val="00CC00">
                    <a:alpha val="58000"/>
                  </a:srgbClr>
                </a:gs>
                <a:gs pos="100000">
                  <a:srgbClr val="FFFFFF">
                    <a:alpha val="58000"/>
                  </a:srgbClr>
                </a:gs>
              </a:gsLst>
              <a:path path="rect">
                <a:fillToRect t="100000" r="100000"/>
              </a:path>
              <a:tileRect l="-100000" b="-100000"/>
            </a:gra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Free    </a:t>
              </a:r>
              <a:endParaRPr lang="en-US" sz="1000" dirty="0">
                <a:solidFill>
                  <a:srgbClr val="000000"/>
                </a:solidFill>
              </a:endParaRPr>
            </a:p>
          </p:txBody>
        </p:sp>
        <p:sp>
          <p:nvSpPr>
            <p:cNvPr id="46" name="Rounded Rectangle 45"/>
            <p:cNvSpPr/>
            <p:nvPr/>
          </p:nvSpPr>
          <p:spPr>
            <a:xfrm>
              <a:off x="6308226" y="4908987"/>
              <a:ext cx="1554482" cy="362469"/>
            </a:xfrm>
            <a:prstGeom prst="roundRect">
              <a:avLst/>
            </a:prstGeom>
            <a:solidFill>
              <a:srgbClr val="FF0000">
                <a:alpha val="5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Freeform 46"/>
            <p:cNvSpPr/>
            <p:nvPr/>
          </p:nvSpPr>
          <p:spPr>
            <a:xfrm>
              <a:off x="8472465" y="4482972"/>
              <a:ext cx="0" cy="1791021"/>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49" name="Freeform 48"/>
            <p:cNvSpPr/>
            <p:nvPr/>
          </p:nvSpPr>
          <p:spPr>
            <a:xfrm>
              <a:off x="9067797" y="4482972"/>
              <a:ext cx="0" cy="1791021"/>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50" name="TextBox 49"/>
            <p:cNvSpPr txBox="1"/>
            <p:nvPr/>
          </p:nvSpPr>
          <p:spPr>
            <a:xfrm>
              <a:off x="7646680" y="5577198"/>
              <a:ext cx="201920" cy="461665"/>
            </a:xfrm>
            <a:prstGeom prst="rect">
              <a:avLst/>
            </a:prstGeom>
            <a:noFill/>
          </p:spPr>
          <p:txBody>
            <a:bodyPr wrap="square" rtlCol="0">
              <a:spAutoFit/>
            </a:bodyPr>
            <a:lstStyle/>
            <a:p>
              <a:r>
                <a:rPr lang="en-US" sz="800" dirty="0" smtClean="0"/>
                <a:t>LED</a:t>
              </a:r>
              <a:endParaRPr lang="en-US" sz="800" dirty="0"/>
            </a:p>
          </p:txBody>
        </p:sp>
        <p:cxnSp>
          <p:nvCxnSpPr>
            <p:cNvPr id="51" name="Straight Connector 50"/>
            <p:cNvCxnSpPr/>
            <p:nvPr/>
          </p:nvCxnSpPr>
          <p:spPr>
            <a:xfrm>
              <a:off x="7620000" y="4914516"/>
              <a:ext cx="0" cy="381000"/>
            </a:xfrm>
            <a:prstGeom prst="line">
              <a:avLst/>
            </a:prstGeom>
            <a:ln>
              <a:prstDash val="sysDash"/>
            </a:ln>
          </p:spPr>
          <p:style>
            <a:lnRef idx="2">
              <a:schemeClr val="dk1"/>
            </a:lnRef>
            <a:fillRef idx="0">
              <a:schemeClr val="dk1"/>
            </a:fillRef>
            <a:effectRef idx="1">
              <a:schemeClr val="dk1"/>
            </a:effectRef>
            <a:fontRef idx="minor">
              <a:schemeClr val="tx1"/>
            </a:fontRef>
          </p:style>
        </p:cxnSp>
        <p:sp>
          <p:nvSpPr>
            <p:cNvPr id="59" name="TextBox 58"/>
            <p:cNvSpPr txBox="1"/>
            <p:nvPr/>
          </p:nvSpPr>
          <p:spPr>
            <a:xfrm>
              <a:off x="6629400" y="4953000"/>
              <a:ext cx="609600" cy="276999"/>
            </a:xfrm>
            <a:prstGeom prst="rect">
              <a:avLst/>
            </a:prstGeom>
            <a:noFill/>
          </p:spPr>
          <p:txBody>
            <a:bodyPr wrap="square" rtlCol="0">
              <a:spAutoFit/>
            </a:bodyPr>
            <a:lstStyle/>
            <a:p>
              <a:r>
                <a:rPr lang="en-US" sz="1200" dirty="0" smtClean="0"/>
                <a:t>Math</a:t>
              </a:r>
              <a:endParaRPr lang="en-US" sz="1200" dirty="0"/>
            </a:p>
          </p:txBody>
        </p:sp>
        <p:sp>
          <p:nvSpPr>
            <p:cNvPr id="62" name="TextBox 61"/>
            <p:cNvSpPr txBox="1"/>
            <p:nvPr/>
          </p:nvSpPr>
          <p:spPr>
            <a:xfrm>
              <a:off x="7620000" y="4876800"/>
              <a:ext cx="228600" cy="461665"/>
            </a:xfrm>
            <a:prstGeom prst="rect">
              <a:avLst/>
            </a:prstGeom>
            <a:noFill/>
          </p:spPr>
          <p:txBody>
            <a:bodyPr wrap="square" rtlCol="0">
              <a:spAutoFit/>
            </a:bodyPr>
            <a:lstStyle/>
            <a:p>
              <a:r>
                <a:rPr lang="en-US" sz="800" dirty="0" smtClean="0"/>
                <a:t>LED</a:t>
              </a:r>
              <a:endParaRPr lang="en-US" sz="800" dirty="0"/>
            </a:p>
          </p:txBody>
        </p:sp>
        <p:sp>
          <p:nvSpPr>
            <p:cNvPr id="2" name="12-Point Star 1"/>
            <p:cNvSpPr/>
            <p:nvPr/>
          </p:nvSpPr>
          <p:spPr>
            <a:xfrm rot="21046893">
              <a:off x="4863054" y="5205905"/>
              <a:ext cx="1628361" cy="869915"/>
            </a:xfrm>
            <a:prstGeom prst="star12">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000" b="1" dirty="0" smtClean="0">
                  <a:solidFill>
                    <a:srgbClr val="333399"/>
                  </a:solidFill>
                </a:rPr>
                <a:t>98% </a:t>
              </a:r>
            </a:p>
            <a:p>
              <a:pPr algn="ctr"/>
              <a:r>
                <a:rPr lang="en-US" sz="1000" b="1" dirty="0" smtClean="0">
                  <a:solidFill>
                    <a:srgbClr val="333399"/>
                  </a:solidFill>
                </a:rPr>
                <a:t>Cycle Time SAVING</a:t>
              </a:r>
              <a:endParaRPr lang="en-US" sz="1000" b="1" dirty="0">
                <a:solidFill>
                  <a:srgbClr val="333399"/>
                </a:solidFill>
              </a:endParaRPr>
            </a:p>
          </p:txBody>
        </p:sp>
        <p:sp>
          <p:nvSpPr>
            <p:cNvPr id="64" name="Rounded Rectangle 63"/>
            <p:cNvSpPr/>
            <p:nvPr/>
          </p:nvSpPr>
          <p:spPr>
            <a:xfrm>
              <a:off x="7659705" y="5627412"/>
              <a:ext cx="195864" cy="362469"/>
            </a:xfrm>
            <a:prstGeom prst="roundRect">
              <a:avLst/>
            </a:prstGeom>
            <a:solidFill>
              <a:srgbClr val="FF0000">
                <a:alpha val="59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p>
          </p:txBody>
        </p:sp>
        <p:sp>
          <p:nvSpPr>
            <p:cNvPr id="4" name="TextBox 3"/>
            <p:cNvSpPr txBox="1"/>
            <p:nvPr/>
          </p:nvSpPr>
          <p:spPr>
            <a:xfrm>
              <a:off x="4800600" y="6172200"/>
              <a:ext cx="1676400" cy="338554"/>
            </a:xfrm>
            <a:prstGeom prst="rect">
              <a:avLst/>
            </a:prstGeom>
            <a:noFill/>
          </p:spPr>
          <p:txBody>
            <a:bodyPr wrap="square" rtlCol="0">
              <a:spAutoFit/>
            </a:bodyPr>
            <a:lstStyle/>
            <a:p>
              <a:pPr algn="ctr"/>
              <a:r>
                <a:rPr lang="en-US" sz="1600" i="1" u="sng" dirty="0" smtClean="0"/>
                <a:t>Cycle Time</a:t>
              </a:r>
              <a:endParaRPr lang="en-US" sz="1600" i="1" u="sng" dirty="0"/>
            </a:p>
          </p:txBody>
        </p:sp>
      </p:grpSp>
      <p:sp>
        <p:nvSpPr>
          <p:cNvPr id="60" name="12-Point Star 59"/>
          <p:cNvSpPr/>
          <p:nvPr/>
        </p:nvSpPr>
        <p:spPr>
          <a:xfrm>
            <a:off x="1828800" y="2329188"/>
            <a:ext cx="1295400" cy="805192"/>
          </a:xfrm>
          <a:prstGeom prst="star12">
            <a:avLst/>
          </a:prstGeom>
          <a:gradFill>
            <a:gsLst>
              <a:gs pos="0">
                <a:srgbClr val="92D050"/>
              </a:gs>
              <a:gs pos="80000">
                <a:srgbClr val="00B050"/>
              </a:gs>
              <a:gs pos="100000">
                <a:srgbClr val="92D050"/>
              </a:gs>
            </a:gsLst>
          </a:gradFill>
        </p:spPr>
        <p:style>
          <a:lnRef idx="0">
            <a:schemeClr val="accent1"/>
          </a:lnRef>
          <a:fillRef idx="3">
            <a:schemeClr val="accent1"/>
          </a:fillRef>
          <a:effectRef idx="3">
            <a:schemeClr val="accent1"/>
          </a:effectRef>
          <a:fontRef idx="minor">
            <a:schemeClr val="lt1"/>
          </a:fontRef>
        </p:style>
        <p:txBody>
          <a:bodyPr lIns="0" rIns="0" rtlCol="0" anchor="ctr"/>
          <a:lstStyle/>
          <a:p>
            <a:pPr algn="ctr"/>
            <a:r>
              <a:rPr lang="en-US" sz="1400" b="1" i="1" dirty="0" smtClean="0">
                <a:solidFill>
                  <a:schemeClr val="bg1"/>
                </a:solidFill>
              </a:rPr>
              <a:t>0.75 </a:t>
            </a:r>
            <a:r>
              <a:rPr lang="en-US" sz="1400" b="1" i="1" dirty="0" err="1"/>
              <a:t>μs</a:t>
            </a:r>
            <a:endParaRPr lang="en-US" sz="1400" b="1" i="1" dirty="0"/>
          </a:p>
        </p:txBody>
      </p:sp>
    </p:spTree>
    <p:extLst>
      <p:ext uri="{BB962C8B-B14F-4D97-AF65-F5344CB8AC3E}">
        <p14:creationId xmlns:p14="http://schemas.microsoft.com/office/powerpoint/2010/main" xmlns="" val="36104954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screen">
            <a:extLst>
              <a:ext uri="{28A0092B-C50C-407E-A947-70E740481C1C}">
                <a14:useLocalDpi xmlns:a14="http://schemas.microsoft.com/office/drawing/2010/main" xmlns=""/>
              </a:ext>
            </a:extLst>
          </a:blip>
          <a:stretch>
            <a:fillRect/>
          </a:stretch>
        </p:blipFill>
        <p:spPr>
          <a:xfrm rot="1423162">
            <a:off x="7513270" y="1368677"/>
            <a:ext cx="975685" cy="1946289"/>
          </a:xfrm>
          <a:prstGeom prst="rect">
            <a:avLst/>
          </a:prstGeom>
        </p:spPr>
      </p:pic>
      <p:pic>
        <p:nvPicPr>
          <p:cNvPr id="4" name="Picture 3" descr="imagesCACKMW05.jpg"/>
          <p:cNvPicPr>
            <a:picLocks noChangeAspect="1"/>
          </p:cNvPicPr>
          <p:nvPr/>
        </p:nvPicPr>
        <p:blipFill rotWithShape="1">
          <a:blip r:embed="rId3" cstate="screen">
            <a:extLst>
              <a:ext uri="{28A0092B-C50C-407E-A947-70E740481C1C}">
                <a14:useLocalDpi xmlns:a14="http://schemas.microsoft.com/office/drawing/2010/main" xmlns=""/>
              </a:ext>
            </a:extLst>
          </a:blip>
          <a:srcRect/>
          <a:stretch/>
        </p:blipFill>
        <p:spPr>
          <a:xfrm>
            <a:off x="6845146" y="3962400"/>
            <a:ext cx="2298853" cy="1524000"/>
          </a:xfrm>
          <a:prstGeom prst="rect">
            <a:avLst/>
          </a:prstGeom>
        </p:spPr>
      </p:pic>
      <p:sp>
        <p:nvSpPr>
          <p:cNvPr id="3" name="Rectangle 2"/>
          <p:cNvSpPr txBox="1">
            <a:spLocks noChangeArrowheads="1"/>
          </p:cNvSpPr>
          <p:nvPr/>
        </p:nvSpPr>
        <p:spPr bwMode="auto">
          <a:xfrm>
            <a:off x="1676400" y="152400"/>
            <a:ext cx="7391400" cy="990600"/>
          </a:xfrm>
          <a:prstGeom prst="rect">
            <a:avLst/>
          </a:prstGeom>
          <a:noFill/>
          <a:ln w="9525">
            <a:noFill/>
            <a:miter lim="800000"/>
            <a:headEnd/>
            <a:tailEnd/>
          </a:ln>
        </p:spPr>
        <p:txBody>
          <a:bodyPr anchor="ctr"/>
          <a:lstStyle/>
          <a:p>
            <a:pPr algn="ctr"/>
            <a:r>
              <a:rPr lang="en-US" sz="4000" b="1" kern="0" dirty="0" smtClean="0">
                <a:solidFill>
                  <a:schemeClr val="tx2"/>
                </a:solidFill>
              </a:rPr>
              <a:t>PIC16</a:t>
            </a:r>
            <a:r>
              <a:rPr lang="en-US" sz="4000" b="1" kern="0" dirty="0">
                <a:solidFill>
                  <a:schemeClr val="tx2"/>
                </a:solidFill>
              </a:rPr>
              <a:t>(L)</a:t>
            </a:r>
            <a:r>
              <a:rPr lang="en-US" sz="4000" b="1" kern="0" dirty="0" smtClean="0">
                <a:solidFill>
                  <a:schemeClr val="tx2"/>
                </a:solidFill>
              </a:rPr>
              <a:t>F161X</a:t>
            </a:r>
          </a:p>
          <a:p>
            <a:pPr algn="ctr"/>
            <a:r>
              <a:rPr lang="en-US" sz="2400" dirty="0" smtClean="0">
                <a:solidFill>
                  <a:schemeClr val="tx2"/>
                </a:solidFill>
              </a:rPr>
              <a:t>Development Tools</a:t>
            </a:r>
            <a:endParaRPr lang="en-US" sz="2400" dirty="0">
              <a:solidFill>
                <a:schemeClr val="tx2"/>
              </a:solidFill>
            </a:endParaRPr>
          </a:p>
        </p:txBody>
      </p:sp>
      <p:sp>
        <p:nvSpPr>
          <p:cNvPr id="7" name="Rectangle 6"/>
          <p:cNvSpPr/>
          <p:nvPr/>
        </p:nvSpPr>
        <p:spPr>
          <a:xfrm>
            <a:off x="35664" y="1168800"/>
            <a:ext cx="7050936" cy="5464574"/>
          </a:xfrm>
          <a:prstGeom prst="rect">
            <a:avLst/>
          </a:prstGeom>
        </p:spPr>
        <p:txBody>
          <a:bodyPr wrap="square">
            <a:spAutoFit/>
          </a:bodyPr>
          <a:lstStyle/>
          <a:p>
            <a:pPr marL="285750" indent="-285750" eaLnBrk="0" hangingPunct="0">
              <a:buFont typeface="Arial"/>
              <a:buChar char="•"/>
            </a:pPr>
            <a:r>
              <a:rPr lang="en-US" sz="1600" b="1" dirty="0" smtClean="0">
                <a:latin typeface="Arial" pitchFamily="34" charset="0"/>
                <a:ea typeface="Times New Roman" pitchFamily="18" charset="0"/>
                <a:cs typeface="Arial" pitchFamily="34" charset="0"/>
              </a:rPr>
              <a:t>Development Board</a:t>
            </a:r>
          </a:p>
          <a:p>
            <a:pPr marL="742950" lvl="1" indent="-285750" eaLnBrk="0" hangingPunct="0">
              <a:buFont typeface="Arial"/>
              <a:buChar char="•"/>
            </a:pPr>
            <a:r>
              <a:rPr lang="en-US" sz="1400" dirty="0" err="1" smtClean="0">
                <a:latin typeface="Arial" pitchFamily="34" charset="0"/>
                <a:ea typeface="Times New Roman" pitchFamily="18" charset="0"/>
                <a:cs typeface="Arial" pitchFamily="34" charset="0"/>
              </a:rPr>
              <a:t>PICkit</a:t>
            </a:r>
            <a:r>
              <a:rPr lang="en-US" sz="1400" dirty="0" smtClean="0">
                <a:latin typeface="Arial" pitchFamily="34" charset="0"/>
                <a:ea typeface="Times New Roman" pitchFamily="18" charset="0"/>
                <a:cs typeface="Arial" pitchFamily="34" charset="0"/>
              </a:rPr>
              <a:t>™ 3 Starter Kit (DV164130)</a:t>
            </a:r>
          </a:p>
          <a:p>
            <a:pPr marL="742950" lvl="1" indent="-285750" eaLnBrk="0" hangingPunct="0">
              <a:buFont typeface="Arial"/>
              <a:buChar char="•"/>
            </a:pPr>
            <a:r>
              <a:rPr lang="en-US" sz="1400" dirty="0" smtClean="0">
                <a:latin typeface="Arial" pitchFamily="34" charset="0"/>
                <a:ea typeface="Times New Roman" pitchFamily="18" charset="0"/>
                <a:cs typeface="Arial" pitchFamily="34" charset="0"/>
              </a:rPr>
              <a:t>8-bit Low Pin Count Dev Kit (</a:t>
            </a:r>
            <a:r>
              <a:rPr lang="en-US" sz="1400" dirty="0" smtClean="0"/>
              <a:t>DM164130-9)</a:t>
            </a:r>
          </a:p>
          <a:p>
            <a:pPr marL="1200150" lvl="2" indent="-285750" eaLnBrk="0" hangingPunct="0">
              <a:buFont typeface="Arial"/>
              <a:buChar char="•"/>
            </a:pPr>
            <a:endParaRPr lang="en-US" sz="800" dirty="0" smtClean="0"/>
          </a:p>
          <a:p>
            <a:pPr marL="285750" lvl="1" indent="-284163" eaLnBrk="0" hangingPunct="0">
              <a:buFont typeface="Arial"/>
              <a:buChar char="•"/>
            </a:pPr>
            <a:r>
              <a:rPr lang="en-US" sz="1600" b="1" dirty="0" smtClean="0"/>
              <a:t>Programmer / Debuggers / IDE / Compiler</a:t>
            </a:r>
          </a:p>
          <a:p>
            <a:pPr marL="742950" lvl="1" indent="-285750">
              <a:buSzPct val="81000"/>
              <a:buFont typeface="Arial"/>
              <a:buChar char="•"/>
            </a:pPr>
            <a:r>
              <a:rPr lang="en-US" sz="1400" dirty="0" err="1" smtClean="0">
                <a:latin typeface="Arial" pitchFamily="34" charset="0"/>
                <a:ea typeface="Times New Roman" pitchFamily="18" charset="0"/>
                <a:cs typeface="Arial" pitchFamily="34" charset="0"/>
              </a:rPr>
              <a:t>PICkit</a:t>
            </a:r>
            <a:r>
              <a:rPr lang="en-US" sz="1400" dirty="0" smtClean="0">
                <a:latin typeface="Arial" pitchFamily="34" charset="0"/>
                <a:ea typeface="Times New Roman" pitchFamily="18" charset="0"/>
                <a:cs typeface="Arial" pitchFamily="34" charset="0"/>
              </a:rPr>
              <a:t> 3 (</a:t>
            </a:r>
            <a:r>
              <a:rPr lang="en-US" sz="1400" dirty="0" smtClean="0"/>
              <a:t>PG164130) MPLAB</a:t>
            </a:r>
            <a:r>
              <a:rPr lang="en-US" sz="1400" baseline="30000" dirty="0" smtClean="0"/>
              <a:t>®</a:t>
            </a:r>
            <a:r>
              <a:rPr lang="en-US" sz="1400" dirty="0" smtClean="0"/>
              <a:t> ICD3 (DV164035) </a:t>
            </a:r>
          </a:p>
          <a:p>
            <a:pPr marL="742950" lvl="1" indent="-285750">
              <a:buSzPct val="81000"/>
              <a:buFont typeface="Arial"/>
              <a:buChar char="•"/>
            </a:pPr>
            <a:r>
              <a:rPr lang="en-US" sz="1400" dirty="0" smtClean="0"/>
              <a:t>MPLAB PM 3 (DV007004) </a:t>
            </a:r>
          </a:p>
          <a:p>
            <a:pPr marL="742950" lvl="1" indent="-285750">
              <a:buSzPct val="81000"/>
              <a:buFont typeface="Arial"/>
              <a:buChar char="•"/>
            </a:pPr>
            <a:r>
              <a:rPr lang="en-US" sz="1400" dirty="0" smtClean="0"/>
              <a:t>MPLAB X IDE / XC8 Compiler</a:t>
            </a:r>
            <a:endParaRPr lang="en-US" sz="1000" dirty="0" smtClean="0"/>
          </a:p>
          <a:p>
            <a:pPr lvl="1" eaLnBrk="0" hangingPunct="0"/>
            <a:endParaRPr lang="en-US" sz="1000" dirty="0" smtClean="0"/>
          </a:p>
          <a:p>
            <a:pPr lvl="1" eaLnBrk="0" hangingPunct="0"/>
            <a:endParaRPr lang="en-US" sz="1000" dirty="0"/>
          </a:p>
          <a:p>
            <a:pPr lvl="0">
              <a:lnSpc>
                <a:spcPct val="95000"/>
              </a:lnSpc>
            </a:pPr>
            <a:r>
              <a:rPr lang="en-US" b="1" u="sng" dirty="0" smtClean="0">
                <a:solidFill>
                  <a:srgbClr val="333399"/>
                </a:solidFill>
              </a:rPr>
              <a:t>MPLAB</a:t>
            </a:r>
            <a:r>
              <a:rPr lang="en-US" b="1" u="sng" baseline="30000" dirty="0" smtClean="0">
                <a:solidFill>
                  <a:srgbClr val="333399"/>
                </a:solidFill>
              </a:rPr>
              <a:t>®</a:t>
            </a:r>
            <a:r>
              <a:rPr lang="en-US" b="1" u="sng" dirty="0" smtClean="0">
                <a:solidFill>
                  <a:srgbClr val="333399"/>
                </a:solidFill>
              </a:rPr>
              <a:t> Code Configurator: </a:t>
            </a:r>
            <a:r>
              <a:rPr lang="en-US" sz="1200" b="1" u="sng" dirty="0" smtClean="0">
                <a:solidFill>
                  <a:srgbClr val="333399"/>
                </a:solidFill>
              </a:rPr>
              <a:t>(available in 2.10: expected Dec’14)</a:t>
            </a:r>
            <a:endParaRPr lang="en-US" sz="1200" dirty="0">
              <a:latin typeface="Arial" pitchFamily="34" charset="0"/>
              <a:ea typeface="Times New Roman" pitchFamily="18" charset="0"/>
              <a:cs typeface="Arial" pitchFamily="34" charset="0"/>
            </a:endParaRPr>
          </a:p>
          <a:p>
            <a:pPr marL="285750" indent="-285750" eaLnBrk="0" hangingPunct="0">
              <a:buFont typeface="Arial"/>
              <a:buChar char="•"/>
            </a:pPr>
            <a:r>
              <a:rPr lang="en-US" sz="1600" b="1" dirty="0">
                <a:latin typeface="Arial" pitchFamily="34" charset="0"/>
                <a:ea typeface="Times New Roman" pitchFamily="18" charset="0"/>
                <a:cs typeface="Arial" pitchFamily="34" charset="0"/>
              </a:rPr>
              <a:t>Generates seamless, easy to understand Drivers and Initializers that can be inserted into your project</a:t>
            </a:r>
          </a:p>
          <a:p>
            <a:pPr marL="742950" lvl="1" indent="-285750" eaLnBrk="0" hangingPunct="0">
              <a:buFont typeface="Arial"/>
              <a:buChar char="•"/>
            </a:pPr>
            <a:r>
              <a:rPr lang="en-US" sz="1400" dirty="0">
                <a:latin typeface="Arial" pitchFamily="34" charset="0"/>
                <a:ea typeface="Times New Roman" pitchFamily="18" charset="0"/>
                <a:cs typeface="Arial" pitchFamily="34" charset="0"/>
              </a:rPr>
              <a:t>Enables, configures and utilizes a rich set of peripherals across many of Microchip’s most popular </a:t>
            </a:r>
            <a:r>
              <a:rPr lang="en-US" sz="1400" dirty="0" smtClean="0">
                <a:latin typeface="Arial" pitchFamily="34" charset="0"/>
                <a:ea typeface="Times New Roman" pitchFamily="18" charset="0"/>
                <a:cs typeface="Arial" pitchFamily="34" charset="0"/>
              </a:rPr>
              <a:t>PIC</a:t>
            </a:r>
            <a:r>
              <a:rPr lang="en-US" sz="1400" baseline="30000" dirty="0" smtClean="0">
                <a:latin typeface="Arial" pitchFamily="34" charset="0"/>
                <a:ea typeface="Times New Roman" pitchFamily="18" charset="0"/>
                <a:cs typeface="Arial" pitchFamily="34" charset="0"/>
              </a:rPr>
              <a:t>®</a:t>
            </a:r>
            <a:r>
              <a:rPr lang="en-US" sz="1400" dirty="0" smtClean="0">
                <a:latin typeface="Arial" pitchFamily="34" charset="0"/>
                <a:ea typeface="Times New Roman" pitchFamily="18" charset="0"/>
                <a:cs typeface="Arial" pitchFamily="34" charset="0"/>
              </a:rPr>
              <a:t> microcontrollers</a:t>
            </a:r>
          </a:p>
          <a:p>
            <a:pPr marL="742950" lvl="1" indent="-285750" eaLnBrk="0" hangingPunct="0">
              <a:buFont typeface="Arial"/>
              <a:buChar char="•"/>
            </a:pPr>
            <a:endParaRPr lang="en-US" sz="800" dirty="0">
              <a:latin typeface="Arial" pitchFamily="34" charset="0"/>
              <a:ea typeface="Times New Roman" pitchFamily="18" charset="0"/>
              <a:cs typeface="Arial" pitchFamily="34" charset="0"/>
            </a:endParaRPr>
          </a:p>
          <a:p>
            <a:pPr marL="742950" lvl="1" indent="-285750" eaLnBrk="0" hangingPunct="0">
              <a:buFont typeface="Arial"/>
              <a:buChar char="•"/>
            </a:pPr>
            <a:r>
              <a:rPr lang="en-US" sz="1400" dirty="0">
                <a:latin typeface="Arial" pitchFamily="34" charset="0"/>
                <a:ea typeface="Times New Roman" pitchFamily="18" charset="0"/>
                <a:cs typeface="Arial" pitchFamily="34" charset="0"/>
              </a:rPr>
              <a:t>Generated C code can be easily modified and </a:t>
            </a:r>
            <a:r>
              <a:rPr lang="en-US" sz="1400" dirty="0" smtClean="0">
                <a:latin typeface="Arial" pitchFamily="34" charset="0"/>
                <a:ea typeface="Times New Roman" pitchFamily="18" charset="0"/>
                <a:cs typeface="Arial" pitchFamily="34" charset="0"/>
              </a:rPr>
              <a:t>debugged</a:t>
            </a:r>
          </a:p>
          <a:p>
            <a:pPr marL="742950" lvl="1" indent="-285750" eaLnBrk="0" hangingPunct="0">
              <a:buFont typeface="Arial"/>
              <a:buChar char="•"/>
            </a:pPr>
            <a:endParaRPr lang="en-US" sz="800" dirty="0">
              <a:latin typeface="Arial" pitchFamily="34" charset="0"/>
              <a:ea typeface="Times New Roman" pitchFamily="18" charset="0"/>
              <a:cs typeface="Arial" pitchFamily="34" charset="0"/>
            </a:endParaRPr>
          </a:p>
          <a:p>
            <a:pPr marL="285750" indent="-285750" eaLnBrk="0" hangingPunct="0">
              <a:buFont typeface="Arial"/>
              <a:buChar char="•"/>
            </a:pPr>
            <a:r>
              <a:rPr lang="en-US" sz="1600" b="1" dirty="0">
                <a:latin typeface="Arial" pitchFamily="34" charset="0"/>
                <a:ea typeface="Times New Roman" pitchFamily="18" charset="0"/>
                <a:cs typeface="Arial" pitchFamily="34" charset="0"/>
              </a:rPr>
              <a:t>Leverage drivers and GUI interface to reduce time to </a:t>
            </a:r>
            <a:r>
              <a:rPr lang="en-US" sz="1600" b="1" dirty="0" smtClean="0">
                <a:latin typeface="Arial" pitchFamily="34" charset="0"/>
                <a:ea typeface="Times New Roman" pitchFamily="18" charset="0"/>
                <a:cs typeface="Arial" pitchFamily="34" charset="0"/>
              </a:rPr>
              <a:t>market</a:t>
            </a:r>
          </a:p>
          <a:p>
            <a:pPr marL="285750" indent="-285750" eaLnBrk="0" hangingPunct="0">
              <a:buFont typeface="Arial"/>
              <a:buChar char="•"/>
            </a:pPr>
            <a:endParaRPr lang="en-US" sz="800" b="1" dirty="0">
              <a:latin typeface="Arial" pitchFamily="34" charset="0"/>
              <a:ea typeface="Times New Roman" pitchFamily="18" charset="0"/>
              <a:cs typeface="Arial" pitchFamily="34" charset="0"/>
            </a:endParaRPr>
          </a:p>
          <a:p>
            <a:pPr marL="285750" indent="-285750" eaLnBrk="0" hangingPunct="0">
              <a:buFont typeface="Arial"/>
              <a:buChar char="•"/>
            </a:pPr>
            <a:r>
              <a:rPr lang="en-US" sz="1600" b="1" dirty="0" smtClean="0">
                <a:latin typeface="Arial" pitchFamily="34" charset="0"/>
                <a:ea typeface="Times New Roman" pitchFamily="18" charset="0"/>
                <a:cs typeface="Arial" pitchFamily="34" charset="0"/>
              </a:rPr>
              <a:t>Powerful</a:t>
            </a:r>
            <a:r>
              <a:rPr lang="en-US" sz="1600" b="1" dirty="0">
                <a:latin typeface="Arial" pitchFamily="34" charset="0"/>
                <a:ea typeface="Times New Roman" pitchFamily="18" charset="0"/>
                <a:cs typeface="Arial" pitchFamily="34" charset="0"/>
              </a:rPr>
              <a:t>, easy to use plug-in development tool for </a:t>
            </a:r>
            <a:r>
              <a:rPr lang="en-US" sz="1600" b="1" dirty="0" smtClean="0">
                <a:latin typeface="Arial" pitchFamily="34" charset="0"/>
                <a:ea typeface="Times New Roman" pitchFamily="18" charset="0"/>
                <a:cs typeface="Arial" pitchFamily="34" charset="0"/>
              </a:rPr>
              <a:t>MPLAB </a:t>
            </a:r>
            <a:r>
              <a:rPr lang="en-US" sz="1600" b="1" dirty="0">
                <a:latin typeface="Arial" pitchFamily="34" charset="0"/>
                <a:ea typeface="Times New Roman" pitchFamily="18" charset="0"/>
                <a:cs typeface="Arial" pitchFamily="34" charset="0"/>
              </a:rPr>
              <a:t>X </a:t>
            </a:r>
            <a:r>
              <a:rPr lang="en-US" sz="1600" b="1" dirty="0" smtClean="0">
                <a:latin typeface="Arial" pitchFamily="34" charset="0"/>
                <a:ea typeface="Times New Roman" pitchFamily="18" charset="0"/>
                <a:cs typeface="Arial" pitchFamily="34" charset="0"/>
              </a:rPr>
              <a:t>IDE</a:t>
            </a:r>
          </a:p>
          <a:p>
            <a:pPr marL="285750" indent="-285750" eaLnBrk="0" hangingPunct="0">
              <a:buFont typeface="Arial"/>
              <a:buChar char="•"/>
            </a:pPr>
            <a:endParaRPr lang="en-US" sz="800" b="1" dirty="0">
              <a:latin typeface="Arial" pitchFamily="34" charset="0"/>
              <a:ea typeface="Times New Roman" pitchFamily="18" charset="0"/>
              <a:cs typeface="Arial" pitchFamily="34" charset="0"/>
            </a:endParaRPr>
          </a:p>
          <a:p>
            <a:pPr algn="ctr"/>
            <a:r>
              <a:rPr lang="en-US" sz="1600" dirty="0"/>
              <a:t>Download this powerful development tool for FREE at:</a:t>
            </a:r>
          </a:p>
          <a:p>
            <a:pPr algn="ctr"/>
            <a:r>
              <a:rPr lang="en-US" sz="1600" b="1" dirty="0">
                <a:hlinkClick r:id="rId4"/>
              </a:rPr>
              <a:t>www.microchip.com/MCC</a:t>
            </a:r>
            <a:endParaRPr lang="en-US" sz="1600" b="1" dirty="0"/>
          </a:p>
          <a:p>
            <a:pPr marL="285750" indent="-285750" eaLnBrk="0" hangingPunct="0">
              <a:buFont typeface="Arial"/>
              <a:buChar char="•"/>
            </a:pPr>
            <a:endParaRPr lang="en-US" sz="1600" b="1" dirty="0" smtClean="0">
              <a:latin typeface="Arial" pitchFamily="34" charset="0"/>
              <a:ea typeface="Times New Roman" pitchFamily="18" charset="0"/>
              <a:cs typeface="Arial" pitchFamily="34" charset="0"/>
            </a:endParaRPr>
          </a:p>
          <a:p>
            <a:pPr marL="285750" indent="-285750" eaLnBrk="0" hangingPunct="0">
              <a:buFont typeface="Arial"/>
              <a:buChar char="•"/>
            </a:pPr>
            <a:endParaRPr lang="en-US" sz="1600" b="1" dirty="0">
              <a:latin typeface="Arial" pitchFamily="34" charset="0"/>
              <a:ea typeface="Times New Roman" pitchFamily="18" charset="0"/>
              <a:cs typeface="Arial" pitchFamily="34" charset="0"/>
            </a:endParaRPr>
          </a:p>
        </p:txBody>
      </p:sp>
      <p:pic>
        <p:nvPicPr>
          <p:cNvPr id="6" name="Picture 2"/>
          <p:cNvPicPr>
            <a:picLocks noChangeAspect="1" noChangeArrowheads="1"/>
          </p:cNvPicPr>
          <p:nvPr/>
        </p:nvPicPr>
        <p:blipFill rotWithShape="1">
          <a:blip r:embed="rId5" cstate="screen">
            <a:extLst>
              <a:ext uri="{28A0092B-C50C-407E-A947-70E740481C1C}">
                <a14:useLocalDpi xmlns:a14="http://schemas.microsoft.com/office/drawing/2010/main" xmlns=""/>
              </a:ext>
            </a:extLst>
          </a:blip>
          <a:srcRect/>
          <a:stretch/>
        </p:blipFill>
        <p:spPr bwMode="auto">
          <a:xfrm>
            <a:off x="0" y="6080632"/>
            <a:ext cx="9144000" cy="777368"/>
          </a:xfrm>
          <a:prstGeom prst="rect">
            <a:avLst/>
          </a:prstGeom>
          <a:noFill/>
          <a:ln w="9525">
            <a:noFill/>
            <a:miter lim="800000"/>
            <a:headEnd/>
            <a:tailEnd/>
          </a:ln>
        </p:spPr>
      </p:pic>
      <p:sp>
        <p:nvSpPr>
          <p:cNvPr id="2" name="TextBox 1"/>
          <p:cNvSpPr txBox="1"/>
          <p:nvPr/>
        </p:nvSpPr>
        <p:spPr>
          <a:xfrm>
            <a:off x="6934200" y="3276600"/>
            <a:ext cx="1981200" cy="400110"/>
          </a:xfrm>
          <a:prstGeom prst="rect">
            <a:avLst/>
          </a:prstGeom>
          <a:noFill/>
        </p:spPr>
        <p:txBody>
          <a:bodyPr wrap="square" rtlCol="0">
            <a:spAutoFit/>
          </a:bodyPr>
          <a:lstStyle/>
          <a:p>
            <a:pPr marL="0" lvl="1"/>
            <a:r>
              <a:rPr lang="en-US" sz="1000" i="1" dirty="0" err="1">
                <a:latin typeface="Arial" pitchFamily="34" charset="0"/>
                <a:ea typeface="Times New Roman" pitchFamily="18" charset="0"/>
                <a:cs typeface="Arial" pitchFamily="34" charset="0"/>
              </a:rPr>
              <a:t>PICkit</a:t>
            </a:r>
            <a:r>
              <a:rPr lang="en-US" sz="1000" i="1" dirty="0">
                <a:latin typeface="Arial" pitchFamily="34" charset="0"/>
                <a:ea typeface="Times New Roman" pitchFamily="18" charset="0"/>
                <a:cs typeface="Arial" pitchFamily="34" charset="0"/>
              </a:rPr>
              <a:t> 3 Starter Kit (DV164130)</a:t>
            </a:r>
          </a:p>
          <a:p>
            <a:endParaRPr lang="en-US" sz="1000" i="1" dirty="0"/>
          </a:p>
        </p:txBody>
      </p:sp>
    </p:spTree>
    <p:extLst>
      <p:ext uri="{BB962C8B-B14F-4D97-AF65-F5344CB8AC3E}">
        <p14:creationId xmlns:p14="http://schemas.microsoft.com/office/powerpoint/2010/main" xmlns="" val="3787493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01945"/>
            <a:ext cx="8991600" cy="5327455"/>
          </a:xfrm>
        </p:spPr>
        <p:txBody>
          <a:bodyPr>
            <a:normAutofit lnSpcReduction="10000"/>
          </a:bodyPr>
          <a:lstStyle/>
          <a:p>
            <a:pPr marL="0" indent="0">
              <a:buNone/>
            </a:pPr>
            <a:r>
              <a:rPr lang="en-US" sz="2200" i="1" dirty="0">
                <a:solidFill>
                  <a:schemeClr val="accent2"/>
                </a:solidFill>
              </a:rPr>
              <a:t>Key </a:t>
            </a:r>
            <a:r>
              <a:rPr lang="en-US" sz="2200" i="1" dirty="0" smtClean="0">
                <a:solidFill>
                  <a:schemeClr val="accent2"/>
                </a:solidFill>
              </a:rPr>
              <a:t>Differentiators: Core Independent Peripherals</a:t>
            </a:r>
            <a:endParaRPr lang="en-US" sz="2200" i="1" dirty="0">
              <a:solidFill>
                <a:schemeClr val="accent2"/>
              </a:solidFill>
            </a:endParaRPr>
          </a:p>
          <a:p>
            <a:pPr lvl="1"/>
            <a:r>
              <a:rPr lang="en-US" sz="1700" b="0" dirty="0" smtClean="0"/>
              <a:t>Offloads work from the CPU, work is done in hardware </a:t>
            </a:r>
          </a:p>
          <a:p>
            <a:pPr lvl="1"/>
            <a:r>
              <a:rPr lang="en-US" sz="1700" b="0" dirty="0" smtClean="0"/>
              <a:t>Eliminates Interrupt Latency in time critical tasks</a:t>
            </a:r>
          </a:p>
          <a:p>
            <a:pPr lvl="1"/>
            <a:r>
              <a:rPr lang="en-US" sz="1700" b="0" dirty="0" smtClean="0"/>
              <a:t>Lower System Power </a:t>
            </a:r>
            <a:r>
              <a:rPr lang="en-US" sz="1700" b="0" dirty="0"/>
              <a:t>C</a:t>
            </a:r>
            <a:r>
              <a:rPr lang="en-US" sz="1700" b="0" dirty="0" smtClean="0"/>
              <a:t>onsumption</a:t>
            </a:r>
          </a:p>
          <a:p>
            <a:pPr lvl="1"/>
            <a:r>
              <a:rPr lang="en-US" sz="1700" b="0" dirty="0" smtClean="0"/>
              <a:t>Reduce Design Complexity</a:t>
            </a:r>
          </a:p>
          <a:p>
            <a:pPr lvl="1"/>
            <a:r>
              <a:rPr lang="en-US" sz="1700" b="0" dirty="0" smtClean="0"/>
              <a:t>Can </a:t>
            </a:r>
            <a:r>
              <a:rPr lang="en-US" sz="1700" dirty="0"/>
              <a:t>p</a:t>
            </a:r>
            <a:r>
              <a:rPr lang="en-US" sz="1700" b="0" dirty="0" smtClean="0"/>
              <a:t>erform multiple functions simultaneously  </a:t>
            </a:r>
          </a:p>
          <a:p>
            <a:endParaRPr lang="en-US" sz="800" b="0" dirty="0" smtClean="0"/>
          </a:p>
          <a:p>
            <a:endParaRPr lang="en-US" sz="800" b="0" dirty="0"/>
          </a:p>
          <a:p>
            <a:pPr>
              <a:buNone/>
            </a:pPr>
            <a:r>
              <a:rPr lang="en-US" sz="2200" i="1" dirty="0">
                <a:solidFill>
                  <a:schemeClr val="accent2"/>
                </a:solidFill>
              </a:rPr>
              <a:t>Strengths of Our Solution</a:t>
            </a:r>
          </a:p>
          <a:p>
            <a:pPr lvl="1"/>
            <a:r>
              <a:rPr lang="en-US" sz="1600" b="0" dirty="0"/>
              <a:t>Math Accelerator w/PID (</a:t>
            </a:r>
            <a:r>
              <a:rPr lang="en-US" sz="1600" b="0" dirty="0" err="1"/>
              <a:t>MathACC</a:t>
            </a:r>
            <a:r>
              <a:rPr lang="en-US" sz="1600" b="0" dirty="0" smtClean="0"/>
              <a:t>)</a:t>
            </a:r>
          </a:p>
          <a:p>
            <a:pPr lvl="1"/>
            <a:r>
              <a:rPr lang="en-US" sz="1600" b="0" dirty="0" smtClean="0"/>
              <a:t>Angular Timer (</a:t>
            </a:r>
            <a:r>
              <a:rPr lang="en-US" sz="1600" b="0" dirty="0" err="1" smtClean="0"/>
              <a:t>AngTMR</a:t>
            </a:r>
            <a:r>
              <a:rPr lang="en-US" sz="1600" b="0" dirty="0" smtClean="0"/>
              <a:t>)</a:t>
            </a:r>
            <a:endParaRPr lang="en-US" sz="1600" b="0" dirty="0"/>
          </a:p>
          <a:p>
            <a:pPr lvl="1"/>
            <a:r>
              <a:rPr lang="en-US" sz="1600" b="0" dirty="0"/>
              <a:t>High Current IOs – </a:t>
            </a:r>
            <a:r>
              <a:rPr lang="en-US" sz="1600" b="0" dirty="0" smtClean="0"/>
              <a:t>100 mA</a:t>
            </a:r>
          </a:p>
          <a:p>
            <a:pPr lvl="1"/>
            <a:r>
              <a:rPr lang="en-US" sz="1600" b="0" dirty="0" smtClean="0"/>
              <a:t>Safety-Critical </a:t>
            </a:r>
            <a:r>
              <a:rPr lang="en-US" sz="1600" b="0" dirty="0"/>
              <a:t>hardware features (WWDT, CRC/SCAN &amp; HLT</a:t>
            </a:r>
            <a:r>
              <a:rPr lang="en-US" sz="1600" b="0" dirty="0" smtClean="0"/>
              <a:t>)</a:t>
            </a:r>
          </a:p>
          <a:p>
            <a:pPr lvl="1"/>
            <a:r>
              <a:rPr lang="en-US" sz="1600" b="0" dirty="0" smtClean="0"/>
              <a:t>Variety of unique Timers (WWDT, HLT, SMT)</a:t>
            </a:r>
            <a:endParaRPr lang="en-US" sz="1600" b="0" dirty="0"/>
          </a:p>
          <a:p>
            <a:pPr lvl="1"/>
            <a:r>
              <a:rPr lang="en-US" sz="1600" b="0" dirty="0" smtClean="0"/>
              <a:t>Zero Cross Detect (ZCD)</a:t>
            </a:r>
          </a:p>
          <a:p>
            <a:pPr lvl="1"/>
            <a:r>
              <a:rPr lang="en-US" sz="1600" b="0" dirty="0" smtClean="0"/>
              <a:t>Integration of Analog reduces design errors and complexity </a:t>
            </a:r>
          </a:p>
          <a:p>
            <a:pPr lvl="1"/>
            <a:r>
              <a:rPr lang="en-US" sz="1600" b="0" dirty="0" smtClean="0"/>
              <a:t>Functions can be combined for simultaneous execution</a:t>
            </a:r>
          </a:p>
          <a:p>
            <a:pPr lvl="1"/>
            <a:endParaRPr lang="en-US" sz="800" dirty="0" smtClean="0"/>
          </a:p>
          <a:p>
            <a:pPr lvl="1"/>
            <a:endParaRPr lang="en-US" sz="800" dirty="0"/>
          </a:p>
          <a:p>
            <a:r>
              <a:rPr lang="en-US" sz="2200" i="1" dirty="0">
                <a:solidFill>
                  <a:schemeClr val="accent2"/>
                </a:solidFill>
              </a:rPr>
              <a:t>Feature </a:t>
            </a:r>
            <a:r>
              <a:rPr lang="en-US" sz="2200" i="1" dirty="0" err="1">
                <a:solidFill>
                  <a:schemeClr val="accent2"/>
                </a:solidFill>
              </a:rPr>
              <a:t>eXtreme</a:t>
            </a:r>
            <a:r>
              <a:rPr lang="en-US" sz="2200" i="1" dirty="0">
                <a:solidFill>
                  <a:schemeClr val="accent2"/>
                </a:solidFill>
              </a:rPr>
              <a:t> Low Power Technology</a:t>
            </a:r>
          </a:p>
          <a:p>
            <a:pPr lvl="1"/>
            <a:endParaRPr lang="en-US" sz="1800" dirty="0" smtClean="0"/>
          </a:p>
        </p:txBody>
      </p:sp>
      <p:sp>
        <p:nvSpPr>
          <p:cNvPr id="5" name="Title 1"/>
          <p:cNvSpPr txBox="1">
            <a:spLocks/>
          </p:cNvSpPr>
          <p:nvPr/>
        </p:nvSpPr>
        <p:spPr bwMode="auto">
          <a:xfrm>
            <a:off x="1905000" y="152400"/>
            <a:ext cx="678180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eaLnBrk="0" hangingPunct="0">
              <a:lnSpc>
                <a:spcPct val="90000"/>
              </a:lnSpc>
              <a:defRPr/>
            </a:pPr>
            <a:r>
              <a:rPr lang="en-US" sz="4000" b="1" kern="0" dirty="0">
                <a:solidFill>
                  <a:schemeClr val="tx2"/>
                </a:solidFill>
                <a:ea typeface="ＭＳ Ｐゴシック" charset="0"/>
                <a:cs typeface="ＭＳ Ｐゴシック" charset="0"/>
              </a:rPr>
              <a:t>PIC16(L)</a:t>
            </a:r>
            <a:r>
              <a:rPr lang="en-US" sz="4000" b="1" kern="0" dirty="0" smtClean="0">
                <a:solidFill>
                  <a:schemeClr val="tx2"/>
                </a:solidFill>
                <a:ea typeface="ＭＳ Ｐゴシック" charset="0"/>
                <a:cs typeface="ＭＳ Ｐゴシック" charset="0"/>
              </a:rPr>
              <a:t>F161X</a:t>
            </a:r>
            <a:endParaRPr lang="en-US" sz="4000" b="1" kern="0" dirty="0" smtClean="0">
              <a:solidFill>
                <a:schemeClr val="tx2"/>
              </a:solidFill>
              <a:latin typeface="+mj-lt"/>
              <a:ea typeface="ＭＳ Ｐゴシック" charset="0"/>
              <a:cs typeface="ＭＳ Ｐゴシック" charset="0"/>
            </a:endParaRPr>
          </a:p>
          <a:p>
            <a:pPr marL="0" marR="0" lvl="0" indent="0" algn="ctr" defTabSz="914400" rtl="0" eaLnBrk="0" fontAlgn="base" latinLnBrk="0" hangingPunct="0">
              <a:lnSpc>
                <a:spcPct val="90000"/>
              </a:lnSpc>
              <a:spcBef>
                <a:spcPct val="0"/>
              </a:spcBef>
              <a:spcAft>
                <a:spcPct val="0"/>
              </a:spcAft>
              <a:buClrTx/>
              <a:buSzTx/>
              <a:buFontTx/>
              <a:buNone/>
              <a:tabLst/>
              <a:defRPr/>
            </a:pPr>
            <a:r>
              <a:rPr lang="en-US" sz="3600" b="1" kern="0" dirty="0" smtClean="0">
                <a:solidFill>
                  <a:schemeClr val="tx2"/>
                </a:solidFill>
                <a:latin typeface="+mj-lt"/>
                <a:ea typeface="ＭＳ Ｐゴシック" charset="0"/>
                <a:cs typeface="ＭＳ Ｐゴシック" charset="0"/>
              </a:rPr>
              <a:t>Summary</a:t>
            </a:r>
          </a:p>
        </p:txBody>
      </p:sp>
    </p:spTree>
    <p:extLst>
      <p:ext uri="{BB962C8B-B14F-4D97-AF65-F5344CB8AC3E}">
        <p14:creationId xmlns:p14="http://schemas.microsoft.com/office/powerpoint/2010/main" xmlns="" val="3286779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685800" y="3657600"/>
            <a:ext cx="7772400" cy="1524000"/>
          </a:xfrm>
        </p:spPr>
        <p:txBody>
          <a:bodyPr/>
          <a:lstStyle/>
          <a:p>
            <a:pPr eaLnBrk="1" hangingPunct="1"/>
            <a:r>
              <a:rPr lang="en-US" sz="5400" dirty="0" smtClean="0"/>
              <a:t>Thank you!</a:t>
            </a:r>
            <a:br>
              <a:rPr lang="en-US" sz="5400" dirty="0" smtClean="0"/>
            </a:br>
            <a:r>
              <a:rPr lang="en-US" sz="5400" dirty="0" smtClean="0"/>
              <a:t/>
            </a:r>
            <a:br>
              <a:rPr lang="en-US" sz="5400" dirty="0" smtClean="0"/>
            </a:br>
            <a:endParaRPr lang="en-US" sz="900" b="0" dirty="0" smtClean="0"/>
          </a:p>
        </p:txBody>
      </p:sp>
      <p:sp>
        <p:nvSpPr>
          <p:cNvPr id="4" name="TextBox 3"/>
          <p:cNvSpPr txBox="1"/>
          <p:nvPr/>
        </p:nvSpPr>
        <p:spPr>
          <a:xfrm>
            <a:off x="838200" y="5715000"/>
            <a:ext cx="7162800" cy="553998"/>
          </a:xfrm>
          <a:prstGeom prst="rect">
            <a:avLst/>
          </a:prstGeom>
          <a:noFill/>
        </p:spPr>
        <p:txBody>
          <a:bodyPr wrap="square" rtlCol="0">
            <a:spAutoFit/>
          </a:bodyPr>
          <a:lstStyle/>
          <a:p>
            <a:r>
              <a:rPr lang="en-US" sz="1000" i="1" dirty="0" smtClean="0"/>
              <a:t>Note: The Microchip name and logo, PIC, MPLAB and </a:t>
            </a:r>
            <a:r>
              <a:rPr lang="en-US" sz="1000" i="1" dirty="0" err="1" smtClean="0"/>
              <a:t>mTouch</a:t>
            </a:r>
            <a:r>
              <a:rPr lang="en-US" sz="1000" i="1" dirty="0" smtClean="0"/>
              <a:t> are registered trademarks of Microchip Technology Incorporated in the U.S.A., and other countries. All are trademark of Microchip Technology Inc. in the U.S.A., and other countries. All other trademarks mentioned herein are the property of their respective companies.</a:t>
            </a:r>
            <a:endParaRPr lang="en-US" sz="1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685800" y="3657600"/>
            <a:ext cx="7772400" cy="1600200"/>
          </a:xfrm>
        </p:spPr>
        <p:txBody>
          <a:bodyPr anchor="t"/>
          <a:lstStyle/>
          <a:p>
            <a:pPr eaLnBrk="1" hangingPunct="1">
              <a:lnSpc>
                <a:spcPct val="100000"/>
              </a:lnSpc>
            </a:pPr>
            <a:r>
              <a:rPr lang="en-US" dirty="0" smtClean="0"/>
              <a:t>PIC16(L)F161X </a:t>
            </a:r>
            <a:br>
              <a:rPr lang="en-US" dirty="0" smtClean="0"/>
            </a:br>
            <a:r>
              <a:rPr lang="en-US" dirty="0" smtClean="0"/>
              <a:t>Back-up</a:t>
            </a:r>
            <a:br>
              <a:rPr lang="en-US" dirty="0" smtClean="0"/>
            </a:br>
            <a:endParaRPr lang="en-US" dirty="0" smtClean="0"/>
          </a:p>
        </p:txBody>
      </p:sp>
    </p:spTree>
    <p:extLst>
      <p:ext uri="{BB962C8B-B14F-4D97-AF65-F5344CB8AC3E}">
        <p14:creationId xmlns:p14="http://schemas.microsoft.com/office/powerpoint/2010/main" xmlns="" val="36099572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ext Box 11"/>
          <p:cNvSpPr txBox="1">
            <a:spLocks noChangeArrowheads="1"/>
          </p:cNvSpPr>
          <p:nvPr/>
        </p:nvSpPr>
        <p:spPr bwMode="auto">
          <a:xfrm>
            <a:off x="1303219" y="6245423"/>
            <a:ext cx="642048" cy="369332"/>
          </a:xfrm>
          <a:prstGeom prst="rect">
            <a:avLst/>
          </a:prstGeom>
          <a:noFill/>
          <a:ln w="12700">
            <a:noFill/>
            <a:miter lim="800000"/>
            <a:headEnd/>
            <a:tailEnd/>
          </a:ln>
        </p:spPr>
        <p:txBody>
          <a:bodyPr wrap="none">
            <a:spAutoFit/>
          </a:bodyPr>
          <a:lstStyle/>
          <a:p>
            <a:pPr eaLnBrk="0" hangingPunct="0"/>
            <a:r>
              <a:rPr lang="en-US" dirty="0" smtClean="0">
                <a:solidFill>
                  <a:srgbClr val="333333"/>
                </a:solidFill>
                <a:ea typeface="MS PGothic"/>
                <a:cs typeface="MS PGothic"/>
              </a:rPr>
              <a:t>8</a:t>
            </a:r>
            <a:r>
              <a:rPr lang="en-US" sz="1400" b="1" dirty="0">
                <a:solidFill>
                  <a:srgbClr val="333333"/>
                </a:solidFill>
                <a:latin typeface="Arial" pitchFamily="34" charset="0"/>
                <a:ea typeface="MS PGothic"/>
                <a:cs typeface="MS PGothic"/>
              </a:rPr>
              <a:t>-</a:t>
            </a:r>
            <a:r>
              <a:rPr lang="en-US" sz="1400" b="1" dirty="0" smtClean="0">
                <a:solidFill>
                  <a:srgbClr val="333333"/>
                </a:solidFill>
                <a:latin typeface="Arial" pitchFamily="34" charset="0"/>
                <a:ea typeface="MS PGothic"/>
                <a:cs typeface="MS PGothic"/>
              </a:rPr>
              <a:t>pin</a:t>
            </a:r>
            <a:endParaRPr lang="en-US" sz="1400" b="1" dirty="0">
              <a:solidFill>
                <a:srgbClr val="333333"/>
              </a:solidFill>
              <a:latin typeface="Arial" pitchFamily="34" charset="0"/>
              <a:ea typeface="MS PGothic"/>
              <a:cs typeface="MS PGothic"/>
            </a:endParaRPr>
          </a:p>
        </p:txBody>
      </p:sp>
      <p:sp>
        <p:nvSpPr>
          <p:cNvPr id="31746" name="Text Box 14"/>
          <p:cNvSpPr txBox="1">
            <a:spLocks noChangeArrowheads="1"/>
          </p:cNvSpPr>
          <p:nvPr/>
        </p:nvSpPr>
        <p:spPr bwMode="auto">
          <a:xfrm>
            <a:off x="3813459" y="6245423"/>
            <a:ext cx="770426" cy="369332"/>
          </a:xfrm>
          <a:prstGeom prst="rect">
            <a:avLst/>
          </a:prstGeom>
          <a:noFill/>
          <a:ln w="12700">
            <a:noFill/>
            <a:miter lim="800000"/>
            <a:headEnd/>
            <a:tailEnd/>
          </a:ln>
        </p:spPr>
        <p:txBody>
          <a:bodyPr wrap="none">
            <a:spAutoFit/>
          </a:bodyPr>
          <a:lstStyle/>
          <a:p>
            <a:pPr eaLnBrk="0" hangingPunct="0"/>
            <a:r>
              <a:rPr lang="en-US" dirty="0" smtClean="0">
                <a:solidFill>
                  <a:srgbClr val="333333"/>
                </a:solidFill>
                <a:ea typeface="MS PGothic"/>
                <a:cs typeface="MS PGothic"/>
              </a:rPr>
              <a:t>14</a:t>
            </a:r>
            <a:r>
              <a:rPr lang="en-US" sz="1400" b="1" dirty="0">
                <a:solidFill>
                  <a:srgbClr val="333333"/>
                </a:solidFill>
                <a:latin typeface="Arial" pitchFamily="34" charset="0"/>
                <a:ea typeface="MS PGothic"/>
                <a:cs typeface="MS PGothic"/>
              </a:rPr>
              <a:t>-</a:t>
            </a:r>
            <a:r>
              <a:rPr lang="en-US" sz="1400" b="1" dirty="0" smtClean="0">
                <a:solidFill>
                  <a:srgbClr val="333333"/>
                </a:solidFill>
                <a:latin typeface="Arial" pitchFamily="34" charset="0"/>
                <a:ea typeface="MS PGothic"/>
                <a:cs typeface="MS PGothic"/>
              </a:rPr>
              <a:t>pin</a:t>
            </a:r>
            <a:endParaRPr lang="en-US" sz="1400" b="1" dirty="0">
              <a:solidFill>
                <a:srgbClr val="333333"/>
              </a:solidFill>
              <a:latin typeface="Arial" pitchFamily="34" charset="0"/>
              <a:ea typeface="MS PGothic"/>
              <a:cs typeface="MS PGothic"/>
            </a:endParaRPr>
          </a:p>
        </p:txBody>
      </p:sp>
      <p:sp>
        <p:nvSpPr>
          <p:cNvPr id="31748" name="Line 16"/>
          <p:cNvSpPr>
            <a:spLocks noChangeShapeType="1"/>
          </p:cNvSpPr>
          <p:nvPr/>
        </p:nvSpPr>
        <p:spPr bwMode="auto">
          <a:xfrm flipH="1" flipV="1">
            <a:off x="457200" y="1558305"/>
            <a:ext cx="0" cy="4724400"/>
          </a:xfrm>
          <a:prstGeom prst="line">
            <a:avLst/>
          </a:prstGeom>
          <a:noFill/>
          <a:ln w="57150">
            <a:solidFill>
              <a:srgbClr val="333333"/>
            </a:solidFill>
            <a:round/>
            <a:headEnd/>
            <a:tailEnd type="triangle" w="med" len="med"/>
          </a:ln>
        </p:spPr>
        <p:txBody>
          <a:bodyPr wrap="none" anchor="ctr"/>
          <a:lstStyle/>
          <a:p>
            <a:endParaRPr lang="en-US" sz="1400" b="1">
              <a:solidFill>
                <a:srgbClr val="000000"/>
              </a:solidFill>
              <a:latin typeface="Arial" pitchFamily="34" charset="0"/>
            </a:endParaRPr>
          </a:p>
        </p:txBody>
      </p:sp>
      <p:sp>
        <p:nvSpPr>
          <p:cNvPr id="31749" name="Line 17"/>
          <p:cNvSpPr>
            <a:spLocks noChangeShapeType="1"/>
          </p:cNvSpPr>
          <p:nvPr/>
        </p:nvSpPr>
        <p:spPr bwMode="auto">
          <a:xfrm>
            <a:off x="457200" y="6254130"/>
            <a:ext cx="8610600" cy="0"/>
          </a:xfrm>
          <a:prstGeom prst="line">
            <a:avLst/>
          </a:prstGeom>
          <a:noFill/>
          <a:ln w="57150">
            <a:solidFill>
              <a:srgbClr val="333333"/>
            </a:solidFill>
            <a:round/>
            <a:headEnd/>
            <a:tailEnd type="triangle" w="med" len="med"/>
          </a:ln>
        </p:spPr>
        <p:txBody>
          <a:bodyPr wrap="none" anchor="ctr"/>
          <a:lstStyle/>
          <a:p>
            <a:endParaRPr lang="en-US" sz="1400" b="1">
              <a:solidFill>
                <a:srgbClr val="000000"/>
              </a:solidFill>
              <a:latin typeface="Arial" pitchFamily="34" charset="0"/>
            </a:endParaRPr>
          </a:p>
        </p:txBody>
      </p:sp>
      <p:sp>
        <p:nvSpPr>
          <p:cNvPr id="31750" name="Rectangle 2"/>
          <p:cNvSpPr txBox="1">
            <a:spLocks noChangeArrowheads="1"/>
          </p:cNvSpPr>
          <p:nvPr/>
        </p:nvSpPr>
        <p:spPr bwMode="auto">
          <a:xfrm>
            <a:off x="1752600" y="76200"/>
            <a:ext cx="7391400" cy="1143000"/>
          </a:xfrm>
          <a:prstGeom prst="rect">
            <a:avLst/>
          </a:prstGeom>
          <a:noFill/>
          <a:ln w="9525">
            <a:noFill/>
            <a:miter lim="800000"/>
            <a:headEnd/>
            <a:tailEnd/>
          </a:ln>
        </p:spPr>
        <p:txBody>
          <a:bodyPr anchor="ctr"/>
          <a:lstStyle/>
          <a:p>
            <a:pPr algn="ctr"/>
            <a:r>
              <a:rPr lang="en-US" sz="4000" b="1" kern="0" dirty="0" smtClean="0">
                <a:solidFill>
                  <a:schemeClr val="tx2"/>
                </a:solidFill>
              </a:rPr>
              <a:t>PIC16</a:t>
            </a:r>
            <a:r>
              <a:rPr lang="en-US" sz="4000" b="1" kern="0" dirty="0">
                <a:solidFill>
                  <a:schemeClr val="tx2"/>
                </a:solidFill>
              </a:rPr>
              <a:t>(L)</a:t>
            </a:r>
            <a:r>
              <a:rPr lang="en-US" sz="4000" b="1" kern="0" dirty="0" smtClean="0">
                <a:solidFill>
                  <a:schemeClr val="tx2"/>
                </a:solidFill>
              </a:rPr>
              <a:t>F161X</a:t>
            </a:r>
            <a:endParaRPr lang="en-US" sz="800" b="1" dirty="0">
              <a:solidFill>
                <a:srgbClr val="000000"/>
              </a:solidFill>
              <a:latin typeface="Arial" pitchFamily="34" charset="0"/>
              <a:ea typeface="MS PGothic"/>
              <a:cs typeface="MS PGothic"/>
            </a:endParaRPr>
          </a:p>
          <a:p>
            <a:pPr algn="ctr"/>
            <a:endParaRPr lang="en-US" sz="800" dirty="0">
              <a:solidFill>
                <a:srgbClr val="000000"/>
              </a:solidFill>
              <a:ea typeface="MS PGothic"/>
              <a:cs typeface="MS PGothic"/>
            </a:endParaRPr>
          </a:p>
          <a:p>
            <a:pPr algn="ctr">
              <a:defRPr/>
            </a:pPr>
            <a:r>
              <a:rPr lang="en-US" sz="1600" i="1" kern="0" dirty="0" err="1">
                <a:solidFill>
                  <a:schemeClr val="tx2"/>
                </a:solidFill>
              </a:rPr>
              <a:t>eXtreme</a:t>
            </a:r>
            <a:r>
              <a:rPr lang="en-US" sz="1600" i="1" kern="0" dirty="0">
                <a:solidFill>
                  <a:schemeClr val="tx2"/>
                </a:solidFill>
              </a:rPr>
              <a:t> Low Power 8-bit MCUs with Core Independent </a:t>
            </a:r>
            <a:r>
              <a:rPr lang="en-US" sz="1600" i="1" kern="0" dirty="0" smtClean="0">
                <a:solidFill>
                  <a:schemeClr val="tx2"/>
                </a:solidFill>
              </a:rPr>
              <a:t>Peripherals</a:t>
            </a:r>
            <a:endParaRPr lang="en-US" sz="1600" b="1" i="1" kern="0" dirty="0"/>
          </a:p>
        </p:txBody>
      </p:sp>
      <p:sp>
        <p:nvSpPr>
          <p:cNvPr id="31751" name="Text Box 3"/>
          <p:cNvSpPr txBox="1">
            <a:spLocks noChangeArrowheads="1"/>
          </p:cNvSpPr>
          <p:nvPr/>
        </p:nvSpPr>
        <p:spPr bwMode="auto">
          <a:xfrm rot="-5400000">
            <a:off x="-605631" y="3410744"/>
            <a:ext cx="1668463" cy="307975"/>
          </a:xfrm>
          <a:prstGeom prst="rect">
            <a:avLst/>
          </a:prstGeom>
          <a:noFill/>
          <a:ln w="12700">
            <a:noFill/>
            <a:miter lim="800000"/>
            <a:headEnd/>
            <a:tailEnd/>
          </a:ln>
        </p:spPr>
        <p:txBody>
          <a:bodyPr wrap="none">
            <a:spAutoFit/>
          </a:bodyPr>
          <a:lstStyle/>
          <a:p>
            <a:pPr eaLnBrk="0" hangingPunct="0"/>
            <a:r>
              <a:rPr lang="en-US" sz="1400" b="1">
                <a:solidFill>
                  <a:srgbClr val="333333"/>
                </a:solidFill>
                <a:latin typeface="Arial" pitchFamily="34" charset="0"/>
              </a:rPr>
              <a:t>Features/Memory</a:t>
            </a:r>
          </a:p>
        </p:txBody>
      </p:sp>
      <p:sp>
        <p:nvSpPr>
          <p:cNvPr id="31764" name="Text Box 14"/>
          <p:cNvSpPr txBox="1">
            <a:spLocks noChangeArrowheads="1"/>
          </p:cNvSpPr>
          <p:nvPr/>
        </p:nvSpPr>
        <p:spPr bwMode="auto">
          <a:xfrm>
            <a:off x="6480459" y="6248574"/>
            <a:ext cx="770426" cy="369332"/>
          </a:xfrm>
          <a:prstGeom prst="rect">
            <a:avLst/>
          </a:prstGeom>
          <a:noFill/>
          <a:ln w="12700">
            <a:noFill/>
            <a:miter lim="800000"/>
            <a:headEnd/>
            <a:tailEnd/>
          </a:ln>
        </p:spPr>
        <p:txBody>
          <a:bodyPr wrap="none">
            <a:spAutoFit/>
          </a:bodyPr>
          <a:lstStyle/>
          <a:p>
            <a:pPr eaLnBrk="0" hangingPunct="0"/>
            <a:r>
              <a:rPr lang="en-US" dirty="0" smtClean="0">
                <a:solidFill>
                  <a:srgbClr val="333333"/>
                </a:solidFill>
                <a:latin typeface="Arial" pitchFamily="34" charset="0"/>
                <a:ea typeface="MS PGothic"/>
                <a:cs typeface="MS PGothic"/>
              </a:rPr>
              <a:t>20</a:t>
            </a:r>
            <a:r>
              <a:rPr lang="en-US" sz="1400" b="1" dirty="0">
                <a:solidFill>
                  <a:srgbClr val="333333"/>
                </a:solidFill>
                <a:latin typeface="Arial" pitchFamily="34" charset="0"/>
                <a:ea typeface="MS PGothic"/>
                <a:cs typeface="MS PGothic"/>
              </a:rPr>
              <a:t>-</a:t>
            </a:r>
            <a:r>
              <a:rPr lang="en-US" sz="1400" b="1" dirty="0" smtClean="0">
                <a:solidFill>
                  <a:srgbClr val="333333"/>
                </a:solidFill>
                <a:latin typeface="Arial" pitchFamily="34" charset="0"/>
                <a:ea typeface="MS PGothic"/>
                <a:cs typeface="MS PGothic"/>
              </a:rPr>
              <a:t>pin</a:t>
            </a:r>
            <a:endParaRPr lang="en-US" sz="1400" b="1" dirty="0">
              <a:solidFill>
                <a:srgbClr val="333333"/>
              </a:solidFill>
              <a:latin typeface="Arial" pitchFamily="34" charset="0"/>
              <a:ea typeface="MS PGothic"/>
              <a:cs typeface="MS PGothic"/>
            </a:endParaRPr>
          </a:p>
        </p:txBody>
      </p:sp>
      <p:sp>
        <p:nvSpPr>
          <p:cNvPr id="12" name="Rounded Rectangle 53"/>
          <p:cNvSpPr/>
          <p:nvPr/>
        </p:nvSpPr>
        <p:spPr bwMode="auto">
          <a:xfrm>
            <a:off x="5843016" y="1600200"/>
            <a:ext cx="1929384" cy="2039112"/>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0" anchor="t"/>
          <a:lstStyle/>
          <a:p>
            <a:pPr>
              <a:defRPr/>
            </a:pPr>
            <a:r>
              <a:rPr lang="en-US" sz="1100" b="1" dirty="0" smtClean="0">
                <a:solidFill>
                  <a:srgbClr val="000000"/>
                </a:solidFill>
              </a:rPr>
              <a:t>PIC16F1619</a:t>
            </a:r>
          </a:p>
          <a:p>
            <a:pPr eaLnBrk="0" hangingPunct="0">
              <a:defRPr/>
            </a:pPr>
            <a:r>
              <a:rPr lang="en-US" sz="1100" b="0" dirty="0" smtClean="0">
                <a:solidFill>
                  <a:srgbClr val="000000"/>
                </a:solidFill>
              </a:rPr>
              <a:t>14KB / HEF / 1KB</a:t>
            </a:r>
          </a:p>
          <a:p>
            <a:pPr eaLnBrk="0" hangingPunct="0">
              <a:defRPr/>
            </a:pPr>
            <a:r>
              <a:rPr lang="en-US" sz="1100" i="1" dirty="0" smtClean="0">
                <a:solidFill>
                  <a:srgbClr val="000000"/>
                </a:solidFill>
              </a:rPr>
              <a:t>4xCLC</a:t>
            </a:r>
            <a:endParaRPr lang="en-US" sz="1100" b="0" i="1" dirty="0" smtClean="0">
              <a:solidFill>
                <a:srgbClr val="000000"/>
              </a:solidFill>
            </a:endParaRPr>
          </a:p>
        </p:txBody>
      </p:sp>
      <p:sp>
        <p:nvSpPr>
          <p:cNvPr id="13" name="Rounded Rectangle 53"/>
          <p:cNvSpPr/>
          <p:nvPr/>
        </p:nvSpPr>
        <p:spPr bwMode="auto">
          <a:xfrm>
            <a:off x="5843016" y="2343597"/>
            <a:ext cx="1929384" cy="2039112"/>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0" anchor="ctr"/>
          <a:lstStyle/>
          <a:p>
            <a:pPr>
              <a:defRPr/>
            </a:pPr>
            <a:endParaRPr lang="en-US" sz="1400" dirty="0" smtClean="0">
              <a:solidFill>
                <a:srgbClr val="000000"/>
              </a:solidFill>
            </a:endParaRPr>
          </a:p>
          <a:p>
            <a:pPr>
              <a:defRPr/>
            </a:pPr>
            <a:r>
              <a:rPr lang="en-US" sz="1100" b="1" dirty="0" smtClean="0">
                <a:solidFill>
                  <a:srgbClr val="000000"/>
                </a:solidFill>
              </a:rPr>
              <a:t>PIC16F1618</a:t>
            </a:r>
          </a:p>
          <a:p>
            <a:pPr eaLnBrk="0" hangingPunct="0">
              <a:defRPr/>
            </a:pPr>
            <a:r>
              <a:rPr lang="en-US" sz="1100" dirty="0" smtClean="0">
                <a:solidFill>
                  <a:schemeClr val="tx1"/>
                </a:solidFill>
              </a:rPr>
              <a:t>7KB / HEF / 512B</a:t>
            </a:r>
          </a:p>
          <a:p>
            <a:pPr eaLnBrk="0" hangingPunct="0">
              <a:defRPr/>
            </a:pPr>
            <a:r>
              <a:rPr lang="en-US" sz="1100" dirty="0" smtClean="0">
                <a:solidFill>
                  <a:schemeClr val="tx1"/>
                </a:solidFill>
              </a:rPr>
              <a:t>12x10b ADC, 8b DAC, 2xComp, 2xCCP, 2xPWM, CWG, </a:t>
            </a:r>
            <a:r>
              <a:rPr lang="en-US" sz="1100" dirty="0" smtClean="0">
                <a:solidFill>
                  <a:srgbClr val="0070C0"/>
                </a:solidFill>
              </a:rPr>
              <a:t>3x16TMR, 3xHLT, 2xSMT, AngTMR, WWDT, CRC/SCAN, MathACC, </a:t>
            </a:r>
            <a:r>
              <a:rPr lang="en-US" sz="1100" dirty="0" smtClean="0">
                <a:solidFill>
                  <a:schemeClr val="tx1"/>
                </a:solidFill>
              </a:rPr>
              <a:t>2xCLC, </a:t>
            </a:r>
            <a:r>
              <a:rPr lang="en-US" sz="1100" dirty="0" smtClean="0">
                <a:solidFill>
                  <a:srgbClr val="0070C0"/>
                </a:solidFill>
              </a:rPr>
              <a:t>ZCD, PPS, 2x100mA I/O, </a:t>
            </a:r>
            <a:r>
              <a:rPr lang="en-US" sz="1100" dirty="0" smtClean="0">
                <a:solidFill>
                  <a:schemeClr val="tx1"/>
                </a:solidFill>
                <a:latin typeface="Arial" pitchFamily="34" charset="0"/>
                <a:ea typeface="ＭＳ Ｐゴシック" pitchFamily="1" charset="-128"/>
                <a:cs typeface="Arial" pitchFamily="34" charset="0"/>
              </a:rPr>
              <a:t>SPI/I</a:t>
            </a:r>
            <a:r>
              <a:rPr lang="en-US" sz="1100" baseline="30000" dirty="0" smtClean="0">
                <a:solidFill>
                  <a:schemeClr val="tx1"/>
                </a:solidFill>
                <a:latin typeface="Arial" pitchFamily="34" charset="0"/>
                <a:ea typeface="ＭＳ Ｐゴシック" pitchFamily="1" charset="-128"/>
                <a:cs typeface="Arial" pitchFamily="34" charset="0"/>
              </a:rPr>
              <a:t>2</a:t>
            </a:r>
            <a:r>
              <a:rPr lang="en-US" sz="1100" dirty="0" smtClean="0">
                <a:solidFill>
                  <a:schemeClr val="tx1"/>
                </a:solidFill>
                <a:latin typeface="Arial" pitchFamily="34" charset="0"/>
                <a:ea typeface="ＭＳ Ｐゴシック" pitchFamily="1" charset="-128"/>
                <a:cs typeface="Arial" pitchFamily="34" charset="0"/>
              </a:rPr>
              <a:t>C</a:t>
            </a:r>
            <a:r>
              <a:rPr lang="en-US" sz="1100" dirty="0" smtClean="0">
                <a:solidFill>
                  <a:schemeClr val="tx1"/>
                </a:solidFill>
              </a:rPr>
              <a:t>, EUSART</a:t>
            </a:r>
          </a:p>
          <a:p>
            <a:pPr eaLnBrk="0" hangingPunct="0">
              <a:defRPr/>
            </a:pPr>
            <a:endParaRPr lang="en-US" sz="1200" b="0" dirty="0" smtClean="0">
              <a:solidFill>
                <a:srgbClr val="000000"/>
              </a:solidFill>
            </a:endParaRPr>
          </a:p>
        </p:txBody>
      </p:sp>
      <p:sp>
        <p:nvSpPr>
          <p:cNvPr id="14" name="Rounded Rectangle 53"/>
          <p:cNvSpPr/>
          <p:nvPr/>
        </p:nvSpPr>
        <p:spPr bwMode="auto">
          <a:xfrm>
            <a:off x="626364" y="4867040"/>
            <a:ext cx="1929384" cy="1228960"/>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91440" anchor="t"/>
          <a:lstStyle/>
          <a:p>
            <a:pPr>
              <a:defRPr/>
            </a:pPr>
            <a:r>
              <a:rPr lang="en-US" sz="1100" b="1" dirty="0" smtClean="0">
                <a:solidFill>
                  <a:srgbClr val="000000"/>
                </a:solidFill>
              </a:rPr>
              <a:t>PIC12F1612</a:t>
            </a:r>
          </a:p>
          <a:p>
            <a:pPr eaLnBrk="0" hangingPunct="0">
              <a:defRPr/>
            </a:pPr>
            <a:r>
              <a:rPr lang="en-US" sz="1100" b="0" dirty="0" smtClean="0">
                <a:solidFill>
                  <a:srgbClr val="000000"/>
                </a:solidFill>
              </a:rPr>
              <a:t>3.5KB / HEF / </a:t>
            </a:r>
            <a:r>
              <a:rPr lang="en-US" sz="1100" dirty="0" smtClean="0">
                <a:solidFill>
                  <a:srgbClr val="000000"/>
                </a:solidFill>
              </a:rPr>
              <a:t>256</a:t>
            </a:r>
            <a:r>
              <a:rPr lang="en-US" sz="1100" b="0" dirty="0" smtClean="0">
                <a:solidFill>
                  <a:srgbClr val="000000"/>
                </a:solidFill>
              </a:rPr>
              <a:t>B</a:t>
            </a:r>
          </a:p>
          <a:p>
            <a:pPr eaLnBrk="0" hangingPunct="0">
              <a:defRPr/>
            </a:pPr>
            <a:r>
              <a:rPr lang="en-US" sz="1100" dirty="0" smtClean="0">
                <a:solidFill>
                  <a:schemeClr val="tx1"/>
                </a:solidFill>
              </a:rPr>
              <a:t>4x10b ADC, 8b DAC, Comp, 2xCCP, CWG, </a:t>
            </a:r>
          </a:p>
          <a:p>
            <a:pPr eaLnBrk="0" hangingPunct="0">
              <a:defRPr/>
            </a:pPr>
            <a:r>
              <a:rPr lang="en-US" sz="1100" dirty="0" smtClean="0">
                <a:solidFill>
                  <a:srgbClr val="0070C0"/>
                </a:solidFill>
              </a:rPr>
              <a:t>3xHLT, 2xSMT, WWDT, CRC/SCAN, ZCD</a:t>
            </a:r>
            <a:endParaRPr lang="en-US" sz="1100" dirty="0">
              <a:solidFill>
                <a:srgbClr val="0070C0"/>
              </a:solidFill>
            </a:endParaRPr>
          </a:p>
          <a:p>
            <a:pPr eaLnBrk="0" hangingPunct="0">
              <a:defRPr/>
            </a:pPr>
            <a:endParaRPr lang="en-US" sz="1200" b="0" dirty="0" smtClean="0">
              <a:solidFill>
                <a:srgbClr val="000000"/>
              </a:solidFill>
            </a:endParaRPr>
          </a:p>
        </p:txBody>
      </p:sp>
      <p:sp>
        <p:nvSpPr>
          <p:cNvPr id="15" name="Rounded Rectangle 53"/>
          <p:cNvSpPr/>
          <p:nvPr/>
        </p:nvSpPr>
        <p:spPr bwMode="auto">
          <a:xfrm>
            <a:off x="3234690" y="1600201"/>
            <a:ext cx="1929384" cy="2039112"/>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91440" anchor="t"/>
          <a:lstStyle/>
          <a:p>
            <a:pPr>
              <a:defRPr/>
            </a:pPr>
            <a:r>
              <a:rPr lang="en-US" sz="1100" b="1" dirty="0" smtClean="0">
                <a:solidFill>
                  <a:srgbClr val="000000"/>
                </a:solidFill>
              </a:rPr>
              <a:t>PIC16F1615</a:t>
            </a:r>
          </a:p>
          <a:p>
            <a:pPr eaLnBrk="0" hangingPunct="0">
              <a:defRPr/>
            </a:pPr>
            <a:r>
              <a:rPr lang="en-US" sz="1100" b="0" dirty="0" smtClean="0">
                <a:solidFill>
                  <a:srgbClr val="000000"/>
                </a:solidFill>
              </a:rPr>
              <a:t>14KB / HEF / 1KB</a:t>
            </a:r>
          </a:p>
          <a:p>
            <a:pPr eaLnBrk="0" hangingPunct="0">
              <a:defRPr/>
            </a:pPr>
            <a:r>
              <a:rPr lang="en-US" sz="1100" i="1" dirty="0" smtClean="0">
                <a:solidFill>
                  <a:srgbClr val="000000"/>
                </a:solidFill>
              </a:rPr>
              <a:t>4xCLC</a:t>
            </a:r>
            <a:endParaRPr lang="en-US" sz="1100" b="0" i="1" dirty="0" smtClean="0">
              <a:solidFill>
                <a:srgbClr val="000000"/>
              </a:solidFill>
            </a:endParaRPr>
          </a:p>
        </p:txBody>
      </p:sp>
      <p:sp>
        <p:nvSpPr>
          <p:cNvPr id="16" name="Rounded Rectangle 53"/>
          <p:cNvSpPr/>
          <p:nvPr/>
        </p:nvSpPr>
        <p:spPr bwMode="auto">
          <a:xfrm>
            <a:off x="3234690" y="2363720"/>
            <a:ext cx="1929384" cy="2039112"/>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0" anchor="ctr"/>
          <a:lstStyle/>
          <a:p>
            <a:pPr>
              <a:defRPr/>
            </a:pPr>
            <a:endParaRPr lang="en-US" sz="1400" dirty="0" smtClean="0">
              <a:solidFill>
                <a:srgbClr val="000000"/>
              </a:solidFill>
            </a:endParaRPr>
          </a:p>
          <a:p>
            <a:pPr>
              <a:defRPr/>
            </a:pPr>
            <a:r>
              <a:rPr lang="en-US" sz="1100" b="1" dirty="0" smtClean="0">
                <a:solidFill>
                  <a:srgbClr val="000000"/>
                </a:solidFill>
              </a:rPr>
              <a:t>PIC16F1614</a:t>
            </a:r>
          </a:p>
          <a:p>
            <a:pPr eaLnBrk="0" hangingPunct="0">
              <a:defRPr/>
            </a:pPr>
            <a:r>
              <a:rPr lang="en-US" sz="1100" b="0" dirty="0" smtClean="0">
                <a:solidFill>
                  <a:srgbClr val="000000"/>
                </a:solidFill>
              </a:rPr>
              <a:t>7KB / HEF / 512B</a:t>
            </a:r>
          </a:p>
          <a:p>
            <a:pPr eaLnBrk="0" hangingPunct="0">
              <a:defRPr/>
            </a:pPr>
            <a:r>
              <a:rPr lang="en-US" sz="1100" dirty="0" smtClean="0">
                <a:solidFill>
                  <a:schemeClr val="tx1"/>
                </a:solidFill>
              </a:rPr>
              <a:t>8x10b ADC, 8b DAC, 2xComp, 2xCCP, 2xPWM, CWG, </a:t>
            </a:r>
            <a:r>
              <a:rPr lang="en-US" sz="1100" dirty="0" smtClean="0">
                <a:solidFill>
                  <a:srgbClr val="0070C0"/>
                </a:solidFill>
              </a:rPr>
              <a:t>3x16TMR, 3xHLT, 2xSMT, AngTMR, WWDT, CRC/SCAN, MathACC</a:t>
            </a:r>
            <a:r>
              <a:rPr lang="en-US" sz="1100" dirty="0" smtClean="0">
                <a:solidFill>
                  <a:schemeClr val="tx1"/>
                </a:solidFill>
              </a:rPr>
              <a:t>, 2xCLC, </a:t>
            </a:r>
            <a:r>
              <a:rPr lang="en-US" sz="1100" dirty="0" smtClean="0">
                <a:solidFill>
                  <a:srgbClr val="0070C0"/>
                </a:solidFill>
              </a:rPr>
              <a:t>ZCD, PPS, 2x100mA I/O</a:t>
            </a:r>
            <a:r>
              <a:rPr lang="en-US" sz="1100" dirty="0" smtClean="0">
                <a:solidFill>
                  <a:schemeClr val="tx1"/>
                </a:solidFill>
              </a:rPr>
              <a:t>, </a:t>
            </a:r>
            <a:r>
              <a:rPr lang="en-US" sz="1100" dirty="0" smtClean="0">
                <a:solidFill>
                  <a:schemeClr val="tx1"/>
                </a:solidFill>
                <a:latin typeface="Arial" pitchFamily="34" charset="0"/>
                <a:ea typeface="ＭＳ Ｐゴシック" pitchFamily="1" charset="-128"/>
                <a:cs typeface="Arial" pitchFamily="34" charset="0"/>
              </a:rPr>
              <a:t>SPI/I</a:t>
            </a:r>
            <a:r>
              <a:rPr lang="en-US" sz="1100" baseline="30000" dirty="0" smtClean="0">
                <a:solidFill>
                  <a:schemeClr val="tx1"/>
                </a:solidFill>
                <a:latin typeface="Arial" pitchFamily="34" charset="0"/>
                <a:ea typeface="ＭＳ Ｐゴシック" pitchFamily="1" charset="-128"/>
                <a:cs typeface="Arial" pitchFamily="34" charset="0"/>
              </a:rPr>
              <a:t>2</a:t>
            </a:r>
            <a:r>
              <a:rPr lang="en-US" sz="1100" dirty="0" smtClean="0">
                <a:solidFill>
                  <a:schemeClr val="tx1"/>
                </a:solidFill>
                <a:latin typeface="Arial" pitchFamily="34" charset="0"/>
                <a:ea typeface="ＭＳ Ｐゴシック" pitchFamily="1" charset="-128"/>
                <a:cs typeface="Arial" pitchFamily="34" charset="0"/>
              </a:rPr>
              <a:t>C</a:t>
            </a:r>
            <a:r>
              <a:rPr lang="en-US" sz="1100" dirty="0" smtClean="0">
                <a:solidFill>
                  <a:schemeClr val="tx1"/>
                </a:solidFill>
              </a:rPr>
              <a:t>, EUSART</a:t>
            </a:r>
            <a:endParaRPr lang="en-US" sz="1100" dirty="0">
              <a:solidFill>
                <a:schemeClr val="tx1"/>
              </a:solidFill>
            </a:endParaRPr>
          </a:p>
          <a:p>
            <a:pPr eaLnBrk="0" hangingPunct="0">
              <a:defRPr/>
            </a:pPr>
            <a:endParaRPr lang="en-US" sz="1200" b="0" dirty="0" smtClean="0">
              <a:solidFill>
                <a:srgbClr val="000000"/>
              </a:solidFill>
            </a:endParaRPr>
          </a:p>
        </p:txBody>
      </p:sp>
      <p:sp>
        <p:nvSpPr>
          <p:cNvPr id="17" name="Rounded Rectangle 53"/>
          <p:cNvSpPr/>
          <p:nvPr/>
        </p:nvSpPr>
        <p:spPr bwMode="auto">
          <a:xfrm>
            <a:off x="3234690" y="4867040"/>
            <a:ext cx="1929384" cy="1228960"/>
          </a:xfrm>
          <a:prstGeom prst="roundRect">
            <a:avLst/>
          </a:prstGeom>
          <a:solidFill>
            <a:schemeClr val="accent3">
              <a:lumMod val="85000"/>
            </a:schemeClr>
          </a:solidFill>
          <a:ln w="76200">
            <a:solidFill>
              <a:srgbClr val="008000"/>
            </a:solidFill>
          </a:ln>
          <a:effectLst>
            <a:outerShdw blurRad="40000" dist="23000" dir="5400000" rotWithShape="0">
              <a:srgbClr val="000000">
                <a:alpha val="35000"/>
              </a:srgbClr>
            </a:outerShdw>
          </a:effectLst>
          <a:scene3d>
            <a:camera prst="orthographicFront">
              <a:rot lat="0" lon="0" rev="0"/>
            </a:camera>
            <a:lightRig rig="threePt" dir="t">
              <a:rot lat="0" lon="0" rev="0"/>
            </a:lightRig>
          </a:scene3d>
          <a:sp3d>
            <a:bevelT w="63500" h="25400" prst="relaxedInset"/>
            <a:bevelB/>
          </a:sp3d>
        </p:spPr>
        <p:style>
          <a:lnRef idx="0">
            <a:schemeClr val="accent1"/>
          </a:lnRef>
          <a:fillRef idx="3">
            <a:schemeClr val="accent1"/>
          </a:fillRef>
          <a:effectRef idx="3">
            <a:schemeClr val="accent1"/>
          </a:effectRef>
          <a:fontRef idx="minor">
            <a:schemeClr val="lt1"/>
          </a:fontRef>
        </p:style>
        <p:txBody>
          <a:bodyPr lIns="91440" rIns="91440" anchor="t"/>
          <a:lstStyle/>
          <a:p>
            <a:pPr>
              <a:defRPr/>
            </a:pPr>
            <a:r>
              <a:rPr lang="en-US" sz="1100" b="1" dirty="0" smtClean="0">
                <a:solidFill>
                  <a:srgbClr val="000000"/>
                </a:solidFill>
              </a:rPr>
              <a:t>PIC16F1613</a:t>
            </a:r>
          </a:p>
          <a:p>
            <a:pPr eaLnBrk="0" hangingPunct="0">
              <a:defRPr/>
            </a:pPr>
            <a:r>
              <a:rPr lang="en-US" sz="1100" b="0" dirty="0" smtClean="0">
                <a:solidFill>
                  <a:srgbClr val="000000"/>
                </a:solidFill>
              </a:rPr>
              <a:t>3.5KB / HEF / </a:t>
            </a:r>
            <a:r>
              <a:rPr lang="en-US" sz="1100" dirty="0" smtClean="0">
                <a:solidFill>
                  <a:srgbClr val="000000"/>
                </a:solidFill>
              </a:rPr>
              <a:t>256</a:t>
            </a:r>
            <a:r>
              <a:rPr lang="en-US" sz="1100" b="0" dirty="0" smtClean="0">
                <a:solidFill>
                  <a:srgbClr val="000000"/>
                </a:solidFill>
              </a:rPr>
              <a:t>B</a:t>
            </a:r>
          </a:p>
          <a:p>
            <a:pPr eaLnBrk="0" hangingPunct="0">
              <a:defRPr/>
            </a:pPr>
            <a:r>
              <a:rPr lang="en-US" sz="1100" dirty="0" smtClean="0">
                <a:solidFill>
                  <a:schemeClr val="tx1"/>
                </a:solidFill>
              </a:rPr>
              <a:t>8x10b ADC, 8b DAC, 2xComp, 2xCCP, CWG, </a:t>
            </a:r>
          </a:p>
          <a:p>
            <a:pPr eaLnBrk="0" hangingPunct="0">
              <a:defRPr/>
            </a:pPr>
            <a:r>
              <a:rPr lang="en-US" sz="1100" dirty="0" smtClean="0">
                <a:solidFill>
                  <a:srgbClr val="0070C0"/>
                </a:solidFill>
              </a:rPr>
              <a:t>3xHLT, 2xSMT, WWDT, CRC/SCAN, ZCD</a:t>
            </a:r>
          </a:p>
          <a:p>
            <a:pPr eaLnBrk="0" hangingPunct="0">
              <a:defRPr/>
            </a:pPr>
            <a:endParaRPr lang="en-US" sz="1200" b="0" dirty="0" smtClean="0">
              <a:solidFill>
                <a:srgbClr val="000000"/>
              </a:solidFill>
            </a:endParaRPr>
          </a:p>
        </p:txBody>
      </p:sp>
    </p:spTree>
    <p:extLst>
      <p:ext uri="{BB962C8B-B14F-4D97-AF65-F5344CB8AC3E}">
        <p14:creationId xmlns:p14="http://schemas.microsoft.com/office/powerpoint/2010/main" xmlns="" val="174142829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bwMode="auto">
          <a:xfrm>
            <a:off x="1676400" y="152400"/>
            <a:ext cx="7391400" cy="990600"/>
          </a:xfrm>
          <a:prstGeom prst="rect">
            <a:avLst/>
          </a:prstGeom>
          <a:noFill/>
          <a:ln w="9525">
            <a:noFill/>
            <a:miter lim="800000"/>
            <a:headEnd/>
            <a:tailEnd/>
          </a:ln>
        </p:spPr>
        <p:txBody>
          <a:bodyPr anchor="ctr"/>
          <a:lstStyle/>
          <a:p>
            <a:pPr algn="ctr"/>
            <a:r>
              <a:rPr lang="en-US" sz="4000" b="1" kern="0" dirty="0" smtClean="0">
                <a:solidFill>
                  <a:schemeClr val="tx2"/>
                </a:solidFill>
              </a:rPr>
              <a:t>PIC16</a:t>
            </a:r>
            <a:r>
              <a:rPr lang="en-US" sz="4000" b="1" kern="0" dirty="0">
                <a:solidFill>
                  <a:schemeClr val="tx2"/>
                </a:solidFill>
              </a:rPr>
              <a:t>(L)</a:t>
            </a:r>
            <a:r>
              <a:rPr lang="en-US" sz="4000" b="1" kern="0" dirty="0" smtClean="0">
                <a:solidFill>
                  <a:schemeClr val="tx2"/>
                </a:solidFill>
              </a:rPr>
              <a:t>F161X</a:t>
            </a:r>
          </a:p>
          <a:p>
            <a:pPr algn="ctr"/>
            <a:r>
              <a:rPr lang="en-US" sz="2400" dirty="0" smtClean="0">
                <a:solidFill>
                  <a:schemeClr val="tx2"/>
                </a:solidFill>
              </a:rPr>
              <a:t>Pricing and Availability</a:t>
            </a:r>
            <a:endParaRPr lang="en-US" sz="2400" dirty="0">
              <a:solidFill>
                <a:schemeClr val="tx2"/>
              </a:solidFill>
            </a:endParaRPr>
          </a:p>
        </p:txBody>
      </p:sp>
      <p:sp>
        <p:nvSpPr>
          <p:cNvPr id="7" name="Rectangle 6"/>
          <p:cNvSpPr/>
          <p:nvPr/>
        </p:nvSpPr>
        <p:spPr>
          <a:xfrm>
            <a:off x="76200" y="1168800"/>
            <a:ext cx="8839200" cy="5479193"/>
          </a:xfrm>
          <a:prstGeom prst="rect">
            <a:avLst/>
          </a:prstGeom>
        </p:spPr>
        <p:txBody>
          <a:bodyPr wrap="square">
            <a:spAutoFit/>
          </a:bodyPr>
          <a:lstStyle/>
          <a:p>
            <a:pPr>
              <a:lnSpc>
                <a:spcPct val="95000"/>
              </a:lnSpc>
            </a:pPr>
            <a:r>
              <a:rPr lang="en-US" sz="2000" b="1" u="sng" dirty="0" smtClean="0">
                <a:solidFill>
                  <a:srgbClr val="333399"/>
                </a:solidFill>
              </a:rPr>
              <a:t>Pricing</a:t>
            </a:r>
            <a:r>
              <a:rPr lang="en-US" sz="2000" b="1" dirty="0" smtClean="0">
                <a:solidFill>
                  <a:srgbClr val="333399"/>
                </a:solidFill>
              </a:rPr>
              <a:t>:  </a:t>
            </a:r>
          </a:p>
          <a:p>
            <a:pPr lvl="1">
              <a:lnSpc>
                <a:spcPct val="95000"/>
              </a:lnSpc>
            </a:pPr>
            <a:r>
              <a:rPr lang="en-US" sz="2000" b="1" dirty="0">
                <a:solidFill>
                  <a:srgbClr val="333399"/>
                </a:solidFill>
              </a:rPr>
              <a:t>	</a:t>
            </a:r>
            <a:endParaRPr lang="en-US" sz="2000" b="1" dirty="0" smtClean="0">
              <a:solidFill>
                <a:srgbClr val="333399"/>
              </a:solidFill>
            </a:endParaRPr>
          </a:p>
          <a:p>
            <a:pPr marL="800100" lvl="1" indent="-342900">
              <a:lnSpc>
                <a:spcPct val="95000"/>
              </a:lnSpc>
              <a:buFont typeface="Arial"/>
              <a:buChar char="•"/>
            </a:pPr>
            <a:r>
              <a:rPr lang="en-US" sz="1600" dirty="0" smtClean="0">
                <a:solidFill>
                  <a:srgbClr val="000000"/>
                </a:solidFill>
              </a:rPr>
              <a:t>10ku Pricing Starting at $0.53 each </a:t>
            </a:r>
          </a:p>
          <a:p>
            <a:pPr>
              <a:lnSpc>
                <a:spcPct val="95000"/>
              </a:lnSpc>
            </a:pPr>
            <a:endParaRPr lang="en-US" sz="2000" b="1" dirty="0">
              <a:solidFill>
                <a:srgbClr val="333399"/>
              </a:solidFill>
            </a:endParaRPr>
          </a:p>
          <a:p>
            <a:pPr>
              <a:lnSpc>
                <a:spcPct val="95000"/>
              </a:lnSpc>
            </a:pPr>
            <a:r>
              <a:rPr lang="en-US" sz="2000" b="1" u="sng" dirty="0" smtClean="0">
                <a:solidFill>
                  <a:srgbClr val="333399"/>
                </a:solidFill>
              </a:rPr>
              <a:t>Packages</a:t>
            </a:r>
            <a:r>
              <a:rPr lang="en-US" sz="2000" b="1" dirty="0" smtClean="0">
                <a:solidFill>
                  <a:srgbClr val="333399"/>
                </a:solidFill>
              </a:rPr>
              <a:t>:</a:t>
            </a:r>
            <a:endParaRPr lang="en-US" sz="2000" dirty="0"/>
          </a:p>
          <a:p>
            <a:pPr>
              <a:lnSpc>
                <a:spcPct val="95000"/>
              </a:lnSpc>
            </a:pPr>
            <a:endParaRPr lang="en-US" sz="1100" dirty="0" smtClean="0"/>
          </a:p>
          <a:p>
            <a:pPr lvl="1">
              <a:buFont typeface="Arial" pitchFamily="34" charset="0"/>
              <a:buChar char="•"/>
            </a:pPr>
            <a:r>
              <a:rPr lang="en-US" dirty="0" smtClean="0"/>
              <a:t>  8 pin – </a:t>
            </a:r>
            <a:r>
              <a:rPr lang="en-US" b="1" dirty="0" smtClean="0"/>
              <a:t>PIC12(L)F1612</a:t>
            </a:r>
          </a:p>
          <a:p>
            <a:pPr lvl="2">
              <a:buFont typeface="Arial" pitchFamily="34" charset="0"/>
              <a:buChar char="•"/>
            </a:pPr>
            <a:r>
              <a:rPr lang="en-US" sz="1600" dirty="0" smtClean="0"/>
              <a:t> PDIP, SOIC, DFN, UDFN</a:t>
            </a:r>
            <a:endParaRPr lang="en-US" sz="1600" dirty="0"/>
          </a:p>
          <a:p>
            <a:pPr lvl="2"/>
            <a:endParaRPr lang="en-US" sz="800" dirty="0" smtClean="0"/>
          </a:p>
          <a:p>
            <a:pPr lvl="1">
              <a:buFont typeface="Arial" pitchFamily="34" charset="0"/>
              <a:buChar char="•"/>
            </a:pPr>
            <a:r>
              <a:rPr lang="en-US" dirty="0" smtClean="0"/>
              <a:t>  14 pin – </a:t>
            </a:r>
            <a:r>
              <a:rPr lang="en-US" b="1" dirty="0" smtClean="0"/>
              <a:t>PIC16(L)F1613, 16(L)F1614 &amp; 16(L)F1615</a:t>
            </a:r>
          </a:p>
          <a:p>
            <a:pPr lvl="2">
              <a:buFont typeface="Arial" pitchFamily="34" charset="0"/>
              <a:buChar char="•"/>
            </a:pPr>
            <a:r>
              <a:rPr lang="en-US" sz="1600" dirty="0" smtClean="0"/>
              <a:t> PDIP, SOIC, TSSOP, QFN, UQFN</a:t>
            </a:r>
          </a:p>
          <a:p>
            <a:pPr lvl="2">
              <a:buFont typeface="Arial" pitchFamily="34" charset="0"/>
              <a:buChar char="•"/>
            </a:pPr>
            <a:endParaRPr lang="en-US" sz="800" dirty="0" smtClean="0"/>
          </a:p>
          <a:p>
            <a:pPr lvl="1">
              <a:buFont typeface="Arial" pitchFamily="34" charset="0"/>
              <a:buChar char="•"/>
            </a:pPr>
            <a:r>
              <a:rPr lang="en-US" sz="1600" dirty="0" smtClean="0"/>
              <a:t>  </a:t>
            </a:r>
            <a:r>
              <a:rPr lang="en-US" dirty="0" smtClean="0"/>
              <a:t>20 </a:t>
            </a:r>
            <a:r>
              <a:rPr lang="en-US" dirty="0"/>
              <a:t>pin – </a:t>
            </a:r>
            <a:r>
              <a:rPr lang="en-US" b="1" dirty="0"/>
              <a:t>PIC16(L)</a:t>
            </a:r>
            <a:r>
              <a:rPr lang="en-US" b="1" dirty="0" smtClean="0"/>
              <a:t>F1618 &amp; </a:t>
            </a:r>
            <a:r>
              <a:rPr lang="en-US" b="1" dirty="0"/>
              <a:t>16(L</a:t>
            </a:r>
            <a:r>
              <a:rPr lang="en-US" b="1" dirty="0" smtClean="0"/>
              <a:t>)F1619</a:t>
            </a:r>
            <a:endParaRPr lang="en-US" b="1" dirty="0"/>
          </a:p>
          <a:p>
            <a:pPr lvl="2">
              <a:buFont typeface="Arial" pitchFamily="34" charset="0"/>
              <a:buChar char="•"/>
            </a:pPr>
            <a:r>
              <a:rPr lang="en-US" sz="1600" dirty="0"/>
              <a:t> </a:t>
            </a:r>
            <a:r>
              <a:rPr lang="en-US" sz="1600" dirty="0" smtClean="0"/>
              <a:t>PDIP, SOIC, SSOP, QFN,UQFN</a:t>
            </a:r>
          </a:p>
          <a:p>
            <a:pPr lvl="2"/>
            <a:endParaRPr lang="en-US" sz="1600" dirty="0" smtClean="0"/>
          </a:p>
          <a:p>
            <a:pPr lvl="2">
              <a:buFont typeface="Arial" pitchFamily="34" charset="0"/>
              <a:buChar char="•"/>
            </a:pPr>
            <a:endParaRPr lang="en-US" sz="800" b="1" u="sng" dirty="0">
              <a:latin typeface="Arial" pitchFamily="34" charset="0"/>
              <a:ea typeface="Times New Roman" pitchFamily="18" charset="0"/>
              <a:cs typeface="Arial" pitchFamily="34" charset="0"/>
            </a:endParaRPr>
          </a:p>
          <a:p>
            <a:pPr lvl="0">
              <a:lnSpc>
                <a:spcPct val="95000"/>
              </a:lnSpc>
            </a:pPr>
            <a:r>
              <a:rPr lang="en-US" sz="2000" b="1" u="sng" dirty="0" smtClean="0">
                <a:solidFill>
                  <a:srgbClr val="333399"/>
                </a:solidFill>
              </a:rPr>
              <a:t>Availability:</a:t>
            </a:r>
          </a:p>
          <a:p>
            <a:pPr lvl="0">
              <a:lnSpc>
                <a:spcPct val="95000"/>
              </a:lnSpc>
            </a:pPr>
            <a:endParaRPr lang="en-US" sz="800" b="1" u="sng" dirty="0">
              <a:solidFill>
                <a:srgbClr val="333399"/>
              </a:solidFill>
            </a:endParaRPr>
          </a:p>
          <a:p>
            <a:pPr lvl="0"/>
            <a:endParaRPr lang="en-US" sz="300" dirty="0" smtClean="0">
              <a:latin typeface="Arial" pitchFamily="34" charset="0"/>
              <a:cs typeface="Arial" pitchFamily="34" charset="0"/>
            </a:endParaRPr>
          </a:p>
          <a:p>
            <a:pPr marL="742950" lvl="1" indent="-285750" eaLnBrk="0" hangingPunct="0">
              <a:buFont typeface="Arial"/>
              <a:buChar char="•"/>
            </a:pPr>
            <a:r>
              <a:rPr lang="en-US" sz="1600" b="1" dirty="0" smtClean="0">
                <a:latin typeface="Arial" pitchFamily="34" charset="0"/>
                <a:ea typeface="Times New Roman" pitchFamily="18" charset="0"/>
                <a:cs typeface="Arial" pitchFamily="34" charset="0"/>
              </a:rPr>
              <a:t>PIC16F161X </a:t>
            </a:r>
            <a:r>
              <a:rPr lang="en-US" sz="1600" dirty="0">
                <a:latin typeface="Arial" pitchFamily="34" charset="0"/>
                <a:ea typeface="Times New Roman" pitchFamily="18" charset="0"/>
                <a:cs typeface="Arial" pitchFamily="34" charset="0"/>
              </a:rPr>
              <a:t>variants </a:t>
            </a:r>
            <a:r>
              <a:rPr lang="en-US" sz="1600" dirty="0" smtClean="0">
                <a:latin typeface="Arial" pitchFamily="34" charset="0"/>
                <a:ea typeface="Times New Roman" pitchFamily="18" charset="0"/>
                <a:cs typeface="Arial" pitchFamily="34" charset="0"/>
              </a:rPr>
              <a:t>samples Now and Volume in Jan’15</a:t>
            </a:r>
            <a:endParaRPr lang="en-US" sz="800" dirty="0">
              <a:latin typeface="Arial" pitchFamily="34" charset="0"/>
              <a:ea typeface="Times New Roman" pitchFamily="18" charset="0"/>
              <a:cs typeface="Arial" pitchFamily="34" charset="0"/>
            </a:endParaRPr>
          </a:p>
          <a:p>
            <a:pPr marL="742950" lvl="1" indent="-285750" eaLnBrk="0" hangingPunct="0">
              <a:buFont typeface="Arial"/>
              <a:buChar char="•"/>
            </a:pPr>
            <a:endParaRPr lang="en-US" sz="800" dirty="0">
              <a:latin typeface="Arial" pitchFamily="34" charset="0"/>
              <a:ea typeface="Times New Roman" pitchFamily="18" charset="0"/>
              <a:cs typeface="Arial" pitchFamily="34" charset="0"/>
            </a:endParaRPr>
          </a:p>
          <a:p>
            <a:pPr lvl="1" eaLnBrk="0" hangingPunct="0"/>
            <a:endParaRPr lang="en-US" sz="1000" dirty="0" smtClean="0"/>
          </a:p>
          <a:p>
            <a:pPr marL="742950" lvl="1" indent="-285750" eaLnBrk="0" hangingPunct="0">
              <a:buFont typeface="Arial"/>
              <a:buChar char="•"/>
            </a:pPr>
            <a:endParaRPr lang="en-US" sz="1000" dirty="0"/>
          </a:p>
          <a:p>
            <a:pPr lvl="0" algn="ctr">
              <a:lnSpc>
                <a:spcPct val="95000"/>
              </a:lnSpc>
            </a:pPr>
            <a:r>
              <a:rPr lang="en-US" sz="2400" b="1" dirty="0">
                <a:solidFill>
                  <a:srgbClr val="000000"/>
                </a:solidFill>
                <a:hlinkClick r:id="rId2"/>
              </a:rPr>
              <a:t>www.microchip.com/PIC16F161X</a:t>
            </a:r>
            <a:endParaRPr lang="en-US" sz="2400" b="1" dirty="0">
              <a:solidFill>
                <a:srgbClr val="000000"/>
              </a:solidFill>
            </a:endParaRPr>
          </a:p>
          <a:p>
            <a:pPr marL="742950" lvl="1" indent="-285750" eaLnBrk="0" hangingPunct="0">
              <a:buFont typeface="Arial"/>
              <a:buChar char="•"/>
            </a:pPr>
            <a:endParaRPr lang="en-US" sz="10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itle 1"/>
          <p:cNvSpPr txBox="1">
            <a:spLocks/>
          </p:cNvSpPr>
          <p:nvPr/>
        </p:nvSpPr>
        <p:spPr>
          <a:xfrm>
            <a:off x="1905000" y="198438"/>
            <a:ext cx="6781800" cy="868362"/>
          </a:xfrm>
          <a:prstGeom prst="rect">
            <a:avLst/>
          </a:prstGeom>
        </p:spPr>
        <p:txBody>
          <a:bodyPr anchor="ctr" anchorCtr="0"/>
          <a:lstStyle/>
          <a:p>
            <a:pPr lvl="0" algn="ct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Angular Timer</a:t>
            </a:r>
            <a:b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br>
            <a:r>
              <a:rPr lang="en-US" sz="2000" noProof="0" dirty="0" smtClean="0">
                <a:cs typeface="ＭＳ Ｐゴシック" charset="0"/>
              </a:rPr>
              <a:t>Automatically Converts Timed-Based Events to Degrees</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
        <p:nvSpPr>
          <p:cNvPr id="3" name="Rectangle 3"/>
          <p:cNvSpPr>
            <a:spLocks noChangeArrowheads="1"/>
          </p:cNvSpPr>
          <p:nvPr/>
        </p:nvSpPr>
        <p:spPr bwMode="auto">
          <a:xfrm>
            <a:off x="130628" y="1223039"/>
            <a:ext cx="4920343"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Angular Timer (AngTMR)</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Automatically provides phase angle conversion for control of rotational &amp; periodic events </a:t>
            </a:r>
          </a:p>
          <a:p>
            <a:pPr marL="804863" lvl="2" indent="-347663" eaLnBrk="0" hangingPunct="0">
              <a:lnSpc>
                <a:spcPct val="80000"/>
              </a:lnSpc>
              <a:spcBef>
                <a:spcPct val="20000"/>
              </a:spcBef>
              <a:buSzPct val="70000"/>
              <a:buFont typeface="Wingdings" charset="2"/>
              <a:buChar char="q"/>
              <a:defRPr/>
            </a:pPr>
            <a:r>
              <a:rPr lang="en-US" sz="1400" dirty="0">
                <a:ea typeface="+mn-ea"/>
              </a:rPr>
              <a:t>e</a:t>
            </a:r>
            <a:r>
              <a:rPr lang="en-US" sz="1400" dirty="0" smtClean="0">
                <a:ea typeface="+mn-ea"/>
              </a:rPr>
              <a:t>.g.</a:t>
            </a:r>
            <a:r>
              <a:rPr lang="en-US" sz="1400" dirty="0" smtClean="0">
                <a:latin typeface="Arial" charset="0"/>
                <a:ea typeface="+mn-ea"/>
              </a:rPr>
              <a:t> Motor, AC Mains, TRIAC, etc.</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Converts time-based signals to degrees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Generates interrupts based on angles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Detects missed events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Simplified code development</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Program in terms of degrees</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Automatically adjusts for frequency changes</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Simplifies math required</a:t>
            </a:r>
            <a:endParaRPr lang="en-US" sz="1400" b="1" dirty="0">
              <a:solidFill>
                <a:schemeClr val="accent2"/>
              </a:solidFill>
              <a:latin typeface="Arial" charset="0"/>
              <a:ea typeface="+mn-ea"/>
            </a:endParaRPr>
          </a:p>
        </p:txBody>
      </p:sp>
      <p:sp>
        <p:nvSpPr>
          <p:cNvPr id="4" name="Rectangle 3"/>
          <p:cNvSpPr>
            <a:spLocks noChangeArrowheads="1"/>
          </p:cNvSpPr>
          <p:nvPr/>
        </p:nvSpPr>
        <p:spPr bwMode="auto">
          <a:xfrm>
            <a:off x="5394960" y="1223039"/>
            <a:ext cx="3566160"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Increased accuracy</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Improved performance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Reduced code size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 power SLEEP</a:t>
            </a:r>
          </a:p>
          <a:p>
            <a:pPr marL="342900" lvl="1" indent="-342900" eaLnBrk="0" hangingPunct="0">
              <a:lnSpc>
                <a:spcPct val="80000"/>
              </a:lnSpc>
              <a:spcBef>
                <a:spcPct val="20000"/>
              </a:spcBef>
              <a:buSzPct val="70000"/>
              <a:defRPr/>
            </a:pP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Motors (Electric &amp; Internal Combustion)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Dishwashers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Washer &amp;  Dryers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Blenders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Lighting</a:t>
            </a:r>
            <a:endParaRPr lang="en-US" sz="1400" b="1" dirty="0">
              <a:solidFill>
                <a:schemeClr val="accent2"/>
              </a:solidFill>
              <a:latin typeface="Arial" charset="0"/>
              <a:ea typeface="+mn-ea"/>
            </a:endParaRPr>
          </a:p>
        </p:txBody>
      </p:sp>
      <p:pic>
        <p:nvPicPr>
          <p:cNvPr id="40962" name="Picture 2"/>
          <p:cNvPicPr>
            <a:picLocks noChangeAspect="1" noChangeArrowheads="1"/>
          </p:cNvPicPr>
          <p:nvPr/>
        </p:nvPicPr>
        <p:blipFill>
          <a:blip r:embed="rId3"/>
          <a:srcRect/>
          <a:stretch>
            <a:fillRect/>
          </a:stretch>
        </p:blipFill>
        <p:spPr bwMode="auto">
          <a:xfrm>
            <a:off x="236538" y="4218613"/>
            <a:ext cx="8669337" cy="2401887"/>
          </a:xfrm>
          <a:prstGeom prst="rect">
            <a:avLst/>
          </a:prstGeom>
          <a:noFill/>
          <a:ln w="9525">
            <a:noFill/>
            <a:miter lim="800000"/>
            <a:headEnd/>
            <a:tailEnd/>
          </a:ln>
          <a:effectLst/>
        </p:spPr>
      </p:pic>
    </p:spTree>
    <p:extLst>
      <p:ext uri="{BB962C8B-B14F-4D97-AF65-F5344CB8AC3E}">
        <p14:creationId xmlns:p14="http://schemas.microsoft.com/office/powerpoint/2010/main" xmlns="" val="348293404"/>
      </p:ext>
    </p:extLst>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dirty="0" smtClean="0">
                <a:solidFill>
                  <a:schemeClr val="tx1"/>
                </a:solidFill>
                <a:ea typeface="ＭＳ Ｐゴシック" pitchFamily="34" charset="-128"/>
              </a:rPr>
              <a:t>Math Accelerator</a:t>
            </a:r>
            <a:br>
              <a:rPr lang="en-US" dirty="0" smtClean="0">
                <a:solidFill>
                  <a:schemeClr val="tx1"/>
                </a:solidFill>
                <a:ea typeface="ＭＳ Ｐゴシック" pitchFamily="34" charset="-128"/>
              </a:rPr>
            </a:br>
            <a:r>
              <a:rPr lang="en-US" sz="2000" b="0" dirty="0" smtClean="0">
                <a:solidFill>
                  <a:schemeClr val="tx1"/>
                </a:solidFill>
                <a:ea typeface="ＭＳ Ｐゴシック" pitchFamily="34" charset="-128"/>
              </a:rPr>
              <a:t>Hardware Accelerated Math Functions</a:t>
            </a:r>
          </a:p>
        </p:txBody>
      </p:sp>
      <p:sp>
        <p:nvSpPr>
          <p:cNvPr id="14" name="Rectangle 3"/>
          <p:cNvSpPr>
            <a:spLocks noChangeArrowheads="1"/>
          </p:cNvSpPr>
          <p:nvPr/>
        </p:nvSpPr>
        <p:spPr bwMode="auto">
          <a:xfrm>
            <a:off x="130628" y="1223039"/>
            <a:ext cx="4920343"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Math Accelerator (MathACC)</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General-purpose MATH &amp; PID functions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MULTIPLY, ADD, ACCUMULATE functions</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8-bit/16-bit values with 35-bit result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Four Operation Modes</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Multiply and Accumulate (MAC)</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Add and Multiply</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Simple Multiplier</a:t>
            </a:r>
          </a:p>
          <a:p>
            <a:pPr marL="1262063" lvl="3" indent="-347663" eaLnBrk="0" hangingPunct="0">
              <a:lnSpc>
                <a:spcPct val="80000"/>
              </a:lnSpc>
              <a:spcBef>
                <a:spcPct val="20000"/>
              </a:spcBef>
              <a:buSzPct val="70000"/>
              <a:buFont typeface="Wingdings" charset="2"/>
              <a:buChar char="q"/>
              <a:defRPr/>
            </a:pPr>
            <a:r>
              <a:rPr lang="en-US" sz="1400" dirty="0" smtClean="0">
                <a:latin typeface="Arial" charset="0"/>
              </a:rPr>
              <a:t>Signed &amp; un-signed multiplies </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Programmable PID Controller</a:t>
            </a:r>
          </a:p>
          <a:p>
            <a:pPr marL="1262063" lvl="3" indent="-347663" eaLnBrk="0" hangingPunct="0">
              <a:lnSpc>
                <a:spcPct val="80000"/>
              </a:lnSpc>
              <a:spcBef>
                <a:spcPct val="20000"/>
              </a:spcBef>
              <a:buSzPct val="70000"/>
              <a:buFont typeface="Wingdings" charset="2"/>
              <a:buChar char="q"/>
              <a:defRPr/>
            </a:pPr>
            <a:r>
              <a:rPr lang="en-US" sz="1400" dirty="0" smtClean="0">
                <a:latin typeface="Arial" charset="0"/>
              </a:rPr>
              <a:t>16-bit PID function based on configurable Kp, Ki, Kd constants with a 34-bit result</a:t>
            </a:r>
          </a:p>
          <a:p>
            <a:pPr marL="804863" lvl="2" indent="-347663" eaLnBrk="0" hangingPunct="0">
              <a:lnSpc>
                <a:spcPct val="80000"/>
              </a:lnSpc>
              <a:spcBef>
                <a:spcPct val="20000"/>
              </a:spcBef>
              <a:buSzPct val="70000"/>
              <a:buFont typeface="Wingdings" charset="2"/>
              <a:buChar char="q"/>
              <a:defRPr/>
            </a:pPr>
            <a:endParaRPr lang="en-US" sz="1400" dirty="0" smtClean="0">
              <a:latin typeface="Arial" charset="0"/>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ndParaRPr>
          </a:p>
        </p:txBody>
      </p:sp>
      <p:sp>
        <p:nvSpPr>
          <p:cNvPr id="15" name="Rectangle 14"/>
          <p:cNvSpPr>
            <a:spLocks noChangeArrowheads="1"/>
          </p:cNvSpPr>
          <p:nvPr/>
        </p:nvSpPr>
        <p:spPr bwMode="auto">
          <a:xfrm>
            <a:off x="5394960" y="1223039"/>
            <a:ext cx="3749040"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Speeds up math performance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Reduces code size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Accelerates PID control </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Core-independent operation</a:t>
            </a: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Motor control</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Digital filter</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Sensor &amp; temperature control</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ndParaRPr>
          </a:p>
          <a:p>
            <a:pPr marL="342900" indent="-342900" eaLnBrk="0" hangingPunct="0">
              <a:spcBef>
                <a:spcPct val="20000"/>
              </a:spcBef>
              <a:buSzPct val="70000"/>
              <a:defRPr/>
            </a:pPr>
            <a:endParaRPr lang="en-US" sz="1800" b="1" dirty="0" smtClean="0">
              <a:solidFill>
                <a:schemeClr val="accent2"/>
              </a:solidFill>
              <a:latin typeface="Arial" charset="0"/>
            </a:endParaRPr>
          </a:p>
        </p:txBody>
      </p:sp>
      <p:grpSp>
        <p:nvGrpSpPr>
          <p:cNvPr id="39" name="Group 38"/>
          <p:cNvGrpSpPr/>
          <p:nvPr/>
        </p:nvGrpSpPr>
        <p:grpSpPr>
          <a:xfrm>
            <a:off x="930398" y="4251179"/>
            <a:ext cx="7283205" cy="2018212"/>
            <a:chOff x="925286" y="4251179"/>
            <a:chExt cx="7283205" cy="2018212"/>
          </a:xfrm>
        </p:grpSpPr>
        <p:grpSp>
          <p:nvGrpSpPr>
            <p:cNvPr id="50" name="Group 49"/>
            <p:cNvGrpSpPr/>
            <p:nvPr/>
          </p:nvGrpSpPr>
          <p:grpSpPr>
            <a:xfrm>
              <a:off x="2390915" y="4392483"/>
              <a:ext cx="4362171" cy="1735605"/>
              <a:chOff x="1949685" y="4360395"/>
              <a:chExt cx="4362171" cy="1735605"/>
            </a:xfrm>
          </p:grpSpPr>
          <p:sp>
            <p:nvSpPr>
              <p:cNvPr id="16" name="Rectangle 15"/>
              <p:cNvSpPr>
                <a:spLocks noChangeArrowheads="1"/>
              </p:cNvSpPr>
              <p:nvPr/>
            </p:nvSpPr>
            <p:spPr bwMode="auto">
              <a:xfrm>
                <a:off x="1949685" y="4360395"/>
                <a:ext cx="4362171" cy="1735605"/>
              </a:xfrm>
              <a:prstGeom prst="rect">
                <a:avLst/>
              </a:prstGeom>
              <a:solidFill>
                <a:schemeClr val="accent6">
                  <a:lumMod val="40000"/>
                  <a:lumOff val="60000"/>
                </a:schemeClr>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0">
                <a:noAutofit/>
              </a:bodyPr>
              <a:lstStyle/>
              <a:p>
                <a:pPr marL="182880" indent="-182880">
                  <a:spcBef>
                    <a:spcPts val="200"/>
                  </a:spcBef>
                  <a:buNone/>
                </a:pPr>
                <a:r>
                  <a:rPr lang="en-US" sz="1600" b="1" dirty="0" smtClean="0">
                    <a:solidFill>
                      <a:schemeClr val="bg1"/>
                    </a:solidFill>
                  </a:rPr>
                  <a:t>MathACC</a:t>
                </a:r>
                <a:endParaRPr lang="en-US" sz="1200" dirty="0" smtClean="0">
                  <a:solidFill>
                    <a:schemeClr val="bg1"/>
                  </a:solidFill>
                </a:endParaRPr>
              </a:p>
            </p:txBody>
          </p:sp>
          <p:grpSp>
            <p:nvGrpSpPr>
              <p:cNvPr id="37" name="Group 36"/>
              <p:cNvGrpSpPr/>
              <p:nvPr/>
            </p:nvGrpSpPr>
            <p:grpSpPr>
              <a:xfrm>
                <a:off x="1999923" y="4588740"/>
                <a:ext cx="4294392" cy="1439070"/>
                <a:chOff x="5712812" y="5209227"/>
                <a:chExt cx="4068723" cy="1230750"/>
              </a:xfrm>
            </p:grpSpPr>
            <p:grpSp>
              <p:nvGrpSpPr>
                <p:cNvPr id="36" name="Group 35"/>
                <p:cNvGrpSpPr/>
                <p:nvPr/>
              </p:nvGrpSpPr>
              <p:grpSpPr>
                <a:xfrm>
                  <a:off x="5712812" y="5826248"/>
                  <a:ext cx="4068723" cy="613729"/>
                  <a:chOff x="5712812" y="5826248"/>
                  <a:chExt cx="4068723" cy="613729"/>
                </a:xfrm>
              </p:grpSpPr>
              <p:sp>
                <p:nvSpPr>
                  <p:cNvPr id="20" name="TextBox 19"/>
                  <p:cNvSpPr txBox="1"/>
                  <p:nvPr/>
                </p:nvSpPr>
                <p:spPr>
                  <a:xfrm>
                    <a:off x="5712812" y="5826248"/>
                    <a:ext cx="1856236"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 a + (b x c)</a:t>
                    </a:r>
                  </a:p>
                </p:txBody>
              </p:sp>
              <p:sp>
                <p:nvSpPr>
                  <p:cNvPr id="21" name="TextBox 20"/>
                  <p:cNvSpPr txBox="1"/>
                  <p:nvPr/>
                </p:nvSpPr>
                <p:spPr>
                  <a:xfrm>
                    <a:off x="8746952" y="5826248"/>
                    <a:ext cx="1034583"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x (-b)</a:t>
                    </a:r>
                  </a:p>
                </p:txBody>
              </p:sp>
              <p:sp>
                <p:nvSpPr>
                  <p:cNvPr id="22" name="TextBox 21"/>
                  <p:cNvSpPr txBox="1"/>
                  <p:nvPr/>
                </p:nvSpPr>
                <p:spPr>
                  <a:xfrm>
                    <a:off x="7810814" y="5826248"/>
                    <a:ext cx="717160"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 b</a:t>
                    </a:r>
                  </a:p>
                </p:txBody>
              </p:sp>
              <p:sp>
                <p:nvSpPr>
                  <p:cNvPr id="23" name="TextBox 22"/>
                  <p:cNvSpPr txBox="1"/>
                  <p:nvPr/>
                </p:nvSpPr>
                <p:spPr>
                  <a:xfrm>
                    <a:off x="5770347" y="6150432"/>
                    <a:ext cx="3930869"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K</a:t>
                    </a:r>
                    <a:r>
                      <a:rPr lang="en-US" sz="1600" baseline="-25000" dirty="0" smtClean="0">
                        <a:solidFill>
                          <a:schemeClr val="bg2">
                            <a:lumMod val="20000"/>
                            <a:lumOff val="80000"/>
                          </a:schemeClr>
                        </a:solidFill>
                        <a:latin typeface="Lucida Handwriting" pitchFamily="66" charset="0"/>
                      </a:rPr>
                      <a:t>p</a:t>
                    </a:r>
                    <a:r>
                      <a:rPr lang="en-US" sz="1600" dirty="0" smtClean="0">
                        <a:solidFill>
                          <a:schemeClr val="bg2">
                            <a:lumMod val="20000"/>
                            <a:lumOff val="80000"/>
                          </a:schemeClr>
                        </a:solidFill>
                        <a:latin typeface="Lucida Handwriting" pitchFamily="66" charset="0"/>
                      </a:rPr>
                      <a:t>e(t) + K</a:t>
                    </a:r>
                    <a:r>
                      <a:rPr lang="en-US" sz="1600" baseline="-25000" dirty="0" smtClean="0">
                        <a:solidFill>
                          <a:schemeClr val="bg2">
                            <a:lumMod val="20000"/>
                            <a:lumOff val="80000"/>
                          </a:schemeClr>
                        </a:solidFill>
                        <a:latin typeface="Lucida Handwriting" pitchFamily="66" charset="0"/>
                      </a:rPr>
                      <a:t>i </a:t>
                    </a:r>
                    <a:r>
                      <a:rPr lang="en-US" sz="1600" dirty="0" smtClean="0">
                        <a:solidFill>
                          <a:schemeClr val="bg2">
                            <a:lumMod val="20000"/>
                            <a:lumOff val="80000"/>
                          </a:schemeClr>
                        </a:solidFill>
                        <a:latin typeface="Lucida Handwriting" pitchFamily="66" charset="0"/>
                        <a:cs typeface="Arial"/>
                      </a:rPr>
                      <a:t>∫</a:t>
                    </a:r>
                    <a:r>
                      <a:rPr lang="en-US" sz="1600" baseline="30000" dirty="0" smtClean="0">
                        <a:solidFill>
                          <a:schemeClr val="bg2">
                            <a:lumMod val="20000"/>
                            <a:lumOff val="80000"/>
                          </a:schemeClr>
                        </a:solidFill>
                        <a:latin typeface="Lucida Handwriting" pitchFamily="66" charset="0"/>
                        <a:cs typeface="Arial"/>
                      </a:rPr>
                      <a:t>t</a:t>
                    </a:r>
                    <a:r>
                      <a:rPr lang="en-US" sz="1600" dirty="0" smtClean="0">
                        <a:solidFill>
                          <a:schemeClr val="bg2">
                            <a:lumMod val="20000"/>
                            <a:lumOff val="80000"/>
                          </a:schemeClr>
                        </a:solidFill>
                        <a:latin typeface="Lucida Handwriting" pitchFamily="66" charset="0"/>
                        <a:cs typeface="Arial"/>
                      </a:rPr>
                      <a:t> </a:t>
                    </a:r>
                    <a:r>
                      <a:rPr lang="en-US" sz="1600" dirty="0" smtClean="0">
                        <a:solidFill>
                          <a:schemeClr val="bg2">
                            <a:lumMod val="20000"/>
                            <a:lumOff val="80000"/>
                          </a:schemeClr>
                        </a:solidFill>
                        <a:latin typeface="Lucida Handwriting" pitchFamily="66" charset="0"/>
                      </a:rPr>
                      <a:t>e(T)dT + K</a:t>
                    </a:r>
                    <a:r>
                      <a:rPr lang="en-US" sz="1600" baseline="-25000" dirty="0" smtClean="0">
                        <a:solidFill>
                          <a:schemeClr val="bg2">
                            <a:lumMod val="20000"/>
                            <a:lumOff val="80000"/>
                          </a:schemeClr>
                        </a:solidFill>
                        <a:latin typeface="Lucida Handwriting" pitchFamily="66" charset="0"/>
                      </a:rPr>
                      <a:t>d </a:t>
                    </a:r>
                    <a:r>
                      <a:rPr lang="en-US" sz="1600" dirty="0" smtClean="0">
                        <a:solidFill>
                          <a:schemeClr val="bg2">
                            <a:lumMod val="20000"/>
                            <a:lumOff val="80000"/>
                          </a:schemeClr>
                        </a:solidFill>
                        <a:latin typeface="Lucida Handwriting" pitchFamily="66" charset="0"/>
                      </a:rPr>
                      <a:t>d/dt e(t) </a:t>
                    </a:r>
                  </a:p>
                </p:txBody>
              </p:sp>
            </p:grpSp>
            <p:grpSp>
              <p:nvGrpSpPr>
                <p:cNvPr id="35" name="Group 34"/>
                <p:cNvGrpSpPr/>
                <p:nvPr/>
              </p:nvGrpSpPr>
              <p:grpSpPr>
                <a:xfrm>
                  <a:off x="5712812" y="5209227"/>
                  <a:ext cx="4068723" cy="613731"/>
                  <a:chOff x="5865212" y="5209227"/>
                  <a:chExt cx="4068723" cy="613731"/>
                </a:xfrm>
              </p:grpSpPr>
              <p:sp>
                <p:nvSpPr>
                  <p:cNvPr id="31" name="TextBox 30"/>
                  <p:cNvSpPr txBox="1"/>
                  <p:nvPr/>
                </p:nvSpPr>
                <p:spPr>
                  <a:xfrm>
                    <a:off x="5865212" y="5209227"/>
                    <a:ext cx="1856236"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 a + (b x c)</a:t>
                    </a:r>
                  </a:p>
                </p:txBody>
              </p:sp>
              <p:sp>
                <p:nvSpPr>
                  <p:cNvPr id="32" name="TextBox 31"/>
                  <p:cNvSpPr txBox="1"/>
                  <p:nvPr/>
                </p:nvSpPr>
                <p:spPr>
                  <a:xfrm>
                    <a:off x="8899352" y="5209229"/>
                    <a:ext cx="1034583"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x (-b)</a:t>
                    </a:r>
                  </a:p>
                </p:txBody>
              </p:sp>
              <p:sp>
                <p:nvSpPr>
                  <p:cNvPr id="33" name="TextBox 32"/>
                  <p:cNvSpPr txBox="1"/>
                  <p:nvPr/>
                </p:nvSpPr>
                <p:spPr>
                  <a:xfrm>
                    <a:off x="7963214" y="5209229"/>
                    <a:ext cx="717160"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a + b</a:t>
                    </a:r>
                  </a:p>
                </p:txBody>
              </p:sp>
              <p:sp>
                <p:nvSpPr>
                  <p:cNvPr id="34" name="TextBox 33"/>
                  <p:cNvSpPr txBox="1"/>
                  <p:nvPr/>
                </p:nvSpPr>
                <p:spPr>
                  <a:xfrm>
                    <a:off x="5922747" y="5533413"/>
                    <a:ext cx="3930869" cy="289545"/>
                  </a:xfrm>
                  <a:prstGeom prst="rect">
                    <a:avLst/>
                  </a:prstGeom>
                  <a:noFill/>
                  <a:effectLst>
                    <a:outerShdw blurRad="50800" dist="38100" algn="l" rotWithShape="0">
                      <a:prstClr val="black">
                        <a:alpha val="40000"/>
                      </a:prstClr>
                    </a:outerShdw>
                  </a:effectLst>
                </p:spPr>
                <p:txBody>
                  <a:bodyPr wrap="none" rtlCol="0">
                    <a:spAutoFit/>
                  </a:bodyPr>
                  <a:lstStyle/>
                  <a:p>
                    <a:pPr algn="ctr"/>
                    <a:r>
                      <a:rPr lang="en-US" sz="1600" dirty="0" smtClean="0">
                        <a:solidFill>
                          <a:schemeClr val="bg2">
                            <a:lumMod val="20000"/>
                            <a:lumOff val="80000"/>
                          </a:schemeClr>
                        </a:solidFill>
                        <a:latin typeface="Lucida Handwriting" pitchFamily="66" charset="0"/>
                      </a:rPr>
                      <a:t>K</a:t>
                    </a:r>
                    <a:r>
                      <a:rPr lang="en-US" sz="1600" baseline="-25000" dirty="0" smtClean="0">
                        <a:solidFill>
                          <a:schemeClr val="bg2">
                            <a:lumMod val="20000"/>
                            <a:lumOff val="80000"/>
                          </a:schemeClr>
                        </a:solidFill>
                        <a:latin typeface="Lucida Handwriting" pitchFamily="66" charset="0"/>
                      </a:rPr>
                      <a:t>p</a:t>
                    </a:r>
                    <a:r>
                      <a:rPr lang="en-US" sz="1600" dirty="0" smtClean="0">
                        <a:solidFill>
                          <a:schemeClr val="bg2">
                            <a:lumMod val="20000"/>
                            <a:lumOff val="80000"/>
                          </a:schemeClr>
                        </a:solidFill>
                        <a:latin typeface="Lucida Handwriting" pitchFamily="66" charset="0"/>
                      </a:rPr>
                      <a:t>e(t) + K</a:t>
                    </a:r>
                    <a:r>
                      <a:rPr lang="en-US" sz="1600" baseline="-25000" dirty="0" smtClean="0">
                        <a:solidFill>
                          <a:schemeClr val="bg2">
                            <a:lumMod val="20000"/>
                            <a:lumOff val="80000"/>
                          </a:schemeClr>
                        </a:solidFill>
                        <a:latin typeface="Lucida Handwriting" pitchFamily="66" charset="0"/>
                      </a:rPr>
                      <a:t>i </a:t>
                    </a:r>
                    <a:r>
                      <a:rPr lang="en-US" sz="1600" dirty="0" smtClean="0">
                        <a:solidFill>
                          <a:schemeClr val="bg2">
                            <a:lumMod val="20000"/>
                            <a:lumOff val="80000"/>
                          </a:schemeClr>
                        </a:solidFill>
                        <a:latin typeface="Lucida Handwriting" pitchFamily="66" charset="0"/>
                        <a:cs typeface="Arial"/>
                      </a:rPr>
                      <a:t>∫</a:t>
                    </a:r>
                    <a:r>
                      <a:rPr lang="en-US" sz="1600" baseline="30000" dirty="0" smtClean="0">
                        <a:solidFill>
                          <a:schemeClr val="bg2">
                            <a:lumMod val="20000"/>
                            <a:lumOff val="80000"/>
                          </a:schemeClr>
                        </a:solidFill>
                        <a:latin typeface="Lucida Handwriting" pitchFamily="66" charset="0"/>
                        <a:cs typeface="Arial"/>
                      </a:rPr>
                      <a:t>t</a:t>
                    </a:r>
                    <a:r>
                      <a:rPr lang="en-US" sz="1600" dirty="0" smtClean="0">
                        <a:solidFill>
                          <a:schemeClr val="bg2">
                            <a:lumMod val="20000"/>
                            <a:lumOff val="80000"/>
                          </a:schemeClr>
                        </a:solidFill>
                        <a:latin typeface="Lucida Handwriting" pitchFamily="66" charset="0"/>
                        <a:cs typeface="Arial"/>
                      </a:rPr>
                      <a:t> </a:t>
                    </a:r>
                    <a:r>
                      <a:rPr lang="en-US" sz="1600" dirty="0" smtClean="0">
                        <a:solidFill>
                          <a:schemeClr val="bg2">
                            <a:lumMod val="20000"/>
                            <a:lumOff val="80000"/>
                          </a:schemeClr>
                        </a:solidFill>
                        <a:latin typeface="Lucida Handwriting" pitchFamily="66" charset="0"/>
                      </a:rPr>
                      <a:t>e(T)dT + K</a:t>
                    </a:r>
                    <a:r>
                      <a:rPr lang="en-US" sz="1600" baseline="-25000" dirty="0" smtClean="0">
                        <a:solidFill>
                          <a:schemeClr val="bg2">
                            <a:lumMod val="20000"/>
                            <a:lumOff val="80000"/>
                          </a:schemeClr>
                        </a:solidFill>
                        <a:latin typeface="Lucida Handwriting" pitchFamily="66" charset="0"/>
                      </a:rPr>
                      <a:t>d </a:t>
                    </a:r>
                    <a:r>
                      <a:rPr lang="en-US" sz="1600" dirty="0" smtClean="0">
                        <a:solidFill>
                          <a:schemeClr val="bg2">
                            <a:lumMod val="20000"/>
                            <a:lumOff val="80000"/>
                          </a:schemeClr>
                        </a:solidFill>
                        <a:latin typeface="Lucida Handwriting" pitchFamily="66" charset="0"/>
                      </a:rPr>
                      <a:t>d/dt e(t) </a:t>
                    </a:r>
                  </a:p>
                </p:txBody>
              </p:sp>
            </p:grpSp>
          </p:grpSp>
          <p:sp>
            <p:nvSpPr>
              <p:cNvPr id="24" name="Multiply 23"/>
              <p:cNvSpPr/>
              <p:nvPr/>
            </p:nvSpPr>
            <p:spPr bwMode="auto">
              <a:xfrm>
                <a:off x="2971003" y="5061325"/>
                <a:ext cx="914400" cy="1005840"/>
              </a:xfrm>
              <a:prstGeom prst="mathMultiply">
                <a:avLst/>
              </a:prstGeom>
              <a:solidFill>
                <a:srgbClr val="0000FF"/>
              </a:solidFill>
              <a:ln w="25400" cap="flat" cmpd="sng" algn="ctr">
                <a:noFill/>
                <a:prstDash val="solid"/>
                <a:round/>
                <a:headEnd type="none" w="med" len="med"/>
                <a:tailEnd type="none" w="med" len="med"/>
              </a:ln>
              <a:effectLst>
                <a:outerShdw blurRad="50800" dist="38100" dir="13500000" algn="br" rotWithShape="0">
                  <a:schemeClr val="accent3">
                    <a:alpha val="40000"/>
                  </a:schemeClr>
                </a:outerShdw>
              </a:effectLst>
              <a:scene3d>
                <a:camera prst="isometricOffAxis1Right"/>
                <a:lightRig rig="threePt" dir="t"/>
              </a:scene3d>
              <a:sp3d extrusionH="38100">
                <a:bevelT/>
                <a:extrusionClr>
                  <a:srgbClr val="0000FF"/>
                </a:extrusionClr>
                <a:contourClr>
                  <a:srgbClr val="0000FF"/>
                </a:contourClr>
              </a:sp3d>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5" name="Plus 24"/>
              <p:cNvSpPr/>
              <p:nvPr/>
            </p:nvSpPr>
            <p:spPr bwMode="auto">
              <a:xfrm>
                <a:off x="2046778" y="4681653"/>
                <a:ext cx="914400" cy="914400"/>
              </a:xfrm>
              <a:prstGeom prst="mathPlus">
                <a:avLst/>
              </a:prstGeom>
              <a:solidFill>
                <a:srgbClr val="FFFF00"/>
              </a:solidFill>
              <a:ln w="25400" cap="flat" cmpd="sng" algn="ctr">
                <a:noFill/>
                <a:prstDash val="solid"/>
                <a:round/>
                <a:headEnd type="none" w="med" len="med"/>
                <a:tailEnd type="none" w="med" len="med"/>
              </a:ln>
              <a:effectLst>
                <a:outerShdw blurRad="50800" dist="38100" dir="13500000" algn="br" rotWithShape="0">
                  <a:schemeClr val="accent3">
                    <a:alpha val="40000"/>
                  </a:schemeClr>
                </a:outerShdw>
              </a:effectLst>
              <a:scene3d>
                <a:camera prst="isometricOffAxis2Left"/>
                <a:lightRig rig="threePt" dir="t"/>
              </a:scene3d>
              <a:sp3d extrusionH="76200">
                <a:bevelT/>
                <a:bevelB/>
                <a:extrusionClr>
                  <a:srgbClr val="009900"/>
                </a:extrusionClr>
              </a:sp3d>
            </p:spPr>
            <p:txBody>
              <a:bodyPr vert="horz" wrap="square" lIns="91440" tIns="45720" rIns="91440" bIns="45720" numCol="1" rtlCol="0" anchor="t" anchorCtr="0" compatLnSpc="1">
                <a:prstTxWarp prst="textNoShape">
                  <a:avLst/>
                </a:prstTxWarp>
                <a:spAutoFit/>
              </a:bodyPr>
              <a:lstStyle/>
              <a:p>
                <a:endParaRPr lang="en-US" sz="1800" dirty="0">
                  <a:latin typeface="Arial" charset="0"/>
                </a:endParaRPr>
              </a:p>
            </p:txBody>
          </p:sp>
          <p:sp>
            <p:nvSpPr>
              <p:cNvPr id="26" name="Equal 25"/>
              <p:cNvSpPr/>
              <p:nvPr/>
            </p:nvSpPr>
            <p:spPr bwMode="auto">
              <a:xfrm>
                <a:off x="5189566" y="4583417"/>
                <a:ext cx="914400" cy="914400"/>
              </a:xfrm>
              <a:prstGeom prst="mathEqual">
                <a:avLst/>
              </a:prstGeom>
              <a:solidFill>
                <a:srgbClr val="009900"/>
              </a:solidFill>
              <a:ln w="25400" cap="flat" cmpd="sng" algn="ctr">
                <a:noFill/>
                <a:prstDash val="solid"/>
                <a:round/>
                <a:headEnd type="none" w="med" len="med"/>
                <a:tailEnd type="none" w="med" len="med"/>
              </a:ln>
              <a:effectLst>
                <a:outerShdw blurRad="50800" dist="38100" dir="13500000" algn="br" rotWithShape="0">
                  <a:schemeClr val="accent3">
                    <a:alpha val="40000"/>
                  </a:schemeClr>
                </a:outerShdw>
              </a:effectLst>
              <a:scene3d>
                <a:camera prst="isometricOffAxis2Left"/>
                <a:lightRig rig="threePt" dir="t"/>
              </a:scene3d>
              <a:sp3d extrusionH="76200">
                <a:bevelT/>
                <a:bevelB/>
                <a:extrusionClr>
                  <a:srgbClr val="009900"/>
                </a:extrusionClr>
              </a:sp3d>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7" name="TextBox 26"/>
              <p:cNvSpPr txBox="1"/>
              <p:nvPr/>
            </p:nvSpPr>
            <p:spPr>
              <a:xfrm>
                <a:off x="3742298" y="4680857"/>
                <a:ext cx="1008958" cy="490653"/>
              </a:xfrm>
              <a:prstGeom prst="rect">
                <a:avLst/>
              </a:prstGeom>
              <a:solidFill>
                <a:srgbClr val="7030A0"/>
              </a:solidFill>
              <a:effectLst>
                <a:outerShdw blurRad="50800" dist="38100" dir="13500000" algn="br" rotWithShape="0">
                  <a:schemeClr val="accent3">
                    <a:alpha val="40000"/>
                  </a:schemeClr>
                </a:outerShdw>
              </a:effectLst>
              <a:scene3d>
                <a:camera prst="perspectiveContrastingRightFacing"/>
                <a:lightRig rig="threePt" dir="t"/>
              </a:scene3d>
              <a:sp3d>
                <a:bevelT/>
                <a:extrusionClr>
                  <a:srgbClr val="7030A0"/>
                </a:extrusionClr>
              </a:sp3d>
            </p:spPr>
            <p:txBody>
              <a:bodyPr wrap="square" lIns="0" tIns="0" rIns="0" bIns="0" rtlCol="0" anchor="ctr" anchorCtr="1">
                <a:normAutofit fontScale="92500" lnSpcReduction="10000"/>
              </a:bodyPr>
              <a:lstStyle/>
              <a:p>
                <a:pPr algn="ctr"/>
                <a:r>
                  <a:rPr lang="en-US" sz="3600" dirty="0" smtClean="0">
                    <a:solidFill>
                      <a:schemeClr val="bg1"/>
                    </a:solidFill>
                    <a:latin typeface="Franklin Gothic Heavy" pitchFamily="34" charset="0"/>
                  </a:rPr>
                  <a:t>MAC</a:t>
                </a:r>
              </a:p>
            </p:txBody>
          </p:sp>
          <p:sp>
            <p:nvSpPr>
              <p:cNvPr id="29" name="TextBox 28"/>
              <p:cNvSpPr txBox="1"/>
              <p:nvPr/>
            </p:nvSpPr>
            <p:spPr>
              <a:xfrm>
                <a:off x="4386410" y="5379188"/>
                <a:ext cx="914400" cy="457200"/>
              </a:xfrm>
              <a:prstGeom prst="rect">
                <a:avLst/>
              </a:prstGeom>
              <a:solidFill>
                <a:srgbClr val="FF9933"/>
              </a:solidFill>
              <a:effectLst>
                <a:outerShdw blurRad="50800" dist="38100" dir="18900000" algn="bl" rotWithShape="0">
                  <a:schemeClr val="accent3">
                    <a:alpha val="40000"/>
                  </a:schemeClr>
                </a:outerShdw>
              </a:effectLst>
              <a:scene3d>
                <a:camera prst="perspectiveHeroicExtremeLeftFacing"/>
                <a:lightRig rig="threePt" dir="t"/>
              </a:scene3d>
              <a:sp3d>
                <a:bevelT/>
                <a:extrusionClr>
                  <a:srgbClr val="FF9966"/>
                </a:extrusionClr>
              </a:sp3d>
            </p:spPr>
            <p:txBody>
              <a:bodyPr wrap="square" lIns="0" tIns="0" rIns="0" bIns="0" rtlCol="0" anchor="ctr" anchorCtr="1">
                <a:normAutofit fontScale="92500" lnSpcReduction="10000"/>
              </a:bodyPr>
              <a:lstStyle/>
              <a:p>
                <a:pPr algn="ctr"/>
                <a:r>
                  <a:rPr lang="en-US" sz="3600" dirty="0" smtClean="0">
                    <a:latin typeface="Franklin Gothic Heavy" pitchFamily="34" charset="0"/>
                  </a:rPr>
                  <a:t>PID</a:t>
                </a:r>
                <a:endParaRPr lang="en-US" sz="3600" dirty="0">
                  <a:latin typeface="Franklin Gothic Heavy" pitchFamily="34" charset="0"/>
                </a:endParaRPr>
              </a:p>
            </p:txBody>
          </p:sp>
        </p:grpSp>
        <p:sp>
          <p:nvSpPr>
            <p:cNvPr id="28" name="Right Arrow 27"/>
            <p:cNvSpPr/>
            <p:nvPr/>
          </p:nvSpPr>
          <p:spPr bwMode="auto">
            <a:xfrm>
              <a:off x="925286" y="5263551"/>
              <a:ext cx="1461530" cy="1005840"/>
            </a:xfrm>
            <a:prstGeom prst="rightArrow">
              <a:avLst/>
            </a:prstGeom>
            <a:gradFill rotWithShape="1">
              <a:gsLst>
                <a:gs pos="0">
                  <a:schemeClr val="accent6">
                    <a:lumMod val="60000"/>
                    <a:lumOff val="40000"/>
                    <a:alpha val="0"/>
                  </a:schemeClr>
                </a:gs>
                <a:gs pos="100000">
                  <a:schemeClr val="accent6">
                    <a:lumMod val="60000"/>
                    <a:lumOff val="40000"/>
                  </a:schemeClr>
                </a:gs>
              </a:gsLst>
              <a:lin ang="0" scaled="1"/>
            </a:gradFill>
            <a:ln w="25400"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spAutoFit/>
            </a:bodyPr>
            <a:lstStyle/>
            <a:p>
              <a:r>
                <a:rPr lang="en-US" sz="1600" b="1" spc="50" dirty="0" smtClean="0">
                  <a:ln w="12700" cmpd="sng">
                    <a:solidFill>
                      <a:schemeClr val="accent6">
                        <a:lumMod val="20000"/>
                        <a:lumOff val="80000"/>
                      </a:schemeClr>
                    </a:solidFill>
                    <a:prstDash val="solid"/>
                  </a:ln>
                  <a:solidFill>
                    <a:schemeClr val="accent6">
                      <a:tint val="1000"/>
                    </a:schemeClr>
                  </a:solidFill>
                  <a:effectLst>
                    <a:glow rad="53100">
                      <a:schemeClr val="accent6">
                        <a:satMod val="180000"/>
                        <a:alpha val="30000"/>
                      </a:schemeClr>
                    </a:glow>
                  </a:effectLst>
                </a:rPr>
                <a:t>8-/16-bit Value</a:t>
              </a:r>
              <a:endParaRPr kumimoji="0" lang="en-US" sz="1600" b="0" i="0" u="none" strike="noStrike" cap="none" normalizeH="0" baseline="0" dirty="0">
                <a:ln w="12700" cmpd="sng">
                  <a:solidFill>
                    <a:schemeClr val="accent6">
                      <a:lumMod val="20000"/>
                      <a:lumOff val="80000"/>
                    </a:schemeClr>
                  </a:solidFill>
                  <a:prstDash val="solid"/>
                </a:ln>
                <a:solidFill>
                  <a:schemeClr val="tx1"/>
                </a:solidFill>
                <a:effectLst/>
                <a:latin typeface="Arial" charset="0"/>
              </a:endParaRPr>
            </a:p>
          </p:txBody>
        </p:sp>
        <p:sp>
          <p:nvSpPr>
            <p:cNvPr id="30" name="Right Arrow 29"/>
            <p:cNvSpPr/>
            <p:nvPr/>
          </p:nvSpPr>
          <p:spPr bwMode="auto">
            <a:xfrm>
              <a:off x="6745451" y="4757365"/>
              <a:ext cx="1463040" cy="1005840"/>
            </a:xfrm>
            <a:prstGeom prst="rightArrow">
              <a:avLst/>
            </a:prstGeom>
            <a:gradFill rotWithShape="1">
              <a:gsLst>
                <a:gs pos="0">
                  <a:schemeClr val="accent6">
                    <a:lumMod val="60000"/>
                    <a:lumOff val="40000"/>
                    <a:alpha val="0"/>
                  </a:schemeClr>
                </a:gs>
                <a:gs pos="100000">
                  <a:schemeClr val="accent6">
                    <a:lumMod val="60000"/>
                    <a:lumOff val="40000"/>
                  </a:schemeClr>
                </a:gs>
              </a:gsLst>
              <a:lin ang="0" scaled="1"/>
            </a:gradFill>
            <a:ln w="25400"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spAutoFit/>
            </a:bodyPr>
            <a:lstStyle/>
            <a:p>
              <a:r>
                <a:rPr lang="en-US" sz="1600" b="1" spc="50" dirty="0" smtClean="0">
                  <a:ln w="12700" cmpd="sng">
                    <a:solidFill>
                      <a:schemeClr val="accent6">
                        <a:lumMod val="20000"/>
                        <a:lumOff val="80000"/>
                      </a:schemeClr>
                    </a:solidFill>
                    <a:prstDash val="solid"/>
                  </a:ln>
                  <a:solidFill>
                    <a:schemeClr val="accent6">
                      <a:tint val="1000"/>
                    </a:schemeClr>
                  </a:solidFill>
                  <a:effectLst>
                    <a:glow rad="53100">
                      <a:schemeClr val="accent6">
                        <a:satMod val="180000"/>
                        <a:alpha val="30000"/>
                      </a:schemeClr>
                    </a:glow>
                  </a:effectLst>
                </a:rPr>
                <a:t>34-/35-bit Result</a:t>
              </a:r>
              <a:endParaRPr kumimoji="0" lang="en-US" sz="1600" b="0" i="0" u="none" strike="noStrike" cap="none" normalizeH="0" baseline="0" dirty="0">
                <a:ln w="12700" cmpd="sng">
                  <a:solidFill>
                    <a:schemeClr val="accent6">
                      <a:lumMod val="20000"/>
                      <a:lumOff val="80000"/>
                    </a:schemeClr>
                  </a:solidFill>
                  <a:prstDash val="solid"/>
                </a:ln>
                <a:solidFill>
                  <a:schemeClr val="tx1"/>
                </a:solidFill>
                <a:effectLst/>
                <a:latin typeface="Arial" charset="0"/>
              </a:endParaRPr>
            </a:p>
          </p:txBody>
        </p:sp>
        <p:sp>
          <p:nvSpPr>
            <p:cNvPr id="38" name="Right Arrow 37"/>
            <p:cNvSpPr/>
            <p:nvPr/>
          </p:nvSpPr>
          <p:spPr bwMode="auto">
            <a:xfrm>
              <a:off x="925286" y="4251179"/>
              <a:ext cx="1461530" cy="1005840"/>
            </a:xfrm>
            <a:prstGeom prst="rightArrow">
              <a:avLst/>
            </a:prstGeom>
            <a:gradFill rotWithShape="1">
              <a:gsLst>
                <a:gs pos="0">
                  <a:schemeClr val="accent6">
                    <a:lumMod val="60000"/>
                    <a:lumOff val="40000"/>
                    <a:alpha val="0"/>
                  </a:schemeClr>
                </a:gs>
                <a:gs pos="100000">
                  <a:schemeClr val="accent6">
                    <a:lumMod val="60000"/>
                    <a:lumOff val="40000"/>
                  </a:schemeClr>
                </a:gs>
              </a:gsLst>
              <a:lin ang="0" scaled="1"/>
            </a:gradFill>
            <a:ln w="25400"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spAutoFit/>
            </a:bodyPr>
            <a:lstStyle/>
            <a:p>
              <a:r>
                <a:rPr lang="en-US" sz="1600" b="1" spc="50" dirty="0" smtClean="0">
                  <a:ln w="12700" cmpd="sng">
                    <a:solidFill>
                      <a:schemeClr val="accent6">
                        <a:lumMod val="20000"/>
                        <a:lumOff val="80000"/>
                      </a:schemeClr>
                    </a:solidFill>
                    <a:prstDash val="solid"/>
                  </a:ln>
                  <a:solidFill>
                    <a:schemeClr val="accent6">
                      <a:tint val="1000"/>
                    </a:schemeClr>
                  </a:solidFill>
                  <a:effectLst>
                    <a:glow rad="53100">
                      <a:schemeClr val="accent6">
                        <a:satMod val="180000"/>
                        <a:alpha val="30000"/>
                      </a:schemeClr>
                    </a:glow>
                  </a:effectLst>
                </a:rPr>
                <a:t>8-/16-bit Value</a:t>
              </a:r>
              <a:endParaRPr kumimoji="0" lang="en-US" sz="1600" b="0" i="0" u="none" strike="noStrike" cap="none" normalizeH="0" baseline="0" dirty="0">
                <a:ln w="12700" cmpd="sng">
                  <a:solidFill>
                    <a:schemeClr val="accent6">
                      <a:lumMod val="20000"/>
                      <a:lumOff val="80000"/>
                    </a:schemeClr>
                  </a:solidFill>
                  <a:prstDash val="solid"/>
                </a:ln>
                <a:solidFill>
                  <a:schemeClr val="tx1"/>
                </a:solidFill>
                <a:effectLst/>
                <a:latin typeface="Arial" charset="0"/>
              </a:endParaRPr>
            </a:p>
          </p:txBody>
        </p:sp>
      </p:grpSp>
    </p:spTree>
    <p:extLst>
      <p:ext uri="{BB962C8B-B14F-4D97-AF65-F5344CB8AC3E}">
        <p14:creationId xmlns:p14="http://schemas.microsoft.com/office/powerpoint/2010/main" xmlns="" val="976240997"/>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itle 1"/>
          <p:cNvSpPr txBox="1">
            <a:spLocks/>
          </p:cNvSpPr>
          <p:nvPr/>
        </p:nvSpPr>
        <p:spPr>
          <a:xfrm>
            <a:off x="1905000" y="198438"/>
            <a:ext cx="6781800" cy="868362"/>
          </a:xfrm>
          <a:prstGeom prst="rect">
            <a:avLst/>
          </a:prstGeom>
        </p:spPr>
        <p:txBody>
          <a:bodyPr anchor="ctr" anchorCtr="0"/>
          <a:lstStyle/>
          <a:p>
            <a:pPr lvl="0" algn="ctr"/>
            <a:r>
              <a:rPr kumimoji="0" lang="en-US" sz="2800" b="1" i="0" u="none" strike="noStrike" kern="0" cap="none" spc="0" normalizeH="0" baseline="0" noProof="0" dirty="0" smtClean="0">
                <a:ln>
                  <a:noFill/>
                </a:ln>
                <a:effectLst/>
                <a:uLnTx/>
                <a:uFillTx/>
                <a:latin typeface="+mj-lt"/>
                <a:ea typeface="ＭＳ Ｐゴシック" pitchFamily="34" charset="-128"/>
                <a:cs typeface="ＭＳ Ｐゴシック" charset="0"/>
              </a:rPr>
              <a:t>Cyclical Redundancy Check </a:t>
            </a:r>
            <a:r>
              <a:rPr lang="en-US" sz="2800" b="1" kern="0" dirty="0" smtClean="0">
                <a:latin typeface="+mj-lt"/>
                <a:cs typeface="ＭＳ Ｐゴシック" charset="0"/>
              </a:rPr>
              <a:t>&amp; Scan</a:t>
            </a: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
            </a:r>
            <a:b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br>
            <a:r>
              <a:rPr lang="en-US" sz="2000" noProof="0" dirty="0" smtClean="0">
                <a:cs typeface="ＭＳ Ｐゴシック" charset="0"/>
              </a:rPr>
              <a:t>Data Integrity Monitoring for Fault Detection</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
        <p:nvSpPr>
          <p:cNvPr id="3" name="Rectangle 3"/>
          <p:cNvSpPr>
            <a:spLocks noChangeArrowheads="1"/>
          </p:cNvSpPr>
          <p:nvPr/>
        </p:nvSpPr>
        <p:spPr bwMode="auto">
          <a:xfrm>
            <a:off x="130628" y="1223039"/>
            <a:ext cx="5366658" cy="1922932"/>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Cyclical Redundancy Check /Scan (CRC/SCAN)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General purpose 2-bit to 16-bit CRC</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For use with memory and communications data</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Automated CRC checksum with background SCAN</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Program memory</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DataEE memory</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Calculates CRC checksum on communications data</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Configurable polynomial (all standard CRC implementations)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Corruption is detected upon checksum mismatch</a:t>
            </a: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All memory-scan operations are controlled via software</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Clr>
                <a:schemeClr val="tx1"/>
              </a:buClr>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p:txBody>
      </p:sp>
      <p:sp>
        <p:nvSpPr>
          <p:cNvPr id="4" name="Rectangle 3"/>
          <p:cNvSpPr>
            <a:spLocks noChangeArrowheads="1"/>
          </p:cNvSpPr>
          <p:nvPr/>
        </p:nvSpPr>
        <p:spPr bwMode="auto">
          <a:xfrm>
            <a:off x="5394960" y="1223039"/>
            <a:ext cx="3509554"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Increased code &amp; data integrity</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Software configurable for easy updates &amp; modifications</a:t>
            </a:r>
          </a:p>
          <a:p>
            <a:pPr marL="347663" lvl="1" indent="-347663"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Eases implementation of safety standards (e.g. Class B, UL, etc.)</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 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 power SLEEP</a:t>
            </a: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Dishwashers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Ovens / Microwaves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Laundry Equipment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Data logging integrity</a:t>
            </a:r>
          </a:p>
          <a:p>
            <a:pPr marL="347663" lvl="1" indent="-347663" eaLnBrk="0" hangingPunct="0">
              <a:lnSpc>
                <a:spcPct val="80000"/>
              </a:lnSpc>
              <a:spcBef>
                <a:spcPct val="20000"/>
              </a:spcBef>
              <a:buSzPct val="70000"/>
              <a:buFont typeface="Wingdings" charset="2"/>
              <a:buChar char="q"/>
              <a:defRPr/>
            </a:pPr>
            <a:endParaRPr lang="en-US" sz="1400" b="1" dirty="0">
              <a:solidFill>
                <a:schemeClr val="accent2"/>
              </a:solidFill>
              <a:latin typeface="Arial" charset="0"/>
              <a:ea typeface="+mn-ea"/>
            </a:endParaRPr>
          </a:p>
        </p:txBody>
      </p:sp>
      <p:grpSp>
        <p:nvGrpSpPr>
          <p:cNvPr id="20" name="Group 19"/>
          <p:cNvGrpSpPr/>
          <p:nvPr/>
        </p:nvGrpSpPr>
        <p:grpSpPr>
          <a:xfrm>
            <a:off x="1016726" y="3831154"/>
            <a:ext cx="7110548" cy="2768422"/>
            <a:chOff x="1016726" y="3863812"/>
            <a:chExt cx="7110548" cy="2768422"/>
          </a:xfrm>
        </p:grpSpPr>
        <p:cxnSp>
          <p:nvCxnSpPr>
            <p:cNvPr id="76" name="Elbow Connector 75"/>
            <p:cNvCxnSpPr>
              <a:stCxn id="60" idx="1"/>
              <a:endCxn id="83" idx="3"/>
            </p:cNvCxnSpPr>
            <p:nvPr/>
          </p:nvCxnSpPr>
          <p:spPr bwMode="auto">
            <a:xfrm rot="10800000" flipV="1">
              <a:off x="3119847" y="4183851"/>
              <a:ext cx="952183" cy="253457"/>
            </a:xfrm>
            <a:prstGeom prst="bentConnector3">
              <a:avLst>
                <a:gd name="adj1" fmla="val 50000"/>
              </a:avLst>
            </a:prstGeom>
            <a:gradFill rotWithShape="1">
              <a:gsLst>
                <a:gs pos="0">
                  <a:srgbClr val="808080"/>
                </a:gs>
                <a:gs pos="50000">
                  <a:srgbClr val="333333"/>
                </a:gs>
                <a:gs pos="100000">
                  <a:srgbClr val="808080"/>
                </a:gs>
              </a:gsLst>
              <a:lin ang="0" scaled="1"/>
            </a:gradFill>
            <a:ln w="50800" cap="flat" cmpd="sng" algn="ctr">
              <a:solidFill>
                <a:srgbClr val="00B0F0"/>
              </a:solidFill>
              <a:prstDash val="solid"/>
              <a:round/>
              <a:headEnd type="none" w="med" len="med"/>
              <a:tailEnd type="triangle"/>
            </a:ln>
            <a:effectLst/>
          </p:spPr>
        </p:cxnSp>
        <p:cxnSp>
          <p:nvCxnSpPr>
            <p:cNvPr id="99" name="Elbow Connector 98"/>
            <p:cNvCxnSpPr>
              <a:stCxn id="82" idx="3"/>
              <a:endCxn id="59" idx="1"/>
            </p:cNvCxnSpPr>
            <p:nvPr/>
          </p:nvCxnSpPr>
          <p:spPr bwMode="auto">
            <a:xfrm>
              <a:off x="3119846" y="4757712"/>
              <a:ext cx="952183" cy="253455"/>
            </a:xfrm>
            <a:prstGeom prst="bentConnector3">
              <a:avLst>
                <a:gd name="adj1" fmla="val 50000"/>
              </a:avLst>
            </a:prstGeom>
            <a:gradFill rotWithShape="1">
              <a:gsLst>
                <a:gs pos="0">
                  <a:srgbClr val="808080"/>
                </a:gs>
                <a:gs pos="50000">
                  <a:srgbClr val="333333"/>
                </a:gs>
                <a:gs pos="100000">
                  <a:srgbClr val="808080"/>
                </a:gs>
              </a:gsLst>
              <a:lin ang="0" scaled="1"/>
            </a:gradFill>
            <a:ln w="50800" cap="flat" cmpd="sng" algn="ctr">
              <a:solidFill>
                <a:srgbClr val="7030A0"/>
              </a:solidFill>
              <a:prstDash val="solid"/>
              <a:round/>
              <a:headEnd type="none" w="med" len="med"/>
              <a:tailEnd type="triangle"/>
            </a:ln>
            <a:effectLst/>
          </p:spPr>
        </p:cxnSp>
        <p:cxnSp>
          <p:nvCxnSpPr>
            <p:cNvPr id="38" name="Elbow Connector 37"/>
            <p:cNvCxnSpPr>
              <a:stCxn id="52" idx="1"/>
              <a:endCxn id="59" idx="3"/>
            </p:cNvCxnSpPr>
            <p:nvPr/>
          </p:nvCxnSpPr>
          <p:spPr bwMode="auto">
            <a:xfrm rot="10800000" flipV="1">
              <a:off x="5077870" y="4757711"/>
              <a:ext cx="946285" cy="253455"/>
            </a:xfrm>
            <a:prstGeom prst="bentConnector3">
              <a:avLst>
                <a:gd name="adj1" fmla="val 50000"/>
              </a:avLst>
            </a:prstGeom>
            <a:gradFill rotWithShape="1">
              <a:gsLst>
                <a:gs pos="0">
                  <a:srgbClr val="808080"/>
                </a:gs>
                <a:gs pos="50000">
                  <a:srgbClr val="333333"/>
                </a:gs>
                <a:gs pos="100000">
                  <a:srgbClr val="808080"/>
                </a:gs>
              </a:gsLst>
              <a:lin ang="0" scaled="1"/>
            </a:gradFill>
            <a:ln w="50800" cap="flat" cmpd="sng" algn="ctr">
              <a:solidFill>
                <a:srgbClr val="7030A0"/>
              </a:solidFill>
              <a:prstDash val="solid"/>
              <a:round/>
              <a:headEnd type="none" w="med" len="med"/>
              <a:tailEnd type="triangle"/>
            </a:ln>
            <a:effectLst/>
          </p:spPr>
        </p:cxnSp>
        <p:grpSp>
          <p:nvGrpSpPr>
            <p:cNvPr id="6" name="Group 83"/>
            <p:cNvGrpSpPr/>
            <p:nvPr/>
          </p:nvGrpSpPr>
          <p:grpSpPr>
            <a:xfrm>
              <a:off x="1016726" y="4277470"/>
              <a:ext cx="2103120" cy="640080"/>
              <a:chOff x="820711" y="4770119"/>
              <a:chExt cx="2103120" cy="640080"/>
            </a:xfrm>
          </p:grpSpPr>
          <p:sp>
            <p:nvSpPr>
              <p:cNvPr id="81" name="Rounded Rectangle 80"/>
              <p:cNvSpPr/>
              <p:nvPr/>
            </p:nvSpPr>
            <p:spPr>
              <a:xfrm>
                <a:off x="820711" y="4770119"/>
                <a:ext cx="2103120" cy="640080"/>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Memory</a:t>
                </a:r>
                <a:endParaRPr lang="en-US" sz="1400" dirty="0">
                  <a:solidFill>
                    <a:schemeClr val="tx1"/>
                  </a:solidFill>
                </a:endParaRPr>
              </a:p>
            </p:txBody>
          </p:sp>
          <p:sp>
            <p:nvSpPr>
              <p:cNvPr id="82" name="Rounded Rectangle 81"/>
              <p:cNvSpPr/>
              <p:nvPr/>
            </p:nvSpPr>
            <p:spPr>
              <a:xfrm>
                <a:off x="820711" y="5090522"/>
                <a:ext cx="2103120" cy="319677"/>
              </a:xfrm>
              <a:prstGeom prst="roundRect">
                <a:avLst>
                  <a:gd name="adj" fmla="val 12141"/>
                </a:avLst>
              </a:prstGeom>
              <a:noFill/>
              <a:ln/>
            </p:spPr>
            <p:style>
              <a:lnRef idx="0">
                <a:schemeClr val="accent1"/>
              </a:lnRef>
              <a:fillRef idx="3">
                <a:schemeClr val="accent1"/>
              </a:fillRef>
              <a:effectRef idx="3">
                <a:schemeClr val="accent1"/>
              </a:effectRef>
              <a:fontRef idx="minor">
                <a:schemeClr val="lt1"/>
              </a:fontRef>
            </p:style>
            <p:txBody>
              <a:bodyPr rtlCol="0" anchor="ctr" anchorCtr="0"/>
              <a:lstStyle/>
              <a:p>
                <a:pPr algn="r"/>
                <a:r>
                  <a:rPr lang="en-US" sz="900" dirty="0" smtClean="0">
                    <a:solidFill>
                      <a:schemeClr val="tx1"/>
                    </a:solidFill>
                  </a:rPr>
                  <a:t>Data</a:t>
                </a:r>
                <a:endParaRPr lang="en-US" sz="900" dirty="0">
                  <a:solidFill>
                    <a:schemeClr val="tx1"/>
                  </a:solidFill>
                </a:endParaRPr>
              </a:p>
            </p:txBody>
          </p:sp>
          <p:sp>
            <p:nvSpPr>
              <p:cNvPr id="83" name="Rounded Rectangle 82"/>
              <p:cNvSpPr/>
              <p:nvPr/>
            </p:nvSpPr>
            <p:spPr>
              <a:xfrm>
                <a:off x="820711" y="4770119"/>
                <a:ext cx="2103120" cy="319677"/>
              </a:xfrm>
              <a:prstGeom prst="roundRect">
                <a:avLst>
                  <a:gd name="adj" fmla="val 12141"/>
                </a:avLst>
              </a:prstGeom>
              <a:noFill/>
              <a:ln/>
            </p:spPr>
            <p:style>
              <a:lnRef idx="0">
                <a:schemeClr val="accent1"/>
              </a:lnRef>
              <a:fillRef idx="3">
                <a:schemeClr val="accent1"/>
              </a:fillRef>
              <a:effectRef idx="3">
                <a:schemeClr val="accent1"/>
              </a:effectRef>
              <a:fontRef idx="minor">
                <a:schemeClr val="lt1"/>
              </a:fontRef>
            </p:style>
            <p:txBody>
              <a:bodyPr rtlCol="0" anchor="ctr" anchorCtr="0"/>
              <a:lstStyle/>
              <a:p>
                <a:pPr algn="r"/>
                <a:r>
                  <a:rPr lang="en-US" sz="900" dirty="0" smtClean="0">
                    <a:solidFill>
                      <a:schemeClr val="tx1"/>
                    </a:solidFill>
                  </a:rPr>
                  <a:t>Address</a:t>
                </a:r>
                <a:endParaRPr lang="en-US" sz="900" dirty="0">
                  <a:solidFill>
                    <a:schemeClr val="tx1"/>
                  </a:solidFill>
                </a:endParaRPr>
              </a:p>
            </p:txBody>
          </p:sp>
        </p:grpSp>
        <p:sp>
          <p:nvSpPr>
            <p:cNvPr id="59" name="Rectangle 43"/>
            <p:cNvSpPr>
              <a:spLocks noChangeArrowheads="1"/>
            </p:cNvSpPr>
            <p:nvPr/>
          </p:nvSpPr>
          <p:spPr bwMode="auto">
            <a:xfrm>
              <a:off x="4072029" y="4691127"/>
              <a:ext cx="1005840" cy="640080"/>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marL="182880" indent="-182880" algn="ctr"/>
              <a:r>
                <a:rPr lang="en-US" sz="1600" b="1" dirty="0" smtClean="0">
                  <a:solidFill>
                    <a:schemeClr val="bg1"/>
                  </a:solidFill>
                </a:rPr>
                <a:t>CRC</a:t>
              </a:r>
            </a:p>
          </p:txBody>
        </p:sp>
        <p:grpSp>
          <p:nvGrpSpPr>
            <p:cNvPr id="55" name="Group 54"/>
            <p:cNvGrpSpPr/>
            <p:nvPr/>
          </p:nvGrpSpPr>
          <p:grpSpPr>
            <a:xfrm>
              <a:off x="6024154" y="4277470"/>
              <a:ext cx="2103120" cy="640080"/>
              <a:chOff x="5719283" y="5434148"/>
              <a:chExt cx="2103120" cy="640080"/>
            </a:xfrm>
          </p:grpSpPr>
          <p:sp>
            <p:nvSpPr>
              <p:cNvPr id="51" name="Rounded Rectangle 50"/>
              <p:cNvSpPr/>
              <p:nvPr/>
            </p:nvSpPr>
            <p:spPr>
              <a:xfrm>
                <a:off x="5719283" y="5434148"/>
                <a:ext cx="2103120" cy="640080"/>
              </a:xfrm>
              <a:prstGeom prst="roundRect">
                <a:avLst>
                  <a:gd name="adj" fmla="val 12141"/>
                </a:avLst>
              </a:prstGeom>
              <a:solidFill>
                <a:schemeClr val="bg1">
                  <a:lumMod val="85000"/>
                </a:schemeClr>
              </a:solidFill>
              <a:ln/>
            </p:spPr>
            <p:style>
              <a:lnRef idx="0">
                <a:schemeClr val="accent1"/>
              </a:lnRef>
              <a:fillRef idx="3">
                <a:schemeClr val="accent1"/>
              </a:fillRef>
              <a:effectRef idx="3">
                <a:schemeClr val="accent1"/>
              </a:effectRef>
              <a:fontRef idx="minor">
                <a:schemeClr val="lt1"/>
              </a:fontRef>
            </p:style>
            <p:txBody>
              <a:bodyPr rtlCol="0" anchor="ctr" anchorCtr="1"/>
              <a:lstStyle/>
              <a:p>
                <a:pPr algn="ctr"/>
                <a:r>
                  <a:rPr lang="en-US" sz="1400" dirty="0" smtClean="0">
                    <a:solidFill>
                      <a:schemeClr val="tx1"/>
                    </a:solidFill>
                  </a:rPr>
                  <a:t>Communications</a:t>
                </a:r>
                <a:endParaRPr lang="en-US" sz="1400" dirty="0">
                  <a:solidFill>
                    <a:schemeClr val="tx1"/>
                  </a:solidFill>
                </a:endParaRPr>
              </a:p>
            </p:txBody>
          </p:sp>
          <p:sp>
            <p:nvSpPr>
              <p:cNvPr id="52" name="Rounded Rectangle 51"/>
              <p:cNvSpPr/>
              <p:nvPr/>
            </p:nvSpPr>
            <p:spPr>
              <a:xfrm>
                <a:off x="5719283" y="5754551"/>
                <a:ext cx="2103120" cy="319677"/>
              </a:xfrm>
              <a:prstGeom prst="roundRect">
                <a:avLst>
                  <a:gd name="adj" fmla="val 12141"/>
                </a:avLst>
              </a:prstGeom>
              <a:noFill/>
              <a:ln/>
            </p:spPr>
            <p:style>
              <a:lnRef idx="0">
                <a:schemeClr val="accent1"/>
              </a:lnRef>
              <a:fillRef idx="3">
                <a:schemeClr val="accent1"/>
              </a:fillRef>
              <a:effectRef idx="3">
                <a:schemeClr val="accent1"/>
              </a:effectRef>
              <a:fontRef idx="minor">
                <a:schemeClr val="lt1"/>
              </a:fontRef>
            </p:style>
            <p:txBody>
              <a:bodyPr rtlCol="0" anchor="ctr" anchorCtr="0"/>
              <a:lstStyle/>
              <a:p>
                <a:r>
                  <a:rPr lang="en-US" sz="900" dirty="0" smtClean="0">
                    <a:solidFill>
                      <a:schemeClr val="tx1"/>
                    </a:solidFill>
                  </a:rPr>
                  <a:t>Data</a:t>
                </a:r>
                <a:endParaRPr lang="en-US" sz="900" dirty="0">
                  <a:solidFill>
                    <a:schemeClr val="tx1"/>
                  </a:solidFill>
                </a:endParaRPr>
              </a:p>
            </p:txBody>
          </p:sp>
        </p:grpSp>
        <p:sp>
          <p:nvSpPr>
            <p:cNvPr id="60" name="Rectangle 43"/>
            <p:cNvSpPr>
              <a:spLocks noChangeArrowheads="1"/>
            </p:cNvSpPr>
            <p:nvPr/>
          </p:nvSpPr>
          <p:spPr bwMode="auto">
            <a:xfrm>
              <a:off x="4072029" y="3863812"/>
              <a:ext cx="1005840" cy="640080"/>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marL="182880" indent="-182880" algn="ctr"/>
              <a:r>
                <a:rPr lang="en-US" sz="1600" b="1" dirty="0" smtClean="0">
                  <a:solidFill>
                    <a:schemeClr val="bg1"/>
                  </a:solidFill>
                </a:rPr>
                <a:t>SCAN</a:t>
              </a:r>
            </a:p>
          </p:txBody>
        </p:sp>
        <p:sp>
          <p:nvSpPr>
            <p:cNvPr id="19" name="Down Arrow 18"/>
            <p:cNvSpPr/>
            <p:nvPr/>
          </p:nvSpPr>
          <p:spPr>
            <a:xfrm>
              <a:off x="4110586" y="5361218"/>
              <a:ext cx="914400" cy="1271016"/>
            </a:xfrm>
            <a:prstGeom prst="downArrow">
              <a:avLst/>
            </a:prstGeom>
            <a:gradFill flip="none" rotWithShape="1">
              <a:gsLst>
                <a:gs pos="0">
                  <a:schemeClr val="accent6">
                    <a:lumMod val="60000"/>
                    <a:lumOff val="40000"/>
                    <a:alpha val="0"/>
                  </a:schemeClr>
                </a:gs>
                <a:gs pos="100000">
                  <a:schemeClr val="accent6">
                    <a:lumMod val="60000"/>
                    <a:lumOff val="40000"/>
                  </a:schemeClr>
                </a:gs>
              </a:gsLst>
              <a:lin ang="5400000" scaled="1"/>
              <a:tileRect/>
            </a:gradFill>
            <a:ln w="25400" cap="flat" cmpd="sng" algn="ctr">
              <a:noFill/>
              <a:prstDash val="solid"/>
              <a:round/>
              <a:headEnd type="none" w="med" len="med"/>
              <a:tailEnd type="none" w="med" len="med"/>
            </a:ln>
            <a:effectLst/>
          </p:spPr>
          <p:txBody>
            <a:bodyPr vert="vert270" wrap="square" lIns="0" tIns="0" rIns="0" bIns="0" numCol="1" rtlCol="0" anchor="ctr" anchorCtr="1" compatLnSpc="1">
              <a:prstTxWarp prst="textNoShape">
                <a:avLst/>
              </a:prstTxWarp>
              <a:spAutoFit/>
            </a:bodyPr>
            <a:lstStyle/>
            <a:p>
              <a:r>
                <a:rPr lang="en-US" sz="1400" b="1" spc="50" dirty="0" smtClean="0">
                  <a:ln w="12700" cmpd="sng">
                    <a:noFill/>
                    <a:prstDash val="solid"/>
                  </a:ln>
                  <a:solidFill>
                    <a:schemeClr val="accent6">
                      <a:tint val="1000"/>
                    </a:schemeClr>
                  </a:solidFill>
                  <a:effectLst>
                    <a:glow rad="53100">
                      <a:schemeClr val="accent6">
                        <a:satMod val="180000"/>
                        <a:alpha val="30000"/>
                      </a:schemeClr>
                    </a:glow>
                  </a:effectLst>
                </a:rPr>
                <a:t>Checksum</a:t>
              </a:r>
              <a:endParaRPr lang="en-US" sz="1400" b="1" spc="50" dirty="0" smtClean="0">
                <a:ln w="12700" cmpd="sng">
                  <a:noFill/>
                  <a:prstDash val="solid"/>
                </a:ln>
                <a:solidFill>
                  <a:schemeClr val="accent6">
                    <a:tint val="1000"/>
                  </a:schemeClr>
                </a:solidFill>
                <a:effectLst>
                  <a:glow rad="53100">
                    <a:schemeClr val="accent6">
                      <a:satMod val="180000"/>
                      <a:alpha val="30000"/>
                    </a:schemeClr>
                  </a:glow>
                </a:effectLst>
                <a:latin typeface="Arial" pitchFamily="34" charset="0"/>
                <a:ea typeface="ＭＳ Ｐゴシック" pitchFamily="34" charset="-128"/>
              </a:endParaRPr>
            </a:p>
          </p:txBody>
        </p:sp>
      </p:grpSp>
    </p:spTree>
    <p:extLst>
      <p:ext uri="{BB962C8B-B14F-4D97-AF65-F5344CB8AC3E}">
        <p14:creationId xmlns:p14="http://schemas.microsoft.com/office/powerpoint/2010/main" xmlns="" val="2844851639"/>
      </p:ext>
    </p:extLst>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itle 1"/>
          <p:cNvSpPr txBox="1">
            <a:spLocks/>
          </p:cNvSpPr>
          <p:nvPr/>
        </p:nvSpPr>
        <p:spPr>
          <a:xfrm>
            <a:off x="1905000" y="198438"/>
            <a:ext cx="6781800" cy="868362"/>
          </a:xfrm>
          <a:prstGeom prst="rect">
            <a:avLst/>
          </a:prstGeom>
        </p:spPr>
        <p:txBody>
          <a:bodyPr anchor="ctr" anchorCtr="0"/>
          <a:lstStyle/>
          <a:p>
            <a:pPr lvl="0" algn="ct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Windowed Watch</a:t>
            </a:r>
            <a:r>
              <a:rPr kumimoji="0" lang="en-US" sz="3600" b="1" i="0" u="none" strike="noStrike" kern="0" cap="none" spc="0" normalizeH="0" noProof="0" dirty="0" smtClean="0">
                <a:ln>
                  <a:noFill/>
                </a:ln>
                <a:effectLst/>
                <a:uLnTx/>
                <a:uFillTx/>
                <a:latin typeface="+mj-lt"/>
                <a:ea typeface="ＭＳ Ｐゴシック" pitchFamily="34" charset="-128"/>
                <a:cs typeface="ＭＳ Ｐゴシック" charset="0"/>
              </a:rPr>
              <a:t> D</a:t>
            </a: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og Timer</a:t>
            </a:r>
          </a:p>
          <a:p>
            <a:pPr lvl="0" algn="ctr"/>
            <a:r>
              <a:rPr lang="en-US" sz="2000" dirty="0" smtClean="0">
                <a:cs typeface="ＭＳ Ｐゴシック" charset="0"/>
              </a:rPr>
              <a:t>System Supervisory Circuit</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
        <p:nvSpPr>
          <p:cNvPr id="3" name="Rectangle 3"/>
          <p:cNvSpPr>
            <a:spLocks noChangeArrowheads="1"/>
          </p:cNvSpPr>
          <p:nvPr/>
        </p:nvSpPr>
        <p:spPr bwMode="auto">
          <a:xfrm>
            <a:off x="130628" y="1223039"/>
            <a:ext cx="4920343"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Windowed Watch Dog Timer (WWDT)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Detects software timing anomalies within a configurable critical window</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Supports standard watch dog timer functions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Resets the CPU if…</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rPr>
              <a:t>the WWDT overflows (standard WDT function)</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the WWDT underflows</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Clr>
                <a:schemeClr val="tx1"/>
              </a:buClr>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p:txBody>
      </p:sp>
      <p:sp>
        <p:nvSpPr>
          <p:cNvPr id="4" name="Rectangle 3"/>
          <p:cNvSpPr>
            <a:spLocks noChangeArrowheads="1"/>
          </p:cNvSpPr>
          <p:nvPr/>
        </p:nvSpPr>
        <p:spPr bwMode="auto">
          <a:xfrm>
            <a:off x="5394960" y="1223039"/>
            <a:ext cx="3557311"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Monitors timing-critical functions</a:t>
            </a:r>
          </a:p>
          <a:p>
            <a:pPr marL="347663" lvl="1" indent="-347663"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Eases implementation of safety standards (e.g. Class B, UL, etc.)</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 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low-power SLEEP</a:t>
            </a: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Dishwashers</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Ovens / microwaves</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Laundry equipment</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Power tools</a:t>
            </a:r>
          </a:p>
          <a:p>
            <a:pPr marL="347663" lvl="1" indent="-347663" eaLnBrk="0" hangingPunct="0">
              <a:lnSpc>
                <a:spcPct val="80000"/>
              </a:lnSpc>
              <a:spcBef>
                <a:spcPct val="20000"/>
              </a:spcBef>
              <a:buSzPct val="70000"/>
              <a:defRPr/>
            </a:pPr>
            <a:endParaRPr lang="en-US" sz="1400" b="1" dirty="0">
              <a:solidFill>
                <a:schemeClr val="accent2"/>
              </a:solidFill>
              <a:latin typeface="Arial" charset="0"/>
              <a:ea typeface="+mn-ea"/>
            </a:endParaRPr>
          </a:p>
        </p:txBody>
      </p:sp>
      <p:grpSp>
        <p:nvGrpSpPr>
          <p:cNvPr id="79" name="Group 78"/>
          <p:cNvGrpSpPr/>
          <p:nvPr/>
        </p:nvGrpSpPr>
        <p:grpSpPr>
          <a:xfrm>
            <a:off x="1003344" y="3645435"/>
            <a:ext cx="7378655" cy="2973590"/>
            <a:chOff x="758390" y="3512701"/>
            <a:chExt cx="7378655" cy="2973590"/>
          </a:xfrm>
        </p:grpSpPr>
        <p:sp>
          <p:nvSpPr>
            <p:cNvPr id="7" name="Rectangle 6"/>
            <p:cNvSpPr/>
            <p:nvPr/>
          </p:nvSpPr>
          <p:spPr bwMode="auto">
            <a:xfrm>
              <a:off x="2194066" y="3770317"/>
              <a:ext cx="4391237" cy="654911"/>
            </a:xfrm>
            <a:prstGeom prst="rect">
              <a:avLst/>
            </a:prstGeom>
            <a:solidFill>
              <a:srgbClr val="FF9797"/>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Overflow</a:t>
              </a:r>
              <a:endParaRPr kumimoji="0" lang="en-US" sz="1400" b="0" i="0" u="none" strike="noStrike" cap="none" normalizeH="0" baseline="0" dirty="0">
                <a:ln>
                  <a:noFill/>
                </a:ln>
                <a:solidFill>
                  <a:schemeClr val="tx1"/>
                </a:solidFill>
                <a:effectLst/>
                <a:latin typeface="Arial" charset="0"/>
              </a:endParaRPr>
            </a:p>
          </p:txBody>
        </p:sp>
        <p:sp>
          <p:nvSpPr>
            <p:cNvPr id="8" name="Rectangle 7"/>
            <p:cNvSpPr/>
            <p:nvPr/>
          </p:nvSpPr>
          <p:spPr bwMode="auto">
            <a:xfrm>
              <a:off x="2194066" y="4423283"/>
              <a:ext cx="4391237" cy="654911"/>
            </a:xfrm>
            <a:prstGeom prst="rect">
              <a:avLst/>
            </a:prstGeom>
            <a:solidFill>
              <a:srgbClr val="92D050">
                <a:alpha val="71000"/>
              </a:srgbClr>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Normal Operation</a:t>
              </a:r>
              <a:endParaRPr kumimoji="0" lang="en-US" sz="1400" b="0" i="0" u="none" strike="noStrike" cap="none" normalizeH="0" baseline="0" dirty="0">
                <a:ln>
                  <a:noFill/>
                </a:ln>
                <a:solidFill>
                  <a:schemeClr val="tx1"/>
                </a:solidFill>
                <a:effectLst/>
                <a:latin typeface="Arial" charset="0"/>
              </a:endParaRPr>
            </a:p>
          </p:txBody>
        </p:sp>
        <p:sp>
          <p:nvSpPr>
            <p:cNvPr id="10" name="Rectangle 9"/>
            <p:cNvSpPr/>
            <p:nvPr/>
          </p:nvSpPr>
          <p:spPr bwMode="auto">
            <a:xfrm>
              <a:off x="2194066" y="5076247"/>
              <a:ext cx="4391237" cy="654911"/>
            </a:xfrm>
            <a:prstGeom prst="rect">
              <a:avLst/>
            </a:prstGeom>
            <a:solidFill>
              <a:srgbClr val="FF9797"/>
            </a:solidFill>
            <a:ln w="254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Underflow</a:t>
              </a:r>
              <a:endParaRPr kumimoji="0" lang="en-US" sz="1400" b="0" i="0" u="none" strike="noStrike" cap="none" normalizeH="0" baseline="0" dirty="0">
                <a:ln>
                  <a:noFill/>
                </a:ln>
                <a:solidFill>
                  <a:schemeClr val="tx1"/>
                </a:solidFill>
                <a:effectLst/>
                <a:latin typeface="Arial" charset="0"/>
              </a:endParaRPr>
            </a:p>
          </p:txBody>
        </p:sp>
        <p:sp>
          <p:nvSpPr>
            <p:cNvPr id="17" name="Text Box 26"/>
            <p:cNvSpPr txBox="1">
              <a:spLocks noChangeArrowheads="1"/>
            </p:cNvSpPr>
            <p:nvPr/>
          </p:nvSpPr>
          <p:spPr bwMode="auto">
            <a:xfrm>
              <a:off x="5955394" y="5754410"/>
              <a:ext cx="653914" cy="275545"/>
            </a:xfrm>
            <a:prstGeom prst="rect">
              <a:avLst/>
            </a:prstGeom>
            <a:noFill/>
            <a:ln w="9525" algn="ctr">
              <a:noFill/>
              <a:miter lim="800000"/>
              <a:headEnd/>
              <a:tailEnd/>
            </a:ln>
            <a:effectLst/>
          </p:spPr>
          <p:txBody>
            <a:bodyPr wrap="none">
              <a:spAutoFit/>
            </a:bodyPr>
            <a:lstStyle/>
            <a:p>
              <a:pPr algn="ctr"/>
              <a:r>
                <a:rPr lang="en-US" sz="1400" b="1" dirty="0" smtClean="0"/>
                <a:t>Time</a:t>
              </a:r>
              <a:endParaRPr lang="en-US" sz="1400" b="1" dirty="0"/>
            </a:p>
          </p:txBody>
        </p:sp>
        <p:sp>
          <p:nvSpPr>
            <p:cNvPr id="18" name="Text Box 26"/>
            <p:cNvSpPr txBox="1">
              <a:spLocks noChangeArrowheads="1"/>
            </p:cNvSpPr>
            <p:nvPr/>
          </p:nvSpPr>
          <p:spPr bwMode="auto">
            <a:xfrm rot="16200000">
              <a:off x="1417266" y="4450085"/>
              <a:ext cx="1146724" cy="335556"/>
            </a:xfrm>
            <a:prstGeom prst="rect">
              <a:avLst/>
            </a:prstGeom>
            <a:noFill/>
            <a:ln w="9525" algn="ctr">
              <a:noFill/>
              <a:miter lim="800000"/>
              <a:headEnd/>
              <a:tailEnd/>
            </a:ln>
            <a:effectLst/>
          </p:spPr>
          <p:txBody>
            <a:bodyPr wrap="none">
              <a:spAutoFit/>
            </a:bodyPr>
            <a:lstStyle/>
            <a:p>
              <a:pPr algn="ctr"/>
              <a:r>
                <a:rPr lang="en-US" sz="1400" b="1" dirty="0" smtClean="0"/>
                <a:t>WWDT Value</a:t>
              </a:r>
              <a:endParaRPr lang="en-US" sz="1400" b="1" dirty="0"/>
            </a:p>
          </p:txBody>
        </p:sp>
        <p:cxnSp>
          <p:nvCxnSpPr>
            <p:cNvPr id="27" name="Straight Connector 26"/>
            <p:cNvCxnSpPr>
              <a:cxnSpLocks/>
            </p:cNvCxnSpPr>
            <p:nvPr/>
          </p:nvCxnSpPr>
          <p:spPr bwMode="auto">
            <a:xfrm flipV="1">
              <a:off x="2828444" y="4673471"/>
              <a:ext cx="0" cy="1064230"/>
            </a:xfrm>
            <a:prstGeom prst="line">
              <a:avLst/>
            </a:prstGeom>
            <a:gradFill rotWithShape="1">
              <a:gsLst>
                <a:gs pos="0">
                  <a:srgbClr val="808080"/>
                </a:gs>
                <a:gs pos="50000">
                  <a:srgbClr val="333333"/>
                </a:gs>
                <a:gs pos="100000">
                  <a:srgbClr val="808080"/>
                </a:gs>
              </a:gsLst>
              <a:lin ang="0" scaled="1"/>
            </a:gradFill>
            <a:ln w="22225" cap="flat" cmpd="sng" algn="ctr">
              <a:solidFill>
                <a:srgbClr val="7030A0"/>
              </a:solidFill>
              <a:prstDash val="sysDot"/>
              <a:miter lim="800000"/>
              <a:headEnd type="none" w="med" len="med"/>
              <a:tailEnd type="none"/>
            </a:ln>
            <a:effectLst/>
          </p:spPr>
        </p:cxnSp>
        <p:cxnSp>
          <p:nvCxnSpPr>
            <p:cNvPr id="29" name="Straight Connector 28"/>
            <p:cNvCxnSpPr>
              <a:cxnSpLocks/>
            </p:cNvCxnSpPr>
            <p:nvPr/>
          </p:nvCxnSpPr>
          <p:spPr bwMode="auto">
            <a:xfrm flipV="1">
              <a:off x="3769879" y="4107089"/>
              <a:ext cx="0" cy="1637277"/>
            </a:xfrm>
            <a:prstGeom prst="line">
              <a:avLst/>
            </a:prstGeom>
            <a:gradFill rotWithShape="1">
              <a:gsLst>
                <a:gs pos="0">
                  <a:srgbClr val="808080"/>
                </a:gs>
                <a:gs pos="50000">
                  <a:srgbClr val="333333"/>
                </a:gs>
                <a:gs pos="100000">
                  <a:srgbClr val="808080"/>
                </a:gs>
              </a:gsLst>
              <a:lin ang="0" scaled="1"/>
            </a:gradFill>
            <a:ln w="22225" cap="flat" cmpd="sng" algn="ctr">
              <a:solidFill>
                <a:srgbClr val="7030A0"/>
              </a:solidFill>
              <a:prstDash val="sysDot"/>
              <a:miter lim="800000"/>
              <a:headEnd type="none" w="med" len="med"/>
              <a:tailEnd type="none"/>
            </a:ln>
            <a:effectLst/>
          </p:spPr>
        </p:cxnSp>
        <p:cxnSp>
          <p:nvCxnSpPr>
            <p:cNvPr id="31" name="Straight Connector 30"/>
            <p:cNvCxnSpPr>
              <a:cxnSpLocks/>
            </p:cNvCxnSpPr>
            <p:nvPr/>
          </p:nvCxnSpPr>
          <p:spPr bwMode="auto">
            <a:xfrm flipV="1">
              <a:off x="4015470" y="5318987"/>
              <a:ext cx="0" cy="409319"/>
            </a:xfrm>
            <a:prstGeom prst="line">
              <a:avLst/>
            </a:prstGeom>
            <a:gradFill rotWithShape="1">
              <a:gsLst>
                <a:gs pos="0">
                  <a:srgbClr val="808080"/>
                </a:gs>
                <a:gs pos="50000">
                  <a:srgbClr val="333333"/>
                </a:gs>
                <a:gs pos="100000">
                  <a:srgbClr val="808080"/>
                </a:gs>
              </a:gsLst>
              <a:lin ang="0" scaled="1"/>
            </a:gradFill>
            <a:ln w="22225" cap="flat" cmpd="sng" algn="ctr">
              <a:solidFill>
                <a:srgbClr val="7030A0"/>
              </a:solidFill>
              <a:prstDash val="sysDot"/>
              <a:miter lim="800000"/>
              <a:headEnd type="none" w="med" len="med"/>
              <a:tailEnd type="none"/>
            </a:ln>
            <a:effectLst/>
          </p:spPr>
        </p:cxnSp>
        <p:cxnSp>
          <p:nvCxnSpPr>
            <p:cNvPr id="33" name="Straight Connector 32"/>
            <p:cNvCxnSpPr>
              <a:cxnSpLocks/>
            </p:cNvCxnSpPr>
            <p:nvPr/>
          </p:nvCxnSpPr>
          <p:spPr bwMode="auto">
            <a:xfrm flipV="1">
              <a:off x="4711313" y="4523071"/>
              <a:ext cx="0" cy="1227958"/>
            </a:xfrm>
            <a:prstGeom prst="line">
              <a:avLst/>
            </a:prstGeom>
            <a:gradFill rotWithShape="1">
              <a:gsLst>
                <a:gs pos="0">
                  <a:srgbClr val="808080"/>
                </a:gs>
                <a:gs pos="50000">
                  <a:srgbClr val="333333"/>
                </a:gs>
                <a:gs pos="100000">
                  <a:srgbClr val="808080"/>
                </a:gs>
              </a:gsLst>
              <a:lin ang="0" scaled="1"/>
            </a:gradFill>
            <a:ln w="22225" cap="flat" cmpd="sng" algn="ctr">
              <a:solidFill>
                <a:srgbClr val="7030A0"/>
              </a:solidFill>
              <a:prstDash val="sysDot"/>
              <a:miter lim="800000"/>
              <a:headEnd type="none" w="med" len="med"/>
              <a:tailEnd type="none"/>
            </a:ln>
            <a:effectLst/>
          </p:spPr>
        </p:cxnSp>
        <p:cxnSp>
          <p:nvCxnSpPr>
            <p:cNvPr id="24" name="Straight Connector 23"/>
            <p:cNvCxnSpPr>
              <a:cxnSpLocks/>
            </p:cNvCxnSpPr>
            <p:nvPr/>
          </p:nvCxnSpPr>
          <p:spPr bwMode="auto">
            <a:xfrm rot="1800000" flipV="1">
              <a:off x="2521455" y="4576966"/>
              <a:ext cx="0" cy="1227958"/>
            </a:xfrm>
            <a:prstGeom prst="line">
              <a:avLst/>
            </a:prstGeom>
            <a:gradFill rotWithShape="1">
              <a:gsLst>
                <a:gs pos="0">
                  <a:srgbClr val="808080"/>
                </a:gs>
                <a:gs pos="50000">
                  <a:srgbClr val="333333"/>
                </a:gs>
                <a:gs pos="100000">
                  <a:srgbClr val="808080"/>
                </a:gs>
              </a:gsLst>
              <a:lin ang="0" scaled="1"/>
            </a:gradFill>
            <a:ln w="50800" cap="rnd" cmpd="sng" algn="ctr">
              <a:solidFill>
                <a:srgbClr val="009900"/>
              </a:solidFill>
              <a:prstDash val="solid"/>
              <a:round/>
              <a:headEnd type="none" w="med" len="med"/>
              <a:tailEnd type="none"/>
            </a:ln>
            <a:effectLst/>
          </p:spPr>
        </p:cxnSp>
        <p:cxnSp>
          <p:nvCxnSpPr>
            <p:cNvPr id="28" name="Straight Connector 27"/>
            <p:cNvCxnSpPr>
              <a:cxnSpLocks/>
            </p:cNvCxnSpPr>
            <p:nvPr/>
          </p:nvCxnSpPr>
          <p:spPr bwMode="auto">
            <a:xfrm rot="1800000" flipV="1">
              <a:off x="3299161" y="3980961"/>
              <a:ext cx="0" cy="1882869"/>
            </a:xfrm>
            <a:prstGeom prst="line">
              <a:avLst/>
            </a:prstGeom>
            <a:gradFill rotWithShape="1">
              <a:gsLst>
                <a:gs pos="0">
                  <a:srgbClr val="808080"/>
                </a:gs>
                <a:gs pos="50000">
                  <a:srgbClr val="333333"/>
                </a:gs>
                <a:gs pos="100000">
                  <a:srgbClr val="808080"/>
                </a:gs>
              </a:gsLst>
              <a:lin ang="0" scaled="1"/>
            </a:gradFill>
            <a:ln w="50800" cap="rnd" cmpd="sng" algn="ctr">
              <a:solidFill>
                <a:srgbClr val="FF0000"/>
              </a:solidFill>
              <a:prstDash val="solid"/>
              <a:round/>
              <a:headEnd type="none" w="med" len="med"/>
              <a:tailEnd type="none"/>
            </a:ln>
            <a:effectLst/>
          </p:spPr>
        </p:cxnSp>
        <p:cxnSp>
          <p:nvCxnSpPr>
            <p:cNvPr id="30" name="Straight Connector 29"/>
            <p:cNvCxnSpPr>
              <a:cxnSpLocks/>
            </p:cNvCxnSpPr>
            <p:nvPr/>
          </p:nvCxnSpPr>
          <p:spPr bwMode="auto">
            <a:xfrm rot="1800000" flipV="1">
              <a:off x="3892674" y="5286085"/>
              <a:ext cx="0" cy="491183"/>
            </a:xfrm>
            <a:prstGeom prst="line">
              <a:avLst/>
            </a:prstGeom>
            <a:gradFill rotWithShape="1">
              <a:gsLst>
                <a:gs pos="0">
                  <a:srgbClr val="808080"/>
                </a:gs>
                <a:gs pos="50000">
                  <a:srgbClr val="333333"/>
                </a:gs>
                <a:gs pos="100000">
                  <a:srgbClr val="808080"/>
                </a:gs>
              </a:gsLst>
              <a:lin ang="0" scaled="1"/>
            </a:gradFill>
            <a:ln w="50800" cap="rnd" cmpd="sng" algn="ctr">
              <a:solidFill>
                <a:srgbClr val="FF0000"/>
              </a:solidFill>
              <a:prstDash val="solid"/>
              <a:round/>
              <a:headEnd type="none" w="med" len="med"/>
              <a:tailEnd type="none"/>
            </a:ln>
            <a:effectLst/>
          </p:spPr>
        </p:cxnSp>
        <p:cxnSp>
          <p:nvCxnSpPr>
            <p:cNvPr id="32" name="Straight Connector 31"/>
            <p:cNvCxnSpPr>
              <a:cxnSpLocks/>
            </p:cNvCxnSpPr>
            <p:nvPr/>
          </p:nvCxnSpPr>
          <p:spPr bwMode="auto">
            <a:xfrm rot="1800000" flipV="1">
              <a:off x="4363391" y="4429846"/>
              <a:ext cx="0" cy="1391686"/>
            </a:xfrm>
            <a:prstGeom prst="line">
              <a:avLst/>
            </a:prstGeom>
            <a:gradFill rotWithShape="1">
              <a:gsLst>
                <a:gs pos="0">
                  <a:srgbClr val="808080"/>
                </a:gs>
                <a:gs pos="50000">
                  <a:srgbClr val="333333"/>
                </a:gs>
                <a:gs pos="100000">
                  <a:srgbClr val="808080"/>
                </a:gs>
              </a:gsLst>
              <a:lin ang="0" scaled="1"/>
            </a:gradFill>
            <a:ln w="50800" cap="rnd" cmpd="sng" algn="ctr">
              <a:solidFill>
                <a:srgbClr val="009900"/>
              </a:solidFill>
              <a:prstDash val="solid"/>
              <a:round/>
              <a:headEnd type="none" w="med" len="med"/>
              <a:tailEnd type="none"/>
            </a:ln>
            <a:effectLst/>
          </p:spPr>
        </p:cxnSp>
        <p:cxnSp>
          <p:nvCxnSpPr>
            <p:cNvPr id="12" name="Straight Arrow Connector 11"/>
            <p:cNvCxnSpPr/>
            <p:nvPr/>
          </p:nvCxnSpPr>
          <p:spPr bwMode="auto">
            <a:xfrm flipV="1">
              <a:off x="2194066" y="5733009"/>
              <a:ext cx="4585876" cy="0"/>
            </a:xfrm>
            <a:prstGeom prst="straightConnector1">
              <a:avLst/>
            </a:prstGeom>
            <a:gradFill rotWithShape="1">
              <a:gsLst>
                <a:gs pos="0">
                  <a:srgbClr val="808080"/>
                </a:gs>
                <a:gs pos="50000">
                  <a:srgbClr val="333333"/>
                </a:gs>
                <a:gs pos="100000">
                  <a:srgbClr val="808080"/>
                </a:gs>
              </a:gsLst>
              <a:lin ang="0" scaled="1"/>
            </a:gradFill>
            <a:ln w="50800" cap="sq" cmpd="sng" algn="ctr">
              <a:solidFill>
                <a:schemeClr val="tx1"/>
              </a:solidFill>
              <a:prstDash val="solid"/>
              <a:miter lim="800000"/>
              <a:headEnd type="none" w="med" len="med"/>
              <a:tailEnd type="triangle"/>
            </a:ln>
            <a:effectLst/>
          </p:spPr>
        </p:cxnSp>
        <p:cxnSp>
          <p:nvCxnSpPr>
            <p:cNvPr id="15" name="Straight Arrow Connector 14"/>
            <p:cNvCxnSpPr/>
            <p:nvPr/>
          </p:nvCxnSpPr>
          <p:spPr bwMode="auto">
            <a:xfrm flipH="1" flipV="1">
              <a:off x="2194066" y="3512701"/>
              <a:ext cx="0" cy="2210324"/>
            </a:xfrm>
            <a:prstGeom prst="straightConnector1">
              <a:avLst/>
            </a:prstGeom>
            <a:gradFill rotWithShape="1">
              <a:gsLst>
                <a:gs pos="0">
                  <a:srgbClr val="808080"/>
                </a:gs>
                <a:gs pos="50000">
                  <a:srgbClr val="333333"/>
                </a:gs>
                <a:gs pos="100000">
                  <a:srgbClr val="808080"/>
                </a:gs>
              </a:gsLst>
              <a:lin ang="0" scaled="1"/>
            </a:gradFill>
            <a:ln w="50800" cap="sq" cmpd="sng" algn="ctr">
              <a:solidFill>
                <a:schemeClr val="tx1"/>
              </a:solidFill>
              <a:prstDash val="solid"/>
              <a:miter lim="800000"/>
              <a:headEnd type="none" w="med" len="med"/>
              <a:tailEnd type="triangle"/>
            </a:ln>
            <a:effectLst/>
          </p:spPr>
        </p:cxnSp>
        <p:cxnSp>
          <p:nvCxnSpPr>
            <p:cNvPr id="35" name="Straight Arrow Connector 34"/>
            <p:cNvCxnSpPr/>
            <p:nvPr/>
          </p:nvCxnSpPr>
          <p:spPr bwMode="auto">
            <a:xfrm rot="10800000" flipV="1">
              <a:off x="2207941" y="5819292"/>
              <a:ext cx="613318" cy="274040"/>
            </a:xfrm>
            <a:prstGeom prst="bentConnector3">
              <a:avLst>
                <a:gd name="adj1" fmla="val -504"/>
              </a:avLst>
            </a:prstGeom>
            <a:gradFill rotWithShape="1">
              <a:gsLst>
                <a:gs pos="0">
                  <a:srgbClr val="808080"/>
                </a:gs>
                <a:gs pos="50000">
                  <a:srgbClr val="333333"/>
                </a:gs>
                <a:gs pos="100000">
                  <a:srgbClr val="808080"/>
                </a:gs>
              </a:gsLst>
              <a:lin ang="0" scaled="1"/>
            </a:gradFill>
            <a:ln w="38100" cap="flat" cmpd="sng" algn="ctr">
              <a:solidFill>
                <a:srgbClr val="009900"/>
              </a:solidFill>
              <a:prstDash val="solid"/>
              <a:round/>
              <a:headEnd type="triangle" w="med" len="med"/>
              <a:tailEnd type="oval"/>
            </a:ln>
            <a:effectLst/>
          </p:spPr>
        </p:cxnSp>
        <p:sp>
          <p:nvSpPr>
            <p:cNvPr id="36" name="TextBox 35"/>
            <p:cNvSpPr txBox="1"/>
            <p:nvPr/>
          </p:nvSpPr>
          <p:spPr>
            <a:xfrm>
              <a:off x="758390" y="5893115"/>
              <a:ext cx="1449552" cy="415498"/>
            </a:xfrm>
            <a:prstGeom prst="rect">
              <a:avLst/>
            </a:prstGeom>
            <a:noFill/>
          </p:spPr>
          <p:txBody>
            <a:bodyPr wrap="square" rtlCol="0">
              <a:spAutoFit/>
            </a:bodyPr>
            <a:lstStyle/>
            <a:p>
              <a:pPr algn="r"/>
              <a:r>
                <a:rPr lang="en-US" sz="1050" b="1" dirty="0" smtClean="0">
                  <a:solidFill>
                    <a:srgbClr val="009900"/>
                  </a:solidFill>
                </a:rPr>
                <a:t>Restart WWDT after </a:t>
              </a:r>
              <a:r>
                <a:rPr lang="en-US" sz="1050" b="1" i="1" dirty="0" smtClean="0">
                  <a:solidFill>
                    <a:srgbClr val="009900"/>
                  </a:solidFill>
                </a:rPr>
                <a:t>proper</a:t>
              </a:r>
              <a:r>
                <a:rPr lang="en-US" sz="1050" b="1" dirty="0" smtClean="0">
                  <a:solidFill>
                    <a:srgbClr val="009900"/>
                  </a:solidFill>
                </a:rPr>
                <a:t> execution</a:t>
              </a:r>
              <a:endParaRPr lang="en-US" sz="1050" dirty="0">
                <a:solidFill>
                  <a:srgbClr val="009900"/>
                </a:solidFill>
              </a:endParaRPr>
            </a:p>
          </p:txBody>
        </p:sp>
        <p:cxnSp>
          <p:nvCxnSpPr>
            <p:cNvPr id="59" name="Straight Arrow Connector 34"/>
            <p:cNvCxnSpPr/>
            <p:nvPr/>
          </p:nvCxnSpPr>
          <p:spPr bwMode="auto">
            <a:xfrm rot="10800000" flipV="1">
              <a:off x="2207942" y="5819292"/>
              <a:ext cx="2507331" cy="275684"/>
            </a:xfrm>
            <a:prstGeom prst="bentConnector3">
              <a:avLst>
                <a:gd name="adj1" fmla="val 16"/>
              </a:avLst>
            </a:prstGeom>
            <a:gradFill rotWithShape="1">
              <a:gsLst>
                <a:gs pos="0">
                  <a:srgbClr val="808080"/>
                </a:gs>
                <a:gs pos="50000">
                  <a:srgbClr val="333333"/>
                </a:gs>
                <a:gs pos="100000">
                  <a:srgbClr val="808080"/>
                </a:gs>
              </a:gsLst>
              <a:lin ang="0" scaled="1"/>
            </a:gradFill>
            <a:ln w="38100" cap="flat" cmpd="sng" algn="ctr">
              <a:solidFill>
                <a:srgbClr val="009900"/>
              </a:solidFill>
              <a:prstDash val="solid"/>
              <a:round/>
              <a:headEnd type="triangle" w="med" len="med"/>
              <a:tailEnd type="oval"/>
            </a:ln>
            <a:effectLst/>
          </p:spPr>
        </p:cxnSp>
        <p:cxnSp>
          <p:nvCxnSpPr>
            <p:cNvPr id="68" name="Straight Arrow Connector 34"/>
            <p:cNvCxnSpPr/>
            <p:nvPr/>
          </p:nvCxnSpPr>
          <p:spPr bwMode="auto">
            <a:xfrm rot="10800000" flipH="1" flipV="1">
              <a:off x="4032514" y="5819292"/>
              <a:ext cx="2240280" cy="457200"/>
            </a:xfrm>
            <a:prstGeom prst="bentConnector3">
              <a:avLst>
                <a:gd name="adj1" fmla="val 28"/>
              </a:avLst>
            </a:prstGeom>
            <a:gradFill rotWithShape="1">
              <a:gsLst>
                <a:gs pos="0">
                  <a:srgbClr val="808080"/>
                </a:gs>
                <a:gs pos="50000">
                  <a:srgbClr val="333333"/>
                </a:gs>
                <a:gs pos="100000">
                  <a:srgbClr val="808080"/>
                </a:gs>
              </a:gsLst>
              <a:lin ang="0" scaled="1"/>
            </a:gradFill>
            <a:ln w="38100" cap="flat" cmpd="sng" algn="ctr">
              <a:solidFill>
                <a:srgbClr val="FF0000"/>
              </a:solidFill>
              <a:prstDash val="solid"/>
              <a:round/>
              <a:headEnd type="triangle" w="med" len="med"/>
              <a:tailEnd type="oval"/>
            </a:ln>
            <a:effectLst/>
          </p:spPr>
        </p:cxnSp>
        <p:sp>
          <p:nvSpPr>
            <p:cNvPr id="69" name="TextBox 68"/>
            <p:cNvSpPr txBox="1"/>
            <p:nvPr/>
          </p:nvSpPr>
          <p:spPr>
            <a:xfrm>
              <a:off x="6277662" y="6070793"/>
              <a:ext cx="1859383" cy="415498"/>
            </a:xfrm>
            <a:prstGeom prst="rect">
              <a:avLst/>
            </a:prstGeom>
            <a:noFill/>
          </p:spPr>
          <p:txBody>
            <a:bodyPr wrap="square" rtlCol="0">
              <a:spAutoFit/>
            </a:bodyPr>
            <a:lstStyle/>
            <a:p>
              <a:r>
                <a:rPr lang="en-US" sz="1050" b="1" dirty="0" smtClean="0">
                  <a:solidFill>
                    <a:srgbClr val="FF0000"/>
                  </a:solidFill>
                </a:rPr>
                <a:t>RESET PIC® MCU after </a:t>
              </a:r>
              <a:r>
                <a:rPr lang="en-US" sz="1050" b="1" i="1" dirty="0" smtClean="0">
                  <a:solidFill>
                    <a:srgbClr val="FF0000"/>
                  </a:solidFill>
                </a:rPr>
                <a:t>improper</a:t>
              </a:r>
              <a:r>
                <a:rPr lang="en-US" sz="1050" b="1" dirty="0" smtClean="0">
                  <a:solidFill>
                    <a:srgbClr val="FF0000"/>
                  </a:solidFill>
                </a:rPr>
                <a:t> execution</a:t>
              </a:r>
              <a:endParaRPr lang="en-US" sz="1050" dirty="0">
                <a:solidFill>
                  <a:srgbClr val="FF0000"/>
                </a:solidFill>
              </a:endParaRPr>
            </a:p>
          </p:txBody>
        </p:sp>
        <p:cxnSp>
          <p:nvCxnSpPr>
            <p:cNvPr id="70" name="Straight Arrow Connector 34"/>
            <p:cNvCxnSpPr/>
            <p:nvPr/>
          </p:nvCxnSpPr>
          <p:spPr bwMode="auto">
            <a:xfrm rot="10800000" flipH="1" flipV="1">
              <a:off x="3765465" y="5819292"/>
              <a:ext cx="2507329" cy="457200"/>
            </a:xfrm>
            <a:prstGeom prst="bentConnector3">
              <a:avLst>
                <a:gd name="adj1" fmla="val -82"/>
              </a:avLst>
            </a:prstGeom>
            <a:gradFill rotWithShape="1">
              <a:gsLst>
                <a:gs pos="0">
                  <a:srgbClr val="808080"/>
                </a:gs>
                <a:gs pos="50000">
                  <a:srgbClr val="333333"/>
                </a:gs>
                <a:gs pos="100000">
                  <a:srgbClr val="808080"/>
                </a:gs>
              </a:gsLst>
              <a:lin ang="0" scaled="1"/>
            </a:gradFill>
            <a:ln w="38100" cap="flat" cmpd="sng" algn="ctr">
              <a:solidFill>
                <a:srgbClr val="FF0000"/>
              </a:solidFill>
              <a:prstDash val="solid"/>
              <a:round/>
              <a:headEnd type="triangle" w="med" len="med"/>
              <a:tailEnd type="oval"/>
            </a:ln>
            <a:effectLst/>
          </p:spPr>
        </p:cxnSp>
      </p:grpSp>
    </p:spTree>
    <p:extLst>
      <p:ext uri="{BB962C8B-B14F-4D97-AF65-F5344CB8AC3E}">
        <p14:creationId xmlns:p14="http://schemas.microsoft.com/office/powerpoint/2010/main" xmlns="" val="1134890358"/>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itle 1"/>
          <p:cNvSpPr txBox="1">
            <a:spLocks/>
          </p:cNvSpPr>
          <p:nvPr/>
        </p:nvSpPr>
        <p:spPr>
          <a:xfrm>
            <a:off x="1905000" y="198438"/>
            <a:ext cx="6781800" cy="868362"/>
          </a:xfrm>
          <a:prstGeom prst="rect">
            <a:avLst/>
          </a:prstGeom>
        </p:spPr>
        <p:txBody>
          <a:bodyPr anchor="ctr" anchorCtr="0"/>
          <a:lstStyle/>
          <a:p>
            <a:pPr lvl="0" algn="ct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Hardware</a:t>
            </a:r>
            <a:r>
              <a:rPr kumimoji="0" lang="en-US" sz="3600" b="1" i="0" u="none" strike="noStrike" kern="0" cap="none" spc="0" normalizeH="0" noProof="0" dirty="0" smtClean="0">
                <a:ln>
                  <a:noFill/>
                </a:ln>
                <a:effectLst/>
                <a:uLnTx/>
                <a:uFillTx/>
                <a:latin typeface="+mj-lt"/>
                <a:ea typeface="ＭＳ Ｐゴシック" pitchFamily="34" charset="-128"/>
                <a:cs typeface="ＭＳ Ｐゴシック" charset="0"/>
              </a:rPr>
              <a:t> Limit Timer</a:t>
            </a: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
            </a:r>
            <a:b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br>
            <a:r>
              <a:rPr lang="en-US" sz="2000" noProof="0" dirty="0" smtClean="0">
                <a:cs typeface="ＭＳ Ｐゴシック" charset="0"/>
              </a:rPr>
              <a:t>Hardware Monitoring &amp; Fault Detection</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
        <p:nvSpPr>
          <p:cNvPr id="3" name="Rectangle 3"/>
          <p:cNvSpPr>
            <a:spLocks noChangeArrowheads="1"/>
          </p:cNvSpPr>
          <p:nvPr/>
        </p:nvSpPr>
        <p:spPr bwMode="auto">
          <a:xfrm>
            <a:off x="130628" y="1223039"/>
            <a:ext cx="4920343"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Hardware Limit Timer (HLT)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Hardware monitoring for missed periodic events and fault detection (stalls, stops, etc.)</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Period timer with external reset input</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Flexible design</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Selectable start of event trigger</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Multiple modes</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Seven available clock sources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Resolution of ¼ instruction cycle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Useable as a general purpose 8-bit timer/counter with external reset capabilities</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Clr>
                <a:schemeClr val="tx1"/>
              </a:buClr>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p:txBody>
      </p:sp>
      <p:sp>
        <p:nvSpPr>
          <p:cNvPr id="4" name="Rectangle 3"/>
          <p:cNvSpPr>
            <a:spLocks noChangeArrowheads="1"/>
          </p:cNvSpPr>
          <p:nvPr/>
        </p:nvSpPr>
        <p:spPr bwMode="auto">
          <a:xfrm>
            <a:off x="5394960" y="1223039"/>
            <a:ext cx="3749040"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Reduces code complexity</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No code for detection set-up</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No code to manage timer</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 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low-power SLEEP</a:t>
            </a: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Safety limit in closed-loop control applications</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Power supplies</a:t>
            </a:r>
          </a:p>
          <a:p>
            <a:pPr marL="804863" lvl="2" indent="-347663" eaLnBrk="0" hangingPunct="0">
              <a:lnSpc>
                <a:spcPct val="80000"/>
              </a:lnSpc>
              <a:spcBef>
                <a:spcPct val="20000"/>
              </a:spcBef>
              <a:buClr>
                <a:schemeClr val="tx1"/>
              </a:buClr>
              <a:buSzPct val="70000"/>
              <a:buFont typeface="Wingdings" charset="2"/>
              <a:buChar char="q"/>
              <a:defRPr/>
            </a:pPr>
            <a:r>
              <a:rPr lang="en-US" sz="1400" dirty="0" smtClean="0">
                <a:latin typeface="Arial" charset="0"/>
              </a:rPr>
              <a:t>Motor driver</a:t>
            </a:r>
          </a:p>
        </p:txBody>
      </p:sp>
      <p:grpSp>
        <p:nvGrpSpPr>
          <p:cNvPr id="22" name="Group 21"/>
          <p:cNvGrpSpPr/>
          <p:nvPr/>
        </p:nvGrpSpPr>
        <p:grpSpPr>
          <a:xfrm>
            <a:off x="1937031" y="4190994"/>
            <a:ext cx="5269938" cy="2106094"/>
            <a:chOff x="1937031" y="4408714"/>
            <a:chExt cx="5269938" cy="2106094"/>
          </a:xfrm>
        </p:grpSpPr>
        <p:cxnSp>
          <p:nvCxnSpPr>
            <p:cNvPr id="30" name="Straight Connector 29"/>
            <p:cNvCxnSpPr>
              <a:stCxn id="14" idx="3"/>
              <a:endCxn id="15" idx="1"/>
            </p:cNvCxnSpPr>
            <p:nvPr/>
          </p:nvCxnSpPr>
          <p:spPr bwMode="auto">
            <a:xfrm flipV="1">
              <a:off x="2942871" y="5325765"/>
              <a:ext cx="439062" cy="0"/>
            </a:xfrm>
            <a:prstGeom prst="line">
              <a:avLst/>
            </a:prstGeom>
            <a:gradFill rotWithShape="1">
              <a:gsLst>
                <a:gs pos="0">
                  <a:srgbClr val="808080"/>
                </a:gs>
                <a:gs pos="50000">
                  <a:srgbClr val="333333"/>
                </a:gs>
                <a:gs pos="100000">
                  <a:srgbClr val="808080"/>
                </a:gs>
              </a:gsLst>
              <a:lin ang="0" scaled="1"/>
            </a:gradFill>
            <a:ln w="15875" cap="flat" cmpd="sng" algn="ctr">
              <a:solidFill>
                <a:schemeClr val="accent2"/>
              </a:solidFill>
              <a:prstDash val="solid"/>
              <a:round/>
              <a:headEnd type="none" w="med" len="med"/>
              <a:tailEnd type="none"/>
            </a:ln>
            <a:effectLst/>
          </p:spPr>
        </p:cxnSp>
        <p:grpSp>
          <p:nvGrpSpPr>
            <p:cNvPr id="5" name="Group 28"/>
            <p:cNvGrpSpPr/>
            <p:nvPr/>
          </p:nvGrpSpPr>
          <p:grpSpPr>
            <a:xfrm>
              <a:off x="3381933" y="5004635"/>
              <a:ext cx="1386566" cy="642259"/>
              <a:chOff x="4180388" y="5018313"/>
              <a:chExt cx="1386566" cy="642259"/>
            </a:xfrm>
          </p:grpSpPr>
          <p:cxnSp>
            <p:nvCxnSpPr>
              <p:cNvPr id="27" name="Straight Connector 26"/>
              <p:cNvCxnSpPr/>
              <p:nvPr/>
            </p:nvCxnSpPr>
            <p:spPr bwMode="auto">
              <a:xfrm>
                <a:off x="5018314" y="5181599"/>
                <a:ext cx="548640" cy="0"/>
              </a:xfrm>
              <a:prstGeom prst="line">
                <a:avLst/>
              </a:prstGeom>
              <a:gradFill rotWithShape="1">
                <a:gsLst>
                  <a:gs pos="0">
                    <a:srgbClr val="808080"/>
                  </a:gs>
                  <a:gs pos="50000">
                    <a:srgbClr val="333333"/>
                  </a:gs>
                  <a:gs pos="100000">
                    <a:srgbClr val="808080"/>
                  </a:gs>
                </a:gsLst>
                <a:lin ang="0" scaled="1"/>
              </a:gradFill>
              <a:ln w="15875" cap="flat" cmpd="sng" algn="ctr">
                <a:solidFill>
                  <a:schemeClr val="accent2"/>
                </a:solidFill>
                <a:prstDash val="solid"/>
                <a:round/>
                <a:headEnd type="none" w="med" len="med"/>
                <a:tailEnd type="none"/>
              </a:ln>
              <a:effectLst/>
            </p:spPr>
          </p:cxnSp>
          <p:cxnSp>
            <p:nvCxnSpPr>
              <p:cNvPr id="28" name="Straight Connector 27"/>
              <p:cNvCxnSpPr/>
              <p:nvPr/>
            </p:nvCxnSpPr>
            <p:spPr bwMode="auto">
              <a:xfrm>
                <a:off x="5018314" y="5497285"/>
                <a:ext cx="548640" cy="0"/>
              </a:xfrm>
              <a:prstGeom prst="line">
                <a:avLst/>
              </a:prstGeom>
              <a:gradFill rotWithShape="1">
                <a:gsLst>
                  <a:gs pos="0">
                    <a:srgbClr val="808080"/>
                  </a:gs>
                  <a:gs pos="50000">
                    <a:srgbClr val="333333"/>
                  </a:gs>
                  <a:gs pos="100000">
                    <a:srgbClr val="808080"/>
                  </a:gs>
                </a:gsLst>
                <a:lin ang="0" scaled="1"/>
              </a:gradFill>
              <a:ln w="15875" cap="flat" cmpd="sng" algn="ctr">
                <a:solidFill>
                  <a:schemeClr val="accent2"/>
                </a:solidFill>
                <a:prstDash val="solid"/>
                <a:round/>
                <a:headEnd type="none" w="med" len="med"/>
                <a:tailEnd type="none"/>
              </a:ln>
              <a:effectLst/>
            </p:spPr>
          </p:cxnSp>
          <p:sp>
            <p:nvSpPr>
              <p:cNvPr id="15" name="Rectangle 14"/>
              <p:cNvSpPr>
                <a:spLocks noChangeArrowheads="1"/>
              </p:cNvSpPr>
              <p:nvPr/>
            </p:nvSpPr>
            <p:spPr bwMode="auto">
              <a:xfrm>
                <a:off x="4180388" y="5018313"/>
                <a:ext cx="1005840" cy="642259"/>
              </a:xfrm>
              <a:prstGeom prst="rect">
                <a:avLst/>
              </a:prstGeom>
              <a:solidFill>
                <a:srgbClr val="7030A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marL="182880" indent="-182880"/>
                <a:r>
                  <a:rPr lang="en-US" sz="1600" b="1" dirty="0" smtClean="0">
                    <a:solidFill>
                      <a:schemeClr val="bg1"/>
                    </a:solidFill>
                    <a:latin typeface="+mn-lt"/>
                    <a:ea typeface="+mn-ea"/>
                  </a:rPr>
                  <a:t>PWM</a:t>
                </a:r>
                <a:endParaRPr lang="en-US" sz="1600" b="1" dirty="0">
                  <a:solidFill>
                    <a:schemeClr val="bg1"/>
                  </a:solidFill>
                  <a:latin typeface="+mn-lt"/>
                  <a:ea typeface="+mn-ea"/>
                </a:endParaRPr>
              </a:p>
            </p:txBody>
          </p:sp>
        </p:grpSp>
        <p:pic>
          <p:nvPicPr>
            <p:cNvPr id="40962" name="Picture 2" descr="http://cdn2.wonderfulengineering.com/wp-content/uploads/2014/04/electric-motor-1.jpg"/>
            <p:cNvPicPr>
              <a:picLocks noChangeAspect="1" noChangeArrowheads="1"/>
            </p:cNvPicPr>
            <p:nvPr/>
          </p:nvPicPr>
          <p:blipFill>
            <a:blip r:embed="rId3" cstate="email">
              <a:extLst>
                <a:ext uri="{28A0092B-C50C-407E-A947-70E740481C1C}">
                  <a14:useLocalDpi xmlns:a14="http://schemas.microsoft.com/office/drawing/2010/main" xmlns=""/>
                </a:ext>
              </a:extLst>
            </a:blip>
            <a:srcRect/>
            <a:stretch>
              <a:fillRect/>
            </a:stretch>
          </p:blipFill>
          <p:spPr bwMode="auto">
            <a:xfrm>
              <a:off x="5023589" y="4408714"/>
              <a:ext cx="2183380" cy="1746704"/>
            </a:xfrm>
            <a:prstGeom prst="rect">
              <a:avLst/>
            </a:prstGeom>
            <a:noFill/>
          </p:spPr>
        </p:pic>
        <p:cxnSp>
          <p:nvCxnSpPr>
            <p:cNvPr id="19" name="Elbow Connector 18"/>
            <p:cNvCxnSpPr>
              <a:stCxn id="14" idx="2"/>
              <a:endCxn id="25" idx="1"/>
            </p:cNvCxnSpPr>
            <p:nvPr/>
          </p:nvCxnSpPr>
          <p:spPr bwMode="auto">
            <a:xfrm rot="16200000" flipH="1">
              <a:off x="3728403" y="4358442"/>
              <a:ext cx="454863" cy="3031766"/>
            </a:xfrm>
            <a:prstGeom prst="bentConnector2">
              <a:avLst/>
            </a:prstGeom>
            <a:gradFill rotWithShape="1">
              <a:gsLst>
                <a:gs pos="0">
                  <a:srgbClr val="808080"/>
                </a:gs>
                <a:gs pos="50000">
                  <a:srgbClr val="333333"/>
                </a:gs>
                <a:gs pos="100000">
                  <a:srgbClr val="808080"/>
                </a:gs>
              </a:gsLst>
              <a:lin ang="0" scaled="1"/>
            </a:gradFill>
            <a:ln w="15875" cap="flat" cmpd="sng" algn="ctr">
              <a:solidFill>
                <a:schemeClr val="accent2"/>
              </a:solidFill>
              <a:prstDash val="solid"/>
              <a:round/>
              <a:headEnd type="none" w="med" len="med"/>
              <a:tailEnd type="none"/>
            </a:ln>
            <a:effectLst/>
          </p:spPr>
        </p:cxnSp>
        <p:sp>
          <p:nvSpPr>
            <p:cNvPr id="25" name="TextBox 1"/>
            <p:cNvSpPr txBox="1">
              <a:spLocks noChangeArrowheads="1"/>
            </p:cNvSpPr>
            <p:nvPr/>
          </p:nvSpPr>
          <p:spPr bwMode="auto">
            <a:xfrm>
              <a:off x="5471717" y="5961293"/>
              <a:ext cx="1295400" cy="280928"/>
            </a:xfrm>
            <a:prstGeom prst="roundRect">
              <a:avLst/>
            </a:prstGeom>
            <a:solidFill>
              <a:schemeClr val="accent5"/>
            </a:solidFill>
            <a:ln w="9525">
              <a:noFill/>
              <a:miter lim="800000"/>
              <a:headEnd/>
              <a:tailEnd/>
            </a:ln>
          </p:spPr>
          <p:txBody>
            <a:bodyPr wrap="square">
              <a:spAutoFit/>
            </a:bodyPr>
            <a:lstStyle/>
            <a:p>
              <a:pPr algn="ctr"/>
              <a:r>
                <a:rPr lang="en-US" sz="1050" dirty="0" smtClean="0">
                  <a:solidFill>
                    <a:schemeClr val="accent6"/>
                  </a:solidFill>
                </a:rPr>
                <a:t>Hall Effect Sensor</a:t>
              </a:r>
              <a:endParaRPr lang="en-US" sz="1050" dirty="0">
                <a:solidFill>
                  <a:schemeClr val="accent6"/>
                </a:solidFill>
              </a:endParaRPr>
            </a:p>
          </p:txBody>
        </p:sp>
        <p:sp>
          <p:nvSpPr>
            <p:cNvPr id="32" name="TextBox 1"/>
            <p:cNvSpPr txBox="1">
              <a:spLocks noChangeArrowheads="1"/>
            </p:cNvSpPr>
            <p:nvPr/>
          </p:nvSpPr>
          <p:spPr bwMode="auto">
            <a:xfrm rot="5400000">
              <a:off x="4553769" y="5097004"/>
              <a:ext cx="729656" cy="459700"/>
            </a:xfrm>
            <a:prstGeom prst="roundRect">
              <a:avLst/>
            </a:prstGeom>
            <a:solidFill>
              <a:schemeClr val="accent5"/>
            </a:solidFill>
            <a:ln w="9525">
              <a:noFill/>
              <a:miter lim="800000"/>
              <a:headEnd/>
              <a:tailEnd/>
            </a:ln>
          </p:spPr>
          <p:txBody>
            <a:bodyPr wrap="square" anchor="ctr" anchorCtr="1">
              <a:spAutoFit/>
            </a:bodyPr>
            <a:lstStyle/>
            <a:p>
              <a:pPr algn="ctr"/>
              <a:r>
                <a:rPr lang="en-US" sz="1050" dirty="0" smtClean="0">
                  <a:solidFill>
                    <a:schemeClr val="accent6"/>
                  </a:solidFill>
                </a:rPr>
                <a:t>FET Drivers</a:t>
              </a:r>
              <a:endParaRPr lang="en-US" sz="1050" dirty="0">
                <a:solidFill>
                  <a:schemeClr val="accent6"/>
                </a:solidFill>
              </a:endParaRPr>
            </a:p>
          </p:txBody>
        </p:sp>
        <p:sp>
          <p:nvSpPr>
            <p:cNvPr id="16" name="Text Box 26"/>
            <p:cNvSpPr txBox="1">
              <a:spLocks noChangeArrowheads="1"/>
            </p:cNvSpPr>
            <p:nvPr/>
          </p:nvSpPr>
          <p:spPr bwMode="auto">
            <a:xfrm>
              <a:off x="2988875" y="6268587"/>
              <a:ext cx="3166251" cy="246221"/>
            </a:xfrm>
            <a:prstGeom prst="rect">
              <a:avLst/>
            </a:prstGeom>
            <a:noFill/>
            <a:ln w="9525" algn="ctr">
              <a:noFill/>
              <a:miter lim="800000"/>
              <a:headEnd/>
              <a:tailEnd/>
            </a:ln>
            <a:effectLst/>
          </p:spPr>
          <p:txBody>
            <a:bodyPr wrap="none">
              <a:spAutoFit/>
            </a:bodyPr>
            <a:lstStyle/>
            <a:p>
              <a:pPr algn="ctr"/>
              <a:r>
                <a:rPr lang="en-US" sz="1000" b="1" dirty="0" smtClean="0"/>
                <a:t>Example:  Monitoring a motor for fault conditions</a:t>
              </a:r>
              <a:endParaRPr lang="en-US" sz="1000" b="1" dirty="0"/>
            </a:p>
          </p:txBody>
        </p:sp>
        <p:sp>
          <p:nvSpPr>
            <p:cNvPr id="14" name="Rectangle 43"/>
            <p:cNvSpPr>
              <a:spLocks noChangeArrowheads="1"/>
            </p:cNvSpPr>
            <p:nvPr/>
          </p:nvSpPr>
          <p:spPr bwMode="auto">
            <a:xfrm>
              <a:off x="1937031" y="5006814"/>
              <a:ext cx="1005840" cy="640080"/>
            </a:xfrm>
            <a:prstGeom prst="rect">
              <a:avLst/>
            </a:prstGeom>
            <a:solidFill>
              <a:srgbClr val="FF0000">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0">
              <a:noAutofit/>
            </a:bodyPr>
            <a:lstStyle/>
            <a:p>
              <a:pPr marL="182880" indent="-182880" algn="ctr"/>
              <a:r>
                <a:rPr lang="en-US" sz="1600" b="1" dirty="0" smtClean="0">
                  <a:solidFill>
                    <a:schemeClr val="bg1"/>
                  </a:solidFill>
                </a:rPr>
                <a:t>HLT</a:t>
              </a:r>
            </a:p>
          </p:txBody>
        </p:sp>
      </p:grpSp>
    </p:spTree>
    <p:extLst>
      <p:ext uri="{BB962C8B-B14F-4D97-AF65-F5344CB8AC3E}">
        <p14:creationId xmlns:p14="http://schemas.microsoft.com/office/powerpoint/2010/main" xmlns="" val="1021265717"/>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5" name="Group 284"/>
          <p:cNvGrpSpPr/>
          <p:nvPr/>
        </p:nvGrpSpPr>
        <p:grpSpPr>
          <a:xfrm>
            <a:off x="1533718" y="4587137"/>
            <a:ext cx="2743200" cy="1280160"/>
            <a:chOff x="1098290" y="4053737"/>
            <a:chExt cx="2743200" cy="1280160"/>
          </a:xfrm>
        </p:grpSpPr>
        <p:sp>
          <p:nvSpPr>
            <p:cNvPr id="266" name="Freeform 265"/>
            <p:cNvSpPr/>
            <p:nvPr/>
          </p:nvSpPr>
          <p:spPr>
            <a:xfrm>
              <a:off x="1953570" y="40537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grpSp>
          <p:nvGrpSpPr>
            <p:cNvPr id="284" name="Group 283"/>
            <p:cNvGrpSpPr/>
            <p:nvPr/>
          </p:nvGrpSpPr>
          <p:grpSpPr>
            <a:xfrm>
              <a:off x="1141834" y="4249215"/>
              <a:ext cx="2692220" cy="229901"/>
              <a:chOff x="1141834" y="4314531"/>
              <a:chExt cx="2692220" cy="229901"/>
            </a:xfrm>
          </p:grpSpPr>
          <p:sp>
            <p:nvSpPr>
              <p:cNvPr id="268" name="Freeform 45"/>
              <p:cNvSpPr>
                <a:spLocks/>
              </p:cNvSpPr>
              <p:nvPr/>
            </p:nvSpPr>
            <p:spPr bwMode="auto">
              <a:xfrm>
                <a:off x="1141834" y="4316504"/>
                <a:ext cx="365760" cy="227928"/>
              </a:xfrm>
              <a:custGeom>
                <a:avLst/>
                <a:gdLst/>
                <a:ahLst/>
                <a:cxnLst>
                  <a:cxn ang="0">
                    <a:pos x="0" y="231"/>
                  </a:cxn>
                  <a:cxn ang="0">
                    <a:pos x="120" y="231"/>
                  </a:cxn>
                  <a:cxn ang="0">
                    <a:pos x="120" y="0"/>
                  </a:cxn>
                  <a:cxn ang="0">
                    <a:pos x="493" y="0"/>
                  </a:cxn>
                  <a:cxn ang="0">
                    <a:pos x="493" y="229"/>
                  </a:cxn>
                  <a:cxn ang="0">
                    <a:pos x="580" y="229"/>
                  </a:cxn>
                  <a:cxn ang="0">
                    <a:pos x="637" y="229"/>
                  </a:cxn>
                </a:cxnLst>
                <a:rect l="0" t="0" r="r" b="b"/>
                <a:pathLst>
                  <a:path w="637" h="231">
                    <a:moveTo>
                      <a:pt x="0" y="231"/>
                    </a:moveTo>
                    <a:lnTo>
                      <a:pt x="120" y="231"/>
                    </a:lnTo>
                    <a:lnTo>
                      <a:pt x="120" y="0"/>
                    </a:lnTo>
                    <a:lnTo>
                      <a:pt x="493" y="0"/>
                    </a:lnTo>
                    <a:lnTo>
                      <a:pt x="493" y="229"/>
                    </a:lnTo>
                    <a:lnTo>
                      <a:pt x="580" y="229"/>
                    </a:lnTo>
                    <a:lnTo>
                      <a:pt x="637" y="229"/>
                    </a:lnTo>
                  </a:path>
                </a:pathLst>
              </a:custGeom>
              <a:noFill/>
              <a:ln w="25400">
                <a:solidFill>
                  <a:schemeClr val="tx1"/>
                </a:solidFill>
                <a:round/>
                <a:headEnd/>
                <a:tailEnd/>
              </a:ln>
              <a:effectLst/>
            </p:spPr>
            <p:txBody>
              <a:bodyPr/>
              <a:lstStyle/>
              <a:p>
                <a:pPr algn="r"/>
                <a:endParaRPr lang="en-US" dirty="0"/>
              </a:p>
            </p:txBody>
          </p:sp>
          <p:sp>
            <p:nvSpPr>
              <p:cNvPr id="271" name="Freeform 46"/>
              <p:cNvSpPr>
                <a:spLocks/>
              </p:cNvSpPr>
              <p:nvPr/>
            </p:nvSpPr>
            <p:spPr bwMode="auto">
              <a:xfrm>
                <a:off x="3102534" y="4314531"/>
                <a:ext cx="731520" cy="22990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72" name="Freeform 46"/>
              <p:cNvSpPr>
                <a:spLocks/>
              </p:cNvSpPr>
              <p:nvPr/>
            </p:nvSpPr>
            <p:spPr bwMode="auto">
              <a:xfrm>
                <a:off x="1404801" y="4314531"/>
                <a:ext cx="1737360" cy="22990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grpSp>
        <p:grpSp>
          <p:nvGrpSpPr>
            <p:cNvPr id="280" name="Group 279"/>
            <p:cNvGrpSpPr/>
            <p:nvPr/>
          </p:nvGrpSpPr>
          <p:grpSpPr>
            <a:xfrm>
              <a:off x="1098290" y="4891476"/>
              <a:ext cx="2743200" cy="229901"/>
              <a:chOff x="1098290" y="4826160"/>
              <a:chExt cx="2809138" cy="229901"/>
            </a:xfrm>
          </p:grpSpPr>
          <p:grpSp>
            <p:nvGrpSpPr>
              <p:cNvPr id="260" name="Group 87"/>
              <p:cNvGrpSpPr/>
              <p:nvPr/>
            </p:nvGrpSpPr>
            <p:grpSpPr>
              <a:xfrm>
                <a:off x="1098290" y="4826160"/>
                <a:ext cx="1404848" cy="229901"/>
                <a:chOff x="148993" y="6243325"/>
                <a:chExt cx="4958209" cy="238891"/>
              </a:xfrm>
            </p:grpSpPr>
            <p:sp>
              <p:nvSpPr>
                <p:cNvPr id="261" name="Freeform 45"/>
                <p:cNvSpPr>
                  <a:spLocks/>
                </p:cNvSpPr>
                <p:nvPr/>
              </p:nvSpPr>
              <p:spPr bwMode="auto">
                <a:xfrm>
                  <a:off x="148993" y="6245375"/>
                  <a:ext cx="1011238" cy="236841"/>
                </a:xfrm>
                <a:custGeom>
                  <a:avLst/>
                  <a:gdLst/>
                  <a:ahLst/>
                  <a:cxnLst>
                    <a:cxn ang="0">
                      <a:pos x="0" y="231"/>
                    </a:cxn>
                    <a:cxn ang="0">
                      <a:pos x="120" y="231"/>
                    </a:cxn>
                    <a:cxn ang="0">
                      <a:pos x="120" y="0"/>
                    </a:cxn>
                    <a:cxn ang="0">
                      <a:pos x="493" y="0"/>
                    </a:cxn>
                    <a:cxn ang="0">
                      <a:pos x="493" y="229"/>
                    </a:cxn>
                    <a:cxn ang="0">
                      <a:pos x="580" y="229"/>
                    </a:cxn>
                    <a:cxn ang="0">
                      <a:pos x="637" y="229"/>
                    </a:cxn>
                  </a:cxnLst>
                  <a:rect l="0" t="0" r="r" b="b"/>
                  <a:pathLst>
                    <a:path w="637" h="231">
                      <a:moveTo>
                        <a:pt x="0" y="231"/>
                      </a:moveTo>
                      <a:lnTo>
                        <a:pt x="120" y="231"/>
                      </a:lnTo>
                      <a:lnTo>
                        <a:pt x="120" y="0"/>
                      </a:lnTo>
                      <a:lnTo>
                        <a:pt x="493" y="0"/>
                      </a:lnTo>
                      <a:lnTo>
                        <a:pt x="493" y="229"/>
                      </a:lnTo>
                      <a:lnTo>
                        <a:pt x="580" y="229"/>
                      </a:lnTo>
                      <a:lnTo>
                        <a:pt x="637" y="229"/>
                      </a:lnTo>
                    </a:path>
                  </a:pathLst>
                </a:custGeom>
                <a:noFill/>
                <a:ln w="25400">
                  <a:solidFill>
                    <a:schemeClr val="tx1"/>
                  </a:solidFill>
                  <a:round/>
                  <a:headEnd/>
                  <a:tailEnd/>
                </a:ln>
                <a:effectLst/>
              </p:spPr>
              <p:txBody>
                <a:bodyPr/>
                <a:lstStyle/>
                <a:p>
                  <a:pPr algn="r"/>
                  <a:endParaRPr lang="en-US" dirty="0"/>
                </a:p>
              </p:txBody>
            </p:sp>
            <p:sp>
              <p:nvSpPr>
                <p:cNvPr id="262" name="Freeform 46"/>
                <p:cNvSpPr>
                  <a:spLocks/>
                </p:cNvSpPr>
                <p:nvPr/>
              </p:nvSpPr>
              <p:spPr bwMode="auto">
                <a:xfrm>
                  <a:off x="937748"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63" name="Freeform 46"/>
                <p:cNvSpPr>
                  <a:spLocks/>
                </p:cNvSpPr>
                <p:nvPr/>
              </p:nvSpPr>
              <p:spPr bwMode="auto">
                <a:xfrm>
                  <a:off x="1917462"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64" name="Freeform 46"/>
                <p:cNvSpPr>
                  <a:spLocks/>
                </p:cNvSpPr>
                <p:nvPr/>
              </p:nvSpPr>
              <p:spPr bwMode="auto">
                <a:xfrm>
                  <a:off x="3876890"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65" name="Freeform 46"/>
                <p:cNvSpPr>
                  <a:spLocks/>
                </p:cNvSpPr>
                <p:nvPr/>
              </p:nvSpPr>
              <p:spPr bwMode="auto">
                <a:xfrm>
                  <a:off x="2897176"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grpSp>
          <p:grpSp>
            <p:nvGrpSpPr>
              <p:cNvPr id="274" name="Group 87"/>
              <p:cNvGrpSpPr/>
              <p:nvPr/>
            </p:nvGrpSpPr>
            <p:grpSpPr>
              <a:xfrm>
                <a:off x="2502580" y="4826160"/>
                <a:ext cx="1404848" cy="229901"/>
                <a:chOff x="148993" y="6243325"/>
                <a:chExt cx="4958209" cy="238891"/>
              </a:xfrm>
            </p:grpSpPr>
            <p:sp>
              <p:nvSpPr>
                <p:cNvPr id="275" name="Freeform 45"/>
                <p:cNvSpPr>
                  <a:spLocks/>
                </p:cNvSpPr>
                <p:nvPr/>
              </p:nvSpPr>
              <p:spPr bwMode="auto">
                <a:xfrm>
                  <a:off x="148993" y="6245375"/>
                  <a:ext cx="1011238" cy="236841"/>
                </a:xfrm>
                <a:custGeom>
                  <a:avLst/>
                  <a:gdLst/>
                  <a:ahLst/>
                  <a:cxnLst>
                    <a:cxn ang="0">
                      <a:pos x="0" y="231"/>
                    </a:cxn>
                    <a:cxn ang="0">
                      <a:pos x="120" y="231"/>
                    </a:cxn>
                    <a:cxn ang="0">
                      <a:pos x="120" y="0"/>
                    </a:cxn>
                    <a:cxn ang="0">
                      <a:pos x="493" y="0"/>
                    </a:cxn>
                    <a:cxn ang="0">
                      <a:pos x="493" y="229"/>
                    </a:cxn>
                    <a:cxn ang="0">
                      <a:pos x="580" y="229"/>
                    </a:cxn>
                    <a:cxn ang="0">
                      <a:pos x="637" y="229"/>
                    </a:cxn>
                  </a:cxnLst>
                  <a:rect l="0" t="0" r="r" b="b"/>
                  <a:pathLst>
                    <a:path w="637" h="231">
                      <a:moveTo>
                        <a:pt x="0" y="231"/>
                      </a:moveTo>
                      <a:lnTo>
                        <a:pt x="120" y="231"/>
                      </a:lnTo>
                      <a:lnTo>
                        <a:pt x="120" y="0"/>
                      </a:lnTo>
                      <a:lnTo>
                        <a:pt x="493" y="0"/>
                      </a:lnTo>
                      <a:lnTo>
                        <a:pt x="493" y="229"/>
                      </a:lnTo>
                      <a:lnTo>
                        <a:pt x="580" y="229"/>
                      </a:lnTo>
                      <a:lnTo>
                        <a:pt x="637" y="229"/>
                      </a:lnTo>
                    </a:path>
                  </a:pathLst>
                </a:custGeom>
                <a:noFill/>
                <a:ln w="25400">
                  <a:solidFill>
                    <a:schemeClr val="tx1"/>
                  </a:solidFill>
                  <a:round/>
                  <a:headEnd/>
                  <a:tailEnd/>
                </a:ln>
                <a:effectLst/>
              </p:spPr>
              <p:txBody>
                <a:bodyPr/>
                <a:lstStyle/>
                <a:p>
                  <a:pPr algn="r"/>
                  <a:endParaRPr lang="en-US" dirty="0"/>
                </a:p>
              </p:txBody>
            </p:sp>
            <p:sp>
              <p:nvSpPr>
                <p:cNvPr id="276" name="Freeform 46"/>
                <p:cNvSpPr>
                  <a:spLocks/>
                </p:cNvSpPr>
                <p:nvPr/>
              </p:nvSpPr>
              <p:spPr bwMode="auto">
                <a:xfrm>
                  <a:off x="937748"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77" name="Freeform 46"/>
                <p:cNvSpPr>
                  <a:spLocks/>
                </p:cNvSpPr>
                <p:nvPr/>
              </p:nvSpPr>
              <p:spPr bwMode="auto">
                <a:xfrm>
                  <a:off x="1917462"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78" name="Freeform 46"/>
                <p:cNvSpPr>
                  <a:spLocks/>
                </p:cNvSpPr>
                <p:nvPr/>
              </p:nvSpPr>
              <p:spPr bwMode="auto">
                <a:xfrm>
                  <a:off x="3876890"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sp>
              <p:nvSpPr>
                <p:cNvPr id="279" name="Freeform 46"/>
                <p:cNvSpPr>
                  <a:spLocks/>
                </p:cNvSpPr>
                <p:nvPr/>
              </p:nvSpPr>
              <p:spPr bwMode="auto">
                <a:xfrm>
                  <a:off x="2897176" y="6243325"/>
                  <a:ext cx="1230312" cy="238891"/>
                </a:xfrm>
                <a:custGeom>
                  <a:avLst/>
                  <a:gdLst/>
                  <a:ahLst/>
                  <a:cxnLst>
                    <a:cxn ang="0">
                      <a:pos x="0" y="233"/>
                    </a:cxn>
                    <a:cxn ang="0">
                      <a:pos x="243" y="233"/>
                    </a:cxn>
                    <a:cxn ang="0">
                      <a:pos x="243" y="2"/>
                    </a:cxn>
                    <a:cxn ang="0">
                      <a:pos x="612" y="0"/>
                    </a:cxn>
                    <a:cxn ang="0">
                      <a:pos x="612" y="231"/>
                    </a:cxn>
                    <a:cxn ang="0">
                      <a:pos x="703" y="230"/>
                    </a:cxn>
                    <a:cxn ang="0">
                      <a:pos x="766" y="231"/>
                    </a:cxn>
                  </a:cxnLst>
                  <a:rect l="0" t="0" r="r" b="b"/>
                  <a:pathLst>
                    <a:path w="766" h="233">
                      <a:moveTo>
                        <a:pt x="0" y="233"/>
                      </a:moveTo>
                      <a:lnTo>
                        <a:pt x="243" y="233"/>
                      </a:lnTo>
                      <a:lnTo>
                        <a:pt x="243" y="2"/>
                      </a:lnTo>
                      <a:lnTo>
                        <a:pt x="612" y="0"/>
                      </a:lnTo>
                      <a:lnTo>
                        <a:pt x="612" y="231"/>
                      </a:lnTo>
                      <a:lnTo>
                        <a:pt x="703" y="230"/>
                      </a:lnTo>
                      <a:lnTo>
                        <a:pt x="766" y="231"/>
                      </a:lnTo>
                    </a:path>
                  </a:pathLst>
                </a:custGeom>
                <a:noFill/>
                <a:ln w="25400">
                  <a:solidFill>
                    <a:schemeClr val="tx1"/>
                  </a:solidFill>
                  <a:round/>
                  <a:headEnd/>
                  <a:tailEnd/>
                </a:ln>
                <a:effectLst/>
              </p:spPr>
              <p:txBody>
                <a:bodyPr/>
                <a:lstStyle/>
                <a:p>
                  <a:pPr algn="r"/>
                  <a:endParaRPr lang="en-US" dirty="0"/>
                </a:p>
              </p:txBody>
            </p:sp>
          </p:grpSp>
        </p:grpSp>
        <p:sp>
          <p:nvSpPr>
            <p:cNvPr id="281" name="Freeform 280"/>
            <p:cNvSpPr/>
            <p:nvPr/>
          </p:nvSpPr>
          <p:spPr>
            <a:xfrm>
              <a:off x="2791788" y="40537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282" name="Freeform 281"/>
            <p:cNvSpPr/>
            <p:nvPr/>
          </p:nvSpPr>
          <p:spPr>
            <a:xfrm>
              <a:off x="1420195" y="40537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sp>
          <p:nvSpPr>
            <p:cNvPr id="283" name="Freeform 282"/>
            <p:cNvSpPr/>
            <p:nvPr/>
          </p:nvSpPr>
          <p:spPr>
            <a:xfrm>
              <a:off x="3336084" y="4053737"/>
              <a:ext cx="0" cy="1280160"/>
            </a:xfrm>
            <a:custGeom>
              <a:avLst/>
              <a:gdLst>
                <a:gd name="connsiteX0" fmla="*/ 7620 w 7620"/>
                <a:gd name="connsiteY0" fmla="*/ 0 h 1539240"/>
                <a:gd name="connsiteX1" fmla="*/ 0 w 7620"/>
                <a:gd name="connsiteY1" fmla="*/ 1539240 h 1539240"/>
              </a:gdLst>
              <a:ahLst/>
              <a:cxnLst>
                <a:cxn ang="0">
                  <a:pos x="connsiteX0" y="connsiteY0"/>
                </a:cxn>
                <a:cxn ang="0">
                  <a:pos x="connsiteX1" y="connsiteY1"/>
                </a:cxn>
              </a:cxnLst>
              <a:rect l="l" t="t" r="r" b="b"/>
              <a:pathLst>
                <a:path w="7620" h="1539240">
                  <a:moveTo>
                    <a:pt x="7620" y="0"/>
                  </a:moveTo>
                  <a:lnTo>
                    <a:pt x="0" y="1539240"/>
                  </a:lnTo>
                </a:path>
              </a:pathLst>
            </a:custGeom>
            <a:noFill/>
            <a:ln w="31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000000"/>
                </a:solidFill>
              </a:endParaRPr>
            </a:p>
          </p:txBody>
        </p:sp>
      </p:grpSp>
      <p:sp>
        <p:nvSpPr>
          <p:cNvPr id="92" name="Title 1"/>
          <p:cNvSpPr txBox="1">
            <a:spLocks/>
          </p:cNvSpPr>
          <p:nvPr/>
        </p:nvSpPr>
        <p:spPr>
          <a:xfrm>
            <a:off x="1905000" y="198438"/>
            <a:ext cx="6781800" cy="868362"/>
          </a:xfrm>
          <a:prstGeom prst="rect">
            <a:avLst/>
          </a:prstGeom>
        </p:spPr>
        <p:txBody>
          <a:bodyPr anchor="ctr" anchorCtr="0"/>
          <a:lstStyle/>
          <a:p>
            <a:pPr lvl="0" algn="ctr"/>
            <a:r>
              <a:rPr lang="en-US" sz="3600" b="1" kern="0" dirty="0" smtClean="0">
                <a:latin typeface="+mj-lt"/>
                <a:cs typeface="ＭＳ Ｐゴシック" charset="0"/>
              </a:rPr>
              <a:t>Signal Measurement </a:t>
            </a: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Timer</a:t>
            </a:r>
            <a:b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br>
            <a:r>
              <a:rPr lang="en-US" sz="2000" noProof="0" dirty="0" smtClean="0">
                <a:cs typeface="ＭＳ Ｐゴシック" charset="0"/>
              </a:rPr>
              <a:t>24-bit Measurement of any Digital Signal</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
        <p:nvSpPr>
          <p:cNvPr id="3" name="Rectangle 3"/>
          <p:cNvSpPr>
            <a:spLocks noChangeArrowheads="1"/>
          </p:cNvSpPr>
          <p:nvPr/>
        </p:nvSpPr>
        <p:spPr bwMode="auto">
          <a:xfrm>
            <a:off x="130628" y="1223039"/>
            <a:ext cx="4920343"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24-bit Signal Measurement Timer (SMT)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Accurate measurement of any digital signal</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Period, pulse width, frequency, duration, duty cycle, time of flight, etc.</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High resolution 24-bit signal measurement</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Provides relative timing measurements</a:t>
            </a: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Multiple interrupt sources</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Period match, measure period, pulse width</a:t>
            </a:r>
          </a:p>
          <a:p>
            <a:pPr marL="804863" lvl="2" indent="-347663" eaLnBrk="0" hangingPunct="0">
              <a:lnSpc>
                <a:spcPct val="80000"/>
              </a:lnSpc>
              <a:spcBef>
                <a:spcPct val="20000"/>
              </a:spcBef>
              <a:buSzPct val="70000"/>
              <a:buFont typeface="Wingdings" charset="2"/>
              <a:buChar char="q"/>
              <a:defRPr/>
            </a:pPr>
            <a:r>
              <a:rPr lang="en-US" sz="1400" dirty="0" smtClean="0">
                <a:latin typeface="Arial" charset="0"/>
                <a:ea typeface="+mn-ea"/>
              </a:rPr>
              <a:t>(2) Data Capture interrupts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Flexible input sources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Useable as a general-purpose 24-bit timer</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Useable as a custom digital protocol decoder</a:t>
            </a:r>
            <a:endParaRPr lang="en-US" sz="1400" b="1" dirty="0">
              <a:solidFill>
                <a:schemeClr val="accent2"/>
              </a:solidFill>
              <a:latin typeface="Arial" charset="0"/>
              <a:ea typeface="+mn-ea"/>
            </a:endParaRPr>
          </a:p>
        </p:txBody>
      </p:sp>
      <p:sp>
        <p:nvSpPr>
          <p:cNvPr id="4" name="Rectangle 3"/>
          <p:cNvSpPr>
            <a:spLocks noChangeArrowheads="1"/>
          </p:cNvSpPr>
          <p:nvPr/>
        </p:nvSpPr>
        <p:spPr bwMode="auto">
          <a:xfrm>
            <a:off x="5394960" y="1223039"/>
            <a:ext cx="3566160"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Code-size reduction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Faster response to changing inputs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low-power SLEEP</a:t>
            </a:r>
          </a:p>
          <a:p>
            <a:pPr marL="342900" lvl="1" indent="-342900" eaLnBrk="0" hangingPunct="0">
              <a:lnSpc>
                <a:spcPct val="80000"/>
              </a:lnSpc>
              <a:spcBef>
                <a:spcPct val="20000"/>
              </a:spcBef>
              <a:buSzPct val="70000"/>
              <a:defRPr/>
            </a:pP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Precise speed control</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RPM indicators, sensors</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Range finding</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Protocol decode</a:t>
            </a:r>
          </a:p>
          <a:p>
            <a:pPr marL="342900" indent="-342900" eaLnBrk="0" hangingPunct="0">
              <a:spcBef>
                <a:spcPct val="20000"/>
              </a:spcBef>
              <a:buSzPct val="70000"/>
              <a:defRPr/>
            </a:pPr>
            <a:endParaRPr lang="en-US" sz="1800" b="1" dirty="0" smtClean="0">
              <a:solidFill>
                <a:schemeClr val="accent2"/>
              </a:solidFill>
              <a:latin typeface="Arial" charset="0"/>
            </a:endParaRPr>
          </a:p>
        </p:txBody>
      </p:sp>
      <p:sp>
        <p:nvSpPr>
          <p:cNvPr id="286" name="Right Arrow 285"/>
          <p:cNvSpPr/>
          <p:nvPr/>
        </p:nvSpPr>
        <p:spPr bwMode="auto">
          <a:xfrm>
            <a:off x="5352085" y="4611570"/>
            <a:ext cx="2194560" cy="1100495"/>
          </a:xfrm>
          <a:prstGeom prst="rightArrow">
            <a:avLst/>
          </a:prstGeom>
          <a:gradFill rotWithShape="1">
            <a:gsLst>
              <a:gs pos="0">
                <a:schemeClr val="accent6">
                  <a:lumMod val="60000"/>
                  <a:lumOff val="40000"/>
                  <a:alpha val="0"/>
                </a:schemeClr>
              </a:gs>
              <a:gs pos="100000">
                <a:schemeClr val="accent6">
                  <a:lumMod val="60000"/>
                  <a:lumOff val="40000"/>
                </a:schemeClr>
              </a:gs>
            </a:gsLst>
            <a:lin ang="0" scaled="1"/>
          </a:gradFill>
          <a:ln w="25400" cap="flat" cmpd="sng" algn="ctr">
            <a:noFill/>
            <a:prstDash val="solid"/>
            <a:round/>
            <a:headEnd type="none" w="med" len="med"/>
            <a:tailEnd type="none" w="med" len="med"/>
          </a:ln>
          <a:effectLst/>
        </p:spPr>
        <p:txBody>
          <a:bodyPr vert="horz" wrap="square" lIns="0" tIns="0" rIns="0" bIns="0" numCol="1" rtlCol="0" anchor="ctr" anchorCtr="1" compatLnSpc="1">
            <a:prstTxWarp prst="textNoShape">
              <a:avLst/>
            </a:prstTxWarp>
            <a:spAutoFit/>
          </a:bodyPr>
          <a:lstStyle/>
          <a:p>
            <a:r>
              <a:rPr lang="en-US" sz="1800" b="1"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Signal Measurement</a:t>
            </a:r>
            <a:endParaRPr kumimoji="0" lang="en-US" sz="1800" b="0" i="0" u="none" strike="noStrike" cap="none" normalizeH="0" baseline="0" dirty="0">
              <a:ln>
                <a:noFill/>
              </a:ln>
              <a:solidFill>
                <a:schemeClr val="tx1"/>
              </a:solidFill>
              <a:effectLst/>
              <a:latin typeface="Arial" charset="0"/>
            </a:endParaRPr>
          </a:p>
        </p:txBody>
      </p:sp>
      <p:grpSp>
        <p:nvGrpSpPr>
          <p:cNvPr id="287" name="Group 286"/>
          <p:cNvGrpSpPr/>
          <p:nvPr/>
        </p:nvGrpSpPr>
        <p:grpSpPr>
          <a:xfrm>
            <a:off x="4251108" y="4501869"/>
            <a:ext cx="1180863" cy="1376418"/>
            <a:chOff x="4251108" y="4501869"/>
            <a:chExt cx="1180863" cy="1376418"/>
          </a:xfrm>
        </p:grpSpPr>
        <p:sp>
          <p:nvSpPr>
            <p:cNvPr id="7" name="Rectangle 43"/>
            <p:cNvSpPr>
              <a:spLocks noChangeArrowheads="1"/>
            </p:cNvSpPr>
            <p:nvPr/>
          </p:nvSpPr>
          <p:spPr bwMode="auto">
            <a:xfrm>
              <a:off x="4251108" y="4501869"/>
              <a:ext cx="1180863" cy="1376418"/>
            </a:xfrm>
            <a:prstGeom prst="rect">
              <a:avLst/>
            </a:prstGeom>
            <a:solidFill>
              <a:srgbClr val="0000FF">
                <a:alpha val="75000"/>
              </a:srgbClr>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0">
              <a:noAutofit/>
            </a:bodyPr>
            <a:lstStyle/>
            <a:p>
              <a:pPr marL="182880" indent="-182880"/>
              <a:r>
                <a:rPr lang="en-US" sz="1600" b="1" dirty="0" smtClean="0">
                  <a:solidFill>
                    <a:schemeClr val="bg1"/>
                  </a:solidFill>
                  <a:latin typeface="+mn-lt"/>
                  <a:ea typeface="+mn-ea"/>
                </a:rPr>
                <a:t>SMT</a:t>
              </a:r>
              <a:endParaRPr lang="en-US" sz="1600" b="1" dirty="0">
                <a:solidFill>
                  <a:schemeClr val="bg1"/>
                </a:solidFill>
                <a:latin typeface="+mn-lt"/>
                <a:ea typeface="+mn-ea"/>
              </a:endParaRPr>
            </a:p>
          </p:txBody>
        </p:sp>
        <p:sp>
          <p:nvSpPr>
            <p:cNvPr id="257" name="Rounded Rectangle 256"/>
            <p:cNvSpPr/>
            <p:nvPr/>
          </p:nvSpPr>
          <p:spPr>
            <a:xfrm>
              <a:off x="4251108" y="4833343"/>
              <a:ext cx="932194" cy="333503"/>
            </a:xfrm>
            <a:prstGeom prst="roundRect">
              <a:avLst>
                <a:gd name="adj" fmla="val 12141"/>
              </a:avLst>
            </a:prstGeom>
            <a:noFill/>
            <a:ln/>
          </p:spPr>
          <p:style>
            <a:lnRef idx="0">
              <a:schemeClr val="accent1"/>
            </a:lnRef>
            <a:fillRef idx="3">
              <a:schemeClr val="accent1"/>
            </a:fillRef>
            <a:effectRef idx="3">
              <a:schemeClr val="accent1"/>
            </a:effectRef>
            <a:fontRef idx="minor">
              <a:schemeClr val="lt1"/>
            </a:fontRef>
          </p:style>
          <p:txBody>
            <a:bodyPr rtlCol="0" anchor="ctr" anchorCtr="0"/>
            <a:lstStyle/>
            <a:p>
              <a:r>
                <a:rPr lang="en-US" sz="900" dirty="0" smtClean="0">
                  <a:solidFill>
                    <a:schemeClr val="bg1"/>
                  </a:solidFill>
                </a:rPr>
                <a:t>Source Signal</a:t>
              </a:r>
              <a:endParaRPr lang="en-US" sz="900" dirty="0">
                <a:solidFill>
                  <a:schemeClr val="bg1"/>
                </a:solidFill>
              </a:endParaRPr>
            </a:p>
          </p:txBody>
        </p:sp>
        <p:sp>
          <p:nvSpPr>
            <p:cNvPr id="258" name="Rounded Rectangle 257"/>
            <p:cNvSpPr/>
            <p:nvPr/>
          </p:nvSpPr>
          <p:spPr>
            <a:xfrm>
              <a:off x="4251108" y="5470626"/>
              <a:ext cx="932194" cy="333503"/>
            </a:xfrm>
            <a:prstGeom prst="roundRect">
              <a:avLst>
                <a:gd name="adj" fmla="val 12141"/>
              </a:avLst>
            </a:prstGeom>
            <a:noFill/>
            <a:ln/>
          </p:spPr>
          <p:style>
            <a:lnRef idx="0">
              <a:schemeClr val="accent1"/>
            </a:lnRef>
            <a:fillRef idx="3">
              <a:schemeClr val="accent1"/>
            </a:fillRef>
            <a:effectRef idx="3">
              <a:schemeClr val="accent1"/>
            </a:effectRef>
            <a:fontRef idx="minor">
              <a:schemeClr val="lt1"/>
            </a:fontRef>
          </p:style>
          <p:txBody>
            <a:bodyPr rtlCol="0" anchor="ctr" anchorCtr="0"/>
            <a:lstStyle/>
            <a:p>
              <a:r>
                <a:rPr lang="en-US" sz="900" dirty="0" smtClean="0">
                  <a:solidFill>
                    <a:schemeClr val="bg1"/>
                  </a:solidFill>
                </a:rPr>
                <a:t>Clock</a:t>
              </a:r>
              <a:endParaRPr lang="en-US" sz="900" dirty="0">
                <a:solidFill>
                  <a:schemeClr val="bg1"/>
                </a:solidFill>
              </a:endParaRPr>
            </a:p>
          </p:txBody>
        </p:sp>
      </p:grpSp>
    </p:spTree>
    <p:extLst>
      <p:ext uri="{BB962C8B-B14F-4D97-AF65-F5344CB8AC3E}">
        <p14:creationId xmlns:p14="http://schemas.microsoft.com/office/powerpoint/2010/main" xmlns="" val="2623237585"/>
      </p:ext>
    </p:extLst>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
          <p:cNvSpPr>
            <a:spLocks noChangeArrowheads="1"/>
          </p:cNvSpPr>
          <p:nvPr/>
        </p:nvSpPr>
        <p:spPr bwMode="auto">
          <a:xfrm>
            <a:off x="130628" y="1223039"/>
            <a:ext cx="5421086"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Peripheral Pin Select (PPS)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Configure any digital peripheral to any I/O pin</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Provides increased freedom &amp; optimized use of integrated digital resources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Flexible pin function assignment</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Route peripheral to multiple pins, to increase current drive</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Runtime configuration of pin out</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Clr>
                <a:schemeClr val="tx1"/>
              </a:buClr>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p:txBody>
      </p:sp>
      <p:sp>
        <p:nvSpPr>
          <p:cNvPr id="41" name="Rectangle 40"/>
          <p:cNvSpPr>
            <a:spLocks noChangeArrowheads="1"/>
          </p:cNvSpPr>
          <p:nvPr/>
        </p:nvSpPr>
        <p:spPr bwMode="auto">
          <a:xfrm>
            <a:off x="5394960" y="1223039"/>
            <a:ext cx="3539720" cy="3291840"/>
          </a:xfrm>
          <a:prstGeom prst="rect">
            <a:avLst/>
          </a:prstGeom>
          <a:noFill/>
          <a:ln w="9525">
            <a:noFill/>
            <a:miter lim="800000"/>
            <a:headEnd/>
            <a:tailEnd/>
          </a:ln>
        </p:spPr>
        <p:txBody>
          <a:bodyPr rIns="0"/>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Eliminates “pin overlap” for total optimization of peripheral resources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Simplified and optimized migration</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Provides layout flexibility</a:t>
            </a:r>
          </a:p>
          <a:p>
            <a:pPr marL="347663" lvl="1" indent="-347663" eaLnBrk="0" hangingPunct="0">
              <a:lnSpc>
                <a:spcPct val="80000"/>
              </a:lnSpc>
              <a:spcBef>
                <a:spcPct val="20000"/>
              </a:spcBef>
              <a:buSzPct val="70000"/>
              <a:buFont typeface="Wingdings" charset="2"/>
              <a:buChar char="q"/>
              <a:defRPr/>
            </a:pP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Systems requiring highest signal integrity</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Migration of legacy designs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Support for new pin-out configurations</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Applications that require optimized tracing &amp; board-space usage</a:t>
            </a:r>
          </a:p>
          <a:p>
            <a:pPr marL="347663" lvl="1" indent="-347663" eaLnBrk="0" hangingPunct="0">
              <a:lnSpc>
                <a:spcPct val="80000"/>
              </a:lnSpc>
              <a:spcBef>
                <a:spcPct val="20000"/>
              </a:spcBef>
              <a:buClr>
                <a:schemeClr val="tx1"/>
              </a:buClr>
              <a:buSzPct val="70000"/>
              <a:buFont typeface="Wingdings" charset="2"/>
              <a:buChar char="q"/>
              <a:defRPr/>
            </a:pPr>
            <a:endParaRPr lang="en-US" sz="1400" dirty="0" smtClean="0">
              <a:latin typeface="Arial" charset="0"/>
            </a:endParaRPr>
          </a:p>
          <a:p>
            <a:pPr marL="347663" lvl="1" indent="-347663" eaLnBrk="0" hangingPunct="0">
              <a:lnSpc>
                <a:spcPct val="80000"/>
              </a:lnSpc>
              <a:spcBef>
                <a:spcPct val="20000"/>
              </a:spcBef>
              <a:buSzPct val="70000"/>
              <a:buFont typeface="Wingdings" charset="2"/>
              <a:buChar char="q"/>
              <a:defRPr/>
            </a:pPr>
            <a:endParaRPr lang="en-US" sz="1400" b="1" dirty="0">
              <a:solidFill>
                <a:schemeClr val="accent2"/>
              </a:solidFill>
              <a:latin typeface="Arial" charset="0"/>
              <a:ea typeface="+mn-ea"/>
            </a:endParaRPr>
          </a:p>
        </p:txBody>
      </p:sp>
      <p:grpSp>
        <p:nvGrpSpPr>
          <p:cNvPr id="49" name="Group 48"/>
          <p:cNvGrpSpPr/>
          <p:nvPr/>
        </p:nvGrpSpPr>
        <p:grpSpPr>
          <a:xfrm>
            <a:off x="914692" y="2934864"/>
            <a:ext cx="3445893" cy="3413594"/>
            <a:chOff x="751402" y="2994918"/>
            <a:chExt cx="3445893" cy="3413594"/>
          </a:xfrm>
        </p:grpSpPr>
        <p:grpSp>
          <p:nvGrpSpPr>
            <p:cNvPr id="36" name="Group 296"/>
            <p:cNvGrpSpPr/>
            <p:nvPr/>
          </p:nvGrpSpPr>
          <p:grpSpPr>
            <a:xfrm>
              <a:off x="868673" y="3226701"/>
              <a:ext cx="3267898" cy="2950029"/>
              <a:chOff x="-1504405" y="5107051"/>
              <a:chExt cx="1645920" cy="1079118"/>
            </a:xfrm>
          </p:grpSpPr>
          <p:sp>
            <p:nvSpPr>
              <p:cNvPr id="39" name="Rectangle 38"/>
              <p:cNvSpPr/>
              <p:nvPr/>
            </p:nvSpPr>
            <p:spPr>
              <a:xfrm>
                <a:off x="-1504405" y="5107051"/>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2" name="Rectangle 41"/>
              <p:cNvSpPr/>
              <p:nvPr/>
            </p:nvSpPr>
            <p:spPr>
              <a:xfrm>
                <a:off x="-1504405" y="5271664"/>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3" name="Rectangle 42"/>
              <p:cNvSpPr/>
              <p:nvPr/>
            </p:nvSpPr>
            <p:spPr>
              <a:xfrm>
                <a:off x="-1504405" y="5436277"/>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4" name="Rectangle 43"/>
              <p:cNvSpPr/>
              <p:nvPr/>
            </p:nvSpPr>
            <p:spPr>
              <a:xfrm>
                <a:off x="-1504405" y="5600890"/>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6" name="Rectangle 45"/>
              <p:cNvSpPr/>
              <p:nvPr/>
            </p:nvSpPr>
            <p:spPr>
              <a:xfrm>
                <a:off x="-1504405" y="5765503"/>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7" name="Rectangle 46"/>
              <p:cNvSpPr/>
              <p:nvPr/>
            </p:nvSpPr>
            <p:spPr>
              <a:xfrm>
                <a:off x="-1504405" y="5930116"/>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sp>
            <p:nvSpPr>
              <p:cNvPr id="48" name="Rectangle 47"/>
              <p:cNvSpPr/>
              <p:nvPr/>
            </p:nvSpPr>
            <p:spPr>
              <a:xfrm>
                <a:off x="-1504405" y="6094729"/>
                <a:ext cx="1645920" cy="91440"/>
              </a:xfrm>
              <a:prstGeom prst="rect">
                <a:avLst/>
              </a:prstGeom>
              <a:solidFill>
                <a:schemeClr val="bg1">
                  <a:lumMod val="95000"/>
                </a:schemeClr>
              </a:solidFill>
              <a:ln>
                <a:noFill/>
              </a:ln>
              <a:scene3d>
                <a:camera prst="orthographicFront"/>
                <a:lightRig rig="threePt" dir="t"/>
              </a:scene3d>
              <a:sp3d prstMaterial="dkEdge">
                <a:bevelT w="114300" prst="artDeco"/>
                <a:bevelB/>
              </a:sp3d>
            </p:spPr>
            <p:style>
              <a:lnRef idx="1">
                <a:schemeClr val="accent1"/>
              </a:lnRef>
              <a:fillRef idx="2">
                <a:schemeClr val="accent1"/>
              </a:fillRef>
              <a:effectRef idx="1">
                <a:schemeClr val="accent1"/>
              </a:effectRef>
              <a:fontRef idx="minor">
                <a:schemeClr val="dk1"/>
              </a:fontRef>
            </p:style>
            <p:txBody>
              <a:bodyPr rtlCol="0" anchor="t" anchorCtr="1"/>
              <a:lstStyle/>
              <a:p>
                <a:pPr algn="ctr"/>
                <a:endParaRPr lang="en-US" sz="400" b="1" dirty="0" smtClean="0"/>
              </a:p>
            </p:txBody>
          </p:sp>
        </p:grpSp>
        <p:sp>
          <p:nvSpPr>
            <p:cNvPr id="8" name="Rectangle 7"/>
            <p:cNvSpPr/>
            <p:nvPr/>
          </p:nvSpPr>
          <p:spPr>
            <a:xfrm>
              <a:off x="1207810" y="2994918"/>
              <a:ext cx="2589624" cy="3413594"/>
            </a:xfrm>
            <a:prstGeom prst="rect">
              <a:avLst/>
            </a:prstGeom>
            <a:solidFill>
              <a:schemeClr val="bg1">
                <a:lumMod val="85000"/>
              </a:schemeClr>
            </a:soli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endParaRPr lang="en-US" sz="1050" b="1" dirty="0" smtClean="0">
                <a:solidFill>
                  <a:schemeClr val="dk1"/>
                </a:solidFill>
              </a:endParaRPr>
            </a:p>
            <a:p>
              <a:r>
                <a:rPr lang="en-US" sz="1800" b="1" dirty="0" smtClean="0">
                  <a:solidFill>
                    <a:schemeClr val="dk1"/>
                  </a:solidFill>
                </a:rPr>
                <a:t>PIC</a:t>
              </a:r>
              <a:r>
                <a:rPr lang="en-US" sz="1800" b="1" baseline="30000" dirty="0" smtClean="0">
                  <a:solidFill>
                    <a:schemeClr val="dk1"/>
                  </a:solidFill>
                </a:rPr>
                <a:t>®</a:t>
              </a:r>
              <a:r>
                <a:rPr lang="en-US" sz="1800" b="1" dirty="0" smtClean="0">
                  <a:solidFill>
                    <a:schemeClr val="dk1"/>
                  </a:solidFill>
                </a:rPr>
                <a:t> Microcontroller</a:t>
              </a:r>
              <a:endParaRPr lang="en-US" sz="1800" b="1" dirty="0">
                <a:solidFill>
                  <a:schemeClr val="dk1"/>
                </a:solidFill>
              </a:endParaRPr>
            </a:p>
          </p:txBody>
        </p:sp>
        <p:sp>
          <p:nvSpPr>
            <p:cNvPr id="59" name="TextBox 58"/>
            <p:cNvSpPr txBox="1"/>
            <p:nvPr/>
          </p:nvSpPr>
          <p:spPr>
            <a:xfrm>
              <a:off x="751402" y="3201517"/>
              <a:ext cx="585273" cy="276999"/>
            </a:xfrm>
            <a:prstGeom prst="rect">
              <a:avLst/>
            </a:prstGeom>
            <a:noFill/>
            <a:ln>
              <a:noFill/>
            </a:ln>
          </p:spPr>
          <p:txBody>
            <a:bodyPr wrap="square" rtlCol="0">
              <a:spAutoFit/>
            </a:bodyPr>
            <a:lstStyle/>
            <a:p>
              <a:pPr algn="ctr"/>
              <a:r>
                <a:rPr lang="en-US" sz="1200" dirty="0" smtClean="0"/>
                <a:t>V</a:t>
              </a:r>
              <a:r>
                <a:rPr lang="en-US" sz="900" cap="small" baseline="-10000" dirty="0" smtClean="0"/>
                <a:t>DD</a:t>
              </a:r>
              <a:endParaRPr lang="en-US" sz="1200" cap="small" baseline="-10000" dirty="0"/>
            </a:p>
          </p:txBody>
        </p:sp>
        <p:sp>
          <p:nvSpPr>
            <p:cNvPr id="64" name="TextBox 63"/>
            <p:cNvSpPr txBox="1"/>
            <p:nvPr/>
          </p:nvSpPr>
          <p:spPr>
            <a:xfrm>
              <a:off x="3695432" y="3201517"/>
              <a:ext cx="501863" cy="276999"/>
            </a:xfrm>
            <a:prstGeom prst="rect">
              <a:avLst/>
            </a:prstGeom>
            <a:noFill/>
          </p:spPr>
          <p:txBody>
            <a:bodyPr wrap="square" rtlCol="0">
              <a:spAutoFit/>
            </a:bodyPr>
            <a:lstStyle/>
            <a:p>
              <a:pPr algn="ctr"/>
              <a:r>
                <a:rPr lang="en-US" sz="1200" dirty="0" smtClean="0"/>
                <a:t>V</a:t>
              </a:r>
              <a:r>
                <a:rPr lang="en-US" sz="900" baseline="-10000" dirty="0" smtClean="0"/>
                <a:t>ss</a:t>
              </a:r>
              <a:endParaRPr lang="en-US" sz="1200" baseline="-10000" dirty="0"/>
            </a:p>
          </p:txBody>
        </p:sp>
        <p:sp>
          <p:nvSpPr>
            <p:cNvPr id="60" name="TextBox 59"/>
            <p:cNvSpPr txBox="1"/>
            <p:nvPr/>
          </p:nvSpPr>
          <p:spPr>
            <a:xfrm>
              <a:off x="1792302" y="4517341"/>
              <a:ext cx="1394052" cy="839588"/>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anchor="t" anchorCtr="0">
              <a:noAutofit/>
            </a:bodyPr>
            <a:lstStyle/>
            <a:p>
              <a:pPr marL="182880" indent="-182880">
                <a:defRPr/>
              </a:pPr>
              <a:r>
                <a:rPr lang="en-US" sz="1600" b="1" dirty="0" smtClean="0">
                  <a:latin typeface="+mn-lt"/>
                  <a:ea typeface="+mn-ea"/>
                </a:rPr>
                <a:t>PPS</a:t>
              </a:r>
            </a:p>
            <a:p>
              <a:pPr algn="ctr">
                <a:defRPr/>
              </a:pPr>
              <a:r>
                <a:rPr lang="en-US" sz="1400" b="1" dirty="0" smtClean="0">
                  <a:solidFill>
                    <a:schemeClr val="bg1"/>
                  </a:solidFill>
                  <a:latin typeface="+mn-lt"/>
                  <a:ea typeface="+mn-ea"/>
                </a:rPr>
                <a:t>Digital Peripherals</a:t>
              </a:r>
              <a:endParaRPr lang="en-US" sz="1400" b="1" dirty="0">
                <a:solidFill>
                  <a:schemeClr val="bg1"/>
                </a:solidFill>
                <a:latin typeface="+mn-lt"/>
                <a:ea typeface="+mn-ea"/>
              </a:endParaRPr>
            </a:p>
          </p:txBody>
        </p:sp>
        <p:cxnSp>
          <p:nvCxnSpPr>
            <p:cNvPr id="99" name="Straight Connector 98"/>
            <p:cNvCxnSpPr>
              <a:stCxn id="60" idx="0"/>
            </p:cNvCxnSpPr>
            <p:nvPr/>
          </p:nvCxnSpPr>
          <p:spPr>
            <a:xfrm rot="16200000" flipV="1">
              <a:off x="1488433" y="3516444"/>
              <a:ext cx="714385" cy="1287409"/>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45" name="Straight Connector 98"/>
            <p:cNvCxnSpPr>
              <a:stCxn id="60" idx="0"/>
            </p:cNvCxnSpPr>
            <p:nvPr/>
          </p:nvCxnSpPr>
          <p:spPr>
            <a:xfrm rot="16200000" flipV="1">
              <a:off x="1713752" y="3741763"/>
              <a:ext cx="263746" cy="1287409"/>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52" name="Straight Connector 98"/>
            <p:cNvCxnSpPr>
              <a:stCxn id="60" idx="2"/>
            </p:cNvCxnSpPr>
            <p:nvPr/>
          </p:nvCxnSpPr>
          <p:spPr>
            <a:xfrm rot="5400000">
              <a:off x="1496015" y="5062835"/>
              <a:ext cx="699219" cy="1287409"/>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58" name="Straight Connector 98"/>
            <p:cNvCxnSpPr>
              <a:stCxn id="60" idx="2"/>
            </p:cNvCxnSpPr>
            <p:nvPr/>
          </p:nvCxnSpPr>
          <p:spPr>
            <a:xfrm rot="5400000">
              <a:off x="1721334" y="4837517"/>
              <a:ext cx="248583" cy="1287409"/>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65" name="Straight Connector 98"/>
            <p:cNvCxnSpPr>
              <a:stCxn id="60" idx="1"/>
            </p:cNvCxnSpPr>
            <p:nvPr/>
          </p:nvCxnSpPr>
          <p:spPr>
            <a:xfrm rot="10800000" flipV="1">
              <a:off x="1201921" y="4937135"/>
              <a:ext cx="590383" cy="217738"/>
            </a:xfrm>
            <a:prstGeom prst="bentConnector3">
              <a:avLst>
                <a:gd name="adj1" fmla="val 50000"/>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76" name="Straight Connector 98"/>
            <p:cNvCxnSpPr>
              <a:stCxn id="60" idx="0"/>
            </p:cNvCxnSpPr>
            <p:nvPr/>
          </p:nvCxnSpPr>
          <p:spPr>
            <a:xfrm rot="5400000" flipH="1" flipV="1">
              <a:off x="2774688" y="3517598"/>
              <a:ext cx="714385" cy="1285104"/>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93" name="Straight Connector 98"/>
            <p:cNvCxnSpPr>
              <a:stCxn id="60" idx="1"/>
            </p:cNvCxnSpPr>
            <p:nvPr/>
          </p:nvCxnSpPr>
          <p:spPr>
            <a:xfrm rot="10800000">
              <a:off x="1201921" y="4704236"/>
              <a:ext cx="590383" cy="232901"/>
            </a:xfrm>
            <a:prstGeom prst="bentConnector3">
              <a:avLst>
                <a:gd name="adj1" fmla="val 50000"/>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0" name="Straight Connector 98"/>
            <p:cNvCxnSpPr>
              <a:stCxn id="60" idx="0"/>
            </p:cNvCxnSpPr>
            <p:nvPr/>
          </p:nvCxnSpPr>
          <p:spPr>
            <a:xfrm rot="5400000" flipH="1" flipV="1">
              <a:off x="3000007" y="3742917"/>
              <a:ext cx="263746" cy="1285104"/>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4" name="Straight Connector 98"/>
            <p:cNvCxnSpPr>
              <a:stCxn id="60" idx="3"/>
            </p:cNvCxnSpPr>
            <p:nvPr/>
          </p:nvCxnSpPr>
          <p:spPr>
            <a:xfrm flipV="1">
              <a:off x="3186354" y="4704234"/>
              <a:ext cx="588078" cy="232901"/>
            </a:xfrm>
            <a:prstGeom prst="bentConnector3">
              <a:avLst>
                <a:gd name="adj1" fmla="val 50000"/>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07" name="Straight Connector 98"/>
            <p:cNvCxnSpPr>
              <a:stCxn id="60" idx="3"/>
            </p:cNvCxnSpPr>
            <p:nvPr/>
          </p:nvCxnSpPr>
          <p:spPr>
            <a:xfrm>
              <a:off x="3186354" y="4937135"/>
              <a:ext cx="588078" cy="217739"/>
            </a:xfrm>
            <a:prstGeom prst="bentConnector3">
              <a:avLst>
                <a:gd name="adj1" fmla="val 50000"/>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10" name="Straight Connector 98"/>
            <p:cNvCxnSpPr>
              <a:stCxn id="60" idx="2"/>
            </p:cNvCxnSpPr>
            <p:nvPr/>
          </p:nvCxnSpPr>
          <p:spPr>
            <a:xfrm rot="16200000" flipH="1">
              <a:off x="3007589" y="4838667"/>
              <a:ext cx="248583" cy="1285104"/>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113" name="Straight Connector 98"/>
            <p:cNvCxnSpPr>
              <a:stCxn id="60" idx="2"/>
            </p:cNvCxnSpPr>
            <p:nvPr/>
          </p:nvCxnSpPr>
          <p:spPr>
            <a:xfrm rot="16200000" flipH="1">
              <a:off x="2782270" y="5063986"/>
              <a:ext cx="699219" cy="1285104"/>
            </a:xfrm>
            <a:prstGeom prst="bentConnector2">
              <a:avLst/>
            </a:prstGeom>
            <a:ln>
              <a:solidFill>
                <a:srgbClr val="009900"/>
              </a:solidFill>
              <a:prstDash val="sysDash"/>
              <a:tailEnd type="triangle" w="lg" len="lg"/>
            </a:ln>
            <a:effectLst/>
          </p:spPr>
          <p:style>
            <a:lnRef idx="2">
              <a:schemeClr val="accent1"/>
            </a:lnRef>
            <a:fillRef idx="0">
              <a:schemeClr val="accent1"/>
            </a:fillRef>
            <a:effectRef idx="1">
              <a:schemeClr val="accent1"/>
            </a:effectRef>
            <a:fontRef idx="minor">
              <a:schemeClr val="tx1"/>
            </a:fontRef>
          </p:style>
        </p:cxnSp>
      </p:grpSp>
      <p:sp>
        <p:nvSpPr>
          <p:cNvPr id="50" name="Title 1"/>
          <p:cNvSpPr txBox="1">
            <a:spLocks/>
          </p:cNvSpPr>
          <p:nvPr/>
        </p:nvSpPr>
        <p:spPr bwMode="auto">
          <a:xfrm>
            <a:off x="1905000" y="198438"/>
            <a:ext cx="67818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t>Peripheral Pin Select</a:t>
            </a:r>
            <a:br>
              <a:rPr kumimoji="0" lang="en-US" sz="3600" b="1" i="0" u="none" strike="noStrike" kern="0" cap="none" spc="0" normalizeH="0" baseline="0" noProof="0" dirty="0" smtClean="0">
                <a:ln>
                  <a:noFill/>
                </a:ln>
                <a:effectLst/>
                <a:uLnTx/>
                <a:uFillTx/>
                <a:latin typeface="+mj-lt"/>
                <a:ea typeface="ＭＳ Ｐゴシック" pitchFamily="34" charset="-128"/>
                <a:cs typeface="ＭＳ Ｐゴシック" charset="0"/>
              </a:rPr>
            </a:br>
            <a:r>
              <a:rPr lang="en-US" sz="2000" kern="0" dirty="0" smtClean="0">
                <a:latin typeface="+mj-lt"/>
                <a:cs typeface="ＭＳ Ｐゴシック" charset="0"/>
              </a:rPr>
              <a:t>I/O Pin Remapping of Digital Signals</a:t>
            </a:r>
            <a:endParaRPr kumimoji="0" lang="en-US" sz="2000" b="0" i="0" u="none" strike="noStrike" kern="0" cap="none" spc="0" normalizeH="0" baseline="0" noProof="0" dirty="0" smtClean="0">
              <a:ln>
                <a:noFill/>
              </a:ln>
              <a:effectLst/>
              <a:uLnTx/>
              <a:uFillTx/>
              <a:latin typeface="+mj-lt"/>
              <a:ea typeface="ＭＳ Ｐゴシック" pitchFamily="34" charset="-128"/>
              <a:cs typeface="ＭＳ Ｐゴシック" charset="0"/>
            </a:endParaRPr>
          </a:p>
        </p:txBody>
      </p:sp>
    </p:spTree>
    <p:extLst>
      <p:ext uri="{BB962C8B-B14F-4D97-AF65-F5344CB8AC3E}">
        <p14:creationId xmlns:p14="http://schemas.microsoft.com/office/powerpoint/2010/main" xmlns="" val="2689638201"/>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
          <p:cNvSpPr>
            <a:spLocks noChangeArrowheads="1"/>
          </p:cNvSpPr>
          <p:nvPr/>
        </p:nvSpPr>
        <p:spPr bwMode="auto">
          <a:xfrm>
            <a:off x="5394960" y="1223039"/>
            <a:ext cx="3566160" cy="3291840"/>
          </a:xfrm>
          <a:prstGeom prst="rect">
            <a:avLst/>
          </a:prstGeom>
          <a:noFill/>
          <a:ln w="9525">
            <a:noFill/>
            <a:miter lim="800000"/>
            <a:headEnd/>
            <a:tailEnd/>
          </a:ln>
        </p:spPr>
        <p:txBody>
          <a:bodyPr/>
          <a:lstStyle/>
          <a:p>
            <a:pPr marL="342900" indent="-342900" eaLnBrk="0" hangingPunct="0">
              <a:spcBef>
                <a:spcPct val="20000"/>
              </a:spcBef>
              <a:buSzPct val="70000"/>
              <a:defRPr/>
            </a:pPr>
            <a:r>
              <a:rPr lang="en-US" sz="1800" b="1" dirty="0" smtClean="0">
                <a:solidFill>
                  <a:schemeClr val="accent2"/>
                </a:solidFill>
                <a:latin typeface="Arial" charset="0"/>
              </a:rPr>
              <a:t>Benefits</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TRIAC control </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Synchronized switching of relays</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Reduces external components</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Minimizes PCB real estate</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Core-independent operation</a:t>
            </a:r>
          </a:p>
          <a:p>
            <a:pPr marL="347663" lvl="1" indent="-347663" eaLnBrk="0" hangingPunct="0">
              <a:lnSpc>
                <a:spcPct val="80000"/>
              </a:lnSpc>
              <a:spcBef>
                <a:spcPct val="20000"/>
              </a:spcBef>
              <a:buSzPct val="70000"/>
              <a:buFont typeface="Wingdings" charset="2"/>
              <a:buChar char="q"/>
              <a:defRPr/>
            </a:pPr>
            <a:r>
              <a:rPr lang="en-US" sz="1400" dirty="0" smtClean="0">
                <a:latin typeface="Arial" charset="0"/>
              </a:rPr>
              <a:t>Operation while in low-power SLEEP</a:t>
            </a: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AC Power Supplies</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Timing Control</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White Goods</a:t>
            </a:r>
          </a:p>
          <a:p>
            <a:pPr marL="800100" lvl="2"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TRIAC Control</a:t>
            </a:r>
          </a:p>
          <a:p>
            <a:pPr marL="342900" lvl="1" indent="-342900" eaLnBrk="0" hangingPunct="0">
              <a:lnSpc>
                <a:spcPct val="80000"/>
              </a:lnSpc>
              <a:spcBef>
                <a:spcPct val="20000"/>
              </a:spcBef>
              <a:buSzPct val="70000"/>
              <a:buFont typeface="Wingdings" charset="2"/>
              <a:buChar char="q"/>
              <a:defRPr/>
            </a:pPr>
            <a:r>
              <a:rPr lang="en-US" sz="1400" dirty="0" smtClean="0">
                <a:solidFill>
                  <a:srgbClr val="000000"/>
                </a:solidFill>
                <a:latin typeface="Arial" charset="0"/>
                <a:ea typeface="ＭＳ Ｐゴシック" charset="-128"/>
              </a:rPr>
              <a:t>TRIAC Dimming</a:t>
            </a:r>
          </a:p>
          <a:p>
            <a:pPr marL="342900" lvl="1" indent="-342900" eaLnBrk="0" hangingPunct="0">
              <a:lnSpc>
                <a:spcPct val="80000"/>
              </a:lnSpc>
              <a:spcBef>
                <a:spcPct val="20000"/>
              </a:spcBef>
              <a:buSzPct val="70000"/>
              <a:buFont typeface="Wingdings" charset="2"/>
              <a:buChar char="q"/>
              <a:defRPr/>
            </a:pPr>
            <a:endParaRPr lang="en-US" sz="1400" dirty="0" smtClean="0">
              <a:solidFill>
                <a:srgbClr val="000000"/>
              </a:solidFill>
              <a:latin typeface="Arial" charset="0"/>
              <a:ea typeface="ＭＳ Ｐゴシック" charset="-128"/>
            </a:endParaRPr>
          </a:p>
          <a:p>
            <a:pPr marL="342900" lvl="1" indent="-342900" eaLnBrk="0" hangingPunct="0">
              <a:lnSpc>
                <a:spcPct val="80000"/>
              </a:lnSpc>
              <a:spcBef>
                <a:spcPct val="20000"/>
              </a:spcBef>
              <a:buSzPct val="70000"/>
              <a:buFont typeface="Wingdings" charset="2"/>
              <a:buChar char="q"/>
              <a:defRPr/>
            </a:pPr>
            <a:endParaRPr lang="en-US" sz="1400" dirty="0" smtClean="0">
              <a:latin typeface="Arial" charset="0"/>
              <a:ea typeface="ＭＳ Ｐゴシック" charset="-128"/>
            </a:endParaRPr>
          </a:p>
          <a:p>
            <a:pPr marL="342900" lvl="1" indent="-342900" eaLnBrk="0" hangingPunct="0">
              <a:lnSpc>
                <a:spcPct val="80000"/>
              </a:lnSpc>
              <a:spcBef>
                <a:spcPct val="20000"/>
              </a:spcBef>
              <a:buSzPct val="70000"/>
              <a:buFont typeface="Wingdings" charset="2"/>
              <a:buChar char="q"/>
              <a:defRPr/>
            </a:pPr>
            <a:endParaRPr lang="en-US" sz="1400" dirty="0">
              <a:solidFill>
                <a:srgbClr val="000000"/>
              </a:solidFill>
              <a:latin typeface="Arial" charset="0"/>
              <a:ea typeface="ＭＳ Ｐゴシック" charset="-128"/>
            </a:endParaRPr>
          </a:p>
          <a:p>
            <a:pPr marL="342900" lvl="1" indent="-342900" eaLnBrk="0" hangingPunct="0">
              <a:lnSpc>
                <a:spcPct val="80000"/>
              </a:lnSpc>
              <a:spcBef>
                <a:spcPct val="20000"/>
              </a:spcBef>
              <a:buSzPct val="70000"/>
              <a:buFont typeface="Wingdings" charset="2"/>
              <a:buChar char="q"/>
              <a:defRPr/>
            </a:pPr>
            <a:endParaRPr lang="en-US" sz="1400" dirty="0">
              <a:solidFill>
                <a:srgbClr val="000000"/>
              </a:solidFill>
              <a:latin typeface="Arial" charset="0"/>
              <a:ea typeface="ＭＳ Ｐゴシック" charset="-128"/>
            </a:endParaRPr>
          </a:p>
          <a:p>
            <a:pPr marL="742950" lvl="1" indent="-285750" eaLnBrk="0" hangingPunct="0">
              <a:spcBef>
                <a:spcPct val="20000"/>
              </a:spcBef>
              <a:buSzPct val="70000"/>
              <a:buFont typeface="Monotype Sorts" pitchFamily="2" charset="2"/>
              <a:buChar char="l"/>
              <a:defRPr/>
            </a:pPr>
            <a:endParaRPr lang="en-US" sz="1400" dirty="0">
              <a:latin typeface="Arial" charset="0"/>
              <a:ea typeface="+mn-ea"/>
            </a:endParaRPr>
          </a:p>
          <a:p>
            <a:pPr marL="742950" lvl="1" indent="-285750" algn="ctr" eaLnBrk="0" hangingPunct="0">
              <a:spcBef>
                <a:spcPct val="20000"/>
              </a:spcBef>
              <a:buSzPct val="70000"/>
              <a:defRPr/>
            </a:pPr>
            <a:endParaRPr lang="en-US" sz="1600" dirty="0">
              <a:latin typeface="Arial" charset="0"/>
              <a:ea typeface="+mn-ea"/>
            </a:endParaRPr>
          </a:p>
          <a:p>
            <a:pPr marL="742950" lvl="1" indent="-285750" eaLnBrk="0" hangingPunct="0">
              <a:spcBef>
                <a:spcPct val="20000"/>
              </a:spcBef>
              <a:buSzPct val="70000"/>
              <a:defRPr/>
            </a:pPr>
            <a:endParaRPr lang="en-US" sz="1600" dirty="0">
              <a:latin typeface="Arial" charset="0"/>
              <a:ea typeface="+mn-ea"/>
            </a:endParaRPr>
          </a:p>
          <a:p>
            <a:pPr marL="742950" lvl="1" indent="-285750" eaLnBrk="0" hangingPunct="0">
              <a:spcBef>
                <a:spcPct val="20000"/>
              </a:spcBef>
              <a:buSzPct val="70000"/>
              <a:buFont typeface="Monotype Sorts" pitchFamily="2" charset="2"/>
              <a:buChar char="l"/>
              <a:defRPr/>
            </a:pPr>
            <a:endParaRPr lang="en-US" sz="1400" dirty="0">
              <a:latin typeface="Arial" charset="0"/>
              <a:ea typeface="+mn-ea"/>
            </a:endParaRPr>
          </a:p>
          <a:p>
            <a:pPr marL="342900" indent="-342900" eaLnBrk="0" hangingPunct="0">
              <a:spcBef>
                <a:spcPct val="20000"/>
              </a:spcBef>
              <a:buSzPct val="70000"/>
              <a:defRPr/>
            </a:pPr>
            <a:endParaRPr lang="en-US" sz="1400" b="1" dirty="0">
              <a:solidFill>
                <a:schemeClr val="accent2"/>
              </a:solidFill>
              <a:latin typeface="Arial" charset="0"/>
              <a:ea typeface="+mn-ea"/>
            </a:endParaRPr>
          </a:p>
        </p:txBody>
      </p:sp>
      <p:sp>
        <p:nvSpPr>
          <p:cNvPr id="35" name="Rectangle 3"/>
          <p:cNvSpPr>
            <a:spLocks noChangeArrowheads="1"/>
          </p:cNvSpPr>
          <p:nvPr/>
        </p:nvSpPr>
        <p:spPr bwMode="auto">
          <a:xfrm>
            <a:off x="130628" y="1223039"/>
            <a:ext cx="5181601"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Zero Cross Detect (ZCD)</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ea typeface="+mn-ea"/>
              </a:rPr>
              <a:t>Senses when High-Voltage AC signal on pin crosses through ground</a:t>
            </a:r>
          </a:p>
          <a:p>
            <a:pPr marL="8048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Pin is held at constant safe voltage</a:t>
            </a:r>
          </a:p>
          <a:p>
            <a:pPr marL="804863" lvl="1" indent="-347663" eaLnBrk="0" hangingPunct="0">
              <a:lnSpc>
                <a:spcPct val="80000"/>
              </a:lnSpc>
              <a:spcBef>
                <a:spcPct val="20000"/>
              </a:spcBef>
              <a:buSzPct val="70000"/>
              <a:buFont typeface="Wingdings" charset="2"/>
              <a:buChar char="q"/>
              <a:defRPr/>
            </a:pPr>
            <a:r>
              <a:rPr lang="en-US" sz="1400" dirty="0" smtClean="0">
                <a:latin typeface="Arial" charset="0"/>
                <a:ea typeface="+mn-ea"/>
              </a:rPr>
              <a:t>No additional transient protection required</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ea typeface="+mn-ea"/>
              </a:rPr>
              <a:t>Indicates positive or negative phase</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ea typeface="+mn-ea"/>
              </a:rPr>
              <a:t>Generates interrupt on zero cross</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rPr>
              <a:t>Sets register flag on zero cross</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ea typeface="+mn-ea"/>
              </a:rPr>
              <a:t>Can be used to determine AC line frequency</a:t>
            </a:r>
          </a:p>
          <a:p>
            <a:pPr marL="347663" indent="-347663" eaLnBrk="0" hangingPunct="0">
              <a:lnSpc>
                <a:spcPct val="80000"/>
              </a:lnSpc>
              <a:spcBef>
                <a:spcPct val="20000"/>
              </a:spcBef>
              <a:buSzPct val="70000"/>
              <a:buFont typeface="Wingdings" charset="2"/>
              <a:buChar char="q"/>
              <a:defRPr/>
            </a:pPr>
            <a:r>
              <a:rPr lang="en-US" sz="1400" dirty="0" smtClean="0">
                <a:latin typeface="Arial" charset="0"/>
                <a:ea typeface="+mn-ea"/>
              </a:rPr>
              <a:t>Flexible interconnectivity with internal peripherals</a:t>
            </a:r>
            <a:endParaRPr lang="en-US" sz="800" dirty="0">
              <a:latin typeface="Arial" charset="0"/>
              <a:ea typeface="+mn-ea"/>
            </a:endParaRPr>
          </a:p>
          <a:p>
            <a:pPr marL="800100" lvl="2" indent="-342900" eaLnBrk="0" hangingPunct="0">
              <a:lnSpc>
                <a:spcPct val="80000"/>
              </a:lnSpc>
              <a:spcBef>
                <a:spcPct val="20000"/>
              </a:spcBef>
              <a:buSzPct val="70000"/>
              <a:buFont typeface="Wingdings" charset="2"/>
              <a:buChar char="q"/>
              <a:defRPr/>
            </a:pPr>
            <a:endParaRPr lang="en-US" sz="800" dirty="0">
              <a:latin typeface="Arial" charset="0"/>
              <a:ea typeface="+mn-ea"/>
            </a:endParaRPr>
          </a:p>
          <a:p>
            <a:pPr marL="800100" lvl="2" indent="-342900" eaLnBrk="0" hangingPunct="0">
              <a:lnSpc>
                <a:spcPct val="80000"/>
              </a:lnSpc>
              <a:spcBef>
                <a:spcPct val="20000"/>
              </a:spcBef>
              <a:buSzPct val="70000"/>
              <a:buFont typeface="Wingdings" charset="2"/>
              <a:buChar char="q"/>
              <a:defRPr/>
            </a:pPr>
            <a:endParaRPr lang="en-US" sz="800" b="1" dirty="0">
              <a:solidFill>
                <a:schemeClr val="accent2"/>
              </a:solidFill>
              <a:latin typeface="Arial" charset="0"/>
              <a:ea typeface="+mn-ea"/>
            </a:endParaRPr>
          </a:p>
          <a:p>
            <a:pPr marL="342900" lvl="1" indent="-342900" eaLnBrk="0" hangingPunct="0">
              <a:lnSpc>
                <a:spcPct val="80000"/>
              </a:lnSpc>
              <a:spcBef>
                <a:spcPct val="20000"/>
              </a:spcBef>
              <a:buSzPct val="70000"/>
              <a:defRPr/>
            </a:pPr>
            <a:endParaRPr lang="en-US" sz="1400" dirty="0">
              <a:latin typeface="Arial" charset="0"/>
              <a:ea typeface="+mn-ea"/>
            </a:endParaRPr>
          </a:p>
          <a:p>
            <a:pPr marL="742950" lvl="1" indent="-285750" eaLnBrk="0" hangingPunct="0">
              <a:spcBef>
                <a:spcPct val="20000"/>
              </a:spcBef>
              <a:buSzPct val="70000"/>
              <a:buFont typeface="Monotype Sorts" pitchFamily="2" charset="2"/>
              <a:buChar char="l"/>
              <a:defRPr/>
            </a:pPr>
            <a:endParaRPr lang="en-US" sz="1400" dirty="0">
              <a:latin typeface="Arial" charset="0"/>
              <a:ea typeface="+mn-ea"/>
            </a:endParaRPr>
          </a:p>
          <a:p>
            <a:pPr marL="742950" lvl="1" indent="-285750" eaLnBrk="0" hangingPunct="0">
              <a:spcBef>
                <a:spcPct val="20000"/>
              </a:spcBef>
              <a:buSzPct val="70000"/>
              <a:defRPr/>
            </a:pPr>
            <a:endParaRPr lang="en-US" sz="1600" dirty="0">
              <a:latin typeface="Arial" charset="0"/>
              <a:ea typeface="+mn-ea"/>
            </a:endParaRPr>
          </a:p>
          <a:p>
            <a:pPr marL="742950" lvl="1" indent="-285750" eaLnBrk="0" hangingPunct="0">
              <a:spcBef>
                <a:spcPct val="20000"/>
              </a:spcBef>
              <a:buSzPct val="70000"/>
              <a:defRPr/>
            </a:pPr>
            <a:endParaRPr lang="en-US" sz="1600" dirty="0">
              <a:latin typeface="Arial" charset="0"/>
              <a:ea typeface="+mn-ea"/>
            </a:endParaRPr>
          </a:p>
          <a:p>
            <a:pPr marL="742950" lvl="1" indent="-285750" eaLnBrk="0" hangingPunct="0">
              <a:spcBef>
                <a:spcPct val="20000"/>
              </a:spcBef>
              <a:buSzPct val="70000"/>
              <a:buFont typeface="Monotype Sorts" pitchFamily="2" charset="2"/>
              <a:buChar char="l"/>
              <a:defRPr/>
            </a:pPr>
            <a:endParaRPr lang="en-US" sz="1400" dirty="0">
              <a:latin typeface="Arial" charset="0"/>
              <a:ea typeface="+mn-ea"/>
            </a:endParaRPr>
          </a:p>
          <a:p>
            <a:pPr marL="342900" indent="-342900" eaLnBrk="0" hangingPunct="0">
              <a:spcBef>
                <a:spcPct val="20000"/>
              </a:spcBef>
              <a:buSzPct val="70000"/>
              <a:defRPr/>
            </a:pPr>
            <a:endParaRPr lang="en-US" sz="1400" b="1" dirty="0">
              <a:solidFill>
                <a:schemeClr val="accent2"/>
              </a:solidFill>
              <a:latin typeface="Arial" charset="0"/>
              <a:ea typeface="+mn-ea"/>
            </a:endParaRPr>
          </a:p>
        </p:txBody>
      </p:sp>
      <p:sp>
        <p:nvSpPr>
          <p:cNvPr id="18434" name="Title 1"/>
          <p:cNvSpPr>
            <a:spLocks noGrp="1"/>
          </p:cNvSpPr>
          <p:nvPr>
            <p:ph type="title"/>
          </p:nvPr>
        </p:nvSpPr>
        <p:spPr/>
        <p:txBody>
          <a:bodyPr/>
          <a:lstStyle/>
          <a:p>
            <a:pPr eaLnBrk="1" hangingPunct="1"/>
            <a:r>
              <a:rPr lang="en-US" dirty="0" smtClean="0">
                <a:solidFill>
                  <a:schemeClr val="tx1"/>
                </a:solidFill>
                <a:ea typeface="ＭＳ Ｐゴシック" pitchFamily="34" charset="-128"/>
              </a:rPr>
              <a:t>Zero Cross Detect</a:t>
            </a:r>
            <a:br>
              <a:rPr lang="en-US" dirty="0" smtClean="0">
                <a:solidFill>
                  <a:schemeClr val="tx1"/>
                </a:solidFill>
                <a:ea typeface="ＭＳ Ｐゴシック" pitchFamily="34" charset="-128"/>
              </a:rPr>
            </a:br>
            <a:r>
              <a:rPr lang="en-US" sz="2000" b="0" dirty="0" smtClean="0">
                <a:solidFill>
                  <a:schemeClr val="tx1"/>
                </a:solidFill>
                <a:ea typeface="ＭＳ Ｐゴシック" pitchFamily="34" charset="-128"/>
              </a:rPr>
              <a:t>High-Voltage AC Zero Crossing Detection</a:t>
            </a:r>
          </a:p>
        </p:txBody>
      </p:sp>
      <p:pic>
        <p:nvPicPr>
          <p:cNvPr id="39938" name="Picture 2"/>
          <p:cNvPicPr>
            <a:picLocks noChangeAspect="1" noChangeArrowheads="1"/>
          </p:cNvPicPr>
          <p:nvPr/>
        </p:nvPicPr>
        <p:blipFill>
          <a:blip r:embed="rId3"/>
          <a:srcRect/>
          <a:stretch>
            <a:fillRect/>
          </a:stretch>
        </p:blipFill>
        <p:spPr bwMode="auto">
          <a:xfrm>
            <a:off x="471488" y="3705743"/>
            <a:ext cx="8199437" cy="2530475"/>
          </a:xfrm>
          <a:prstGeom prst="rect">
            <a:avLst/>
          </a:prstGeom>
          <a:noFill/>
          <a:ln w="9525">
            <a:noFill/>
            <a:miter lim="800000"/>
            <a:headEnd/>
            <a:tailEnd/>
          </a:ln>
          <a:effectLst/>
        </p:spPr>
      </p:pic>
    </p:spTree>
    <p:extLst>
      <p:ext uri="{BB962C8B-B14F-4D97-AF65-F5344CB8AC3E}">
        <p14:creationId xmlns:p14="http://schemas.microsoft.com/office/powerpoint/2010/main" xmlns="" val="2371406917"/>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mtClean="0">
                <a:solidFill>
                  <a:schemeClr val="tx1"/>
                </a:solidFill>
                <a:ea typeface="ＭＳ Ｐゴシック" pitchFamily="34" charset="-128"/>
              </a:rPr>
              <a:t>High-Endurance </a:t>
            </a:r>
            <a:r>
              <a:rPr lang="en-US" dirty="0" smtClean="0">
                <a:solidFill>
                  <a:schemeClr val="tx1"/>
                </a:solidFill>
                <a:ea typeface="ＭＳ Ｐゴシック" pitchFamily="34" charset="-128"/>
              </a:rPr>
              <a:t>Flash</a:t>
            </a:r>
            <a:br>
              <a:rPr lang="en-US" dirty="0" smtClean="0">
                <a:solidFill>
                  <a:schemeClr val="tx1"/>
                </a:solidFill>
                <a:ea typeface="ＭＳ Ｐゴシック" pitchFamily="34" charset="-128"/>
              </a:rPr>
            </a:br>
            <a:r>
              <a:rPr lang="en-US" sz="2000" b="0" dirty="0" smtClean="0">
                <a:solidFill>
                  <a:schemeClr val="tx1"/>
                </a:solidFill>
                <a:ea typeface="ＭＳ Ｐゴシック" pitchFamily="34" charset="-128"/>
              </a:rPr>
              <a:t>Non-Volatile Data Storage without EEPROM</a:t>
            </a:r>
          </a:p>
        </p:txBody>
      </p:sp>
      <p:sp>
        <p:nvSpPr>
          <p:cNvPr id="5" name="Rectangle 3"/>
          <p:cNvSpPr>
            <a:spLocks noChangeArrowheads="1"/>
          </p:cNvSpPr>
          <p:nvPr/>
        </p:nvSpPr>
        <p:spPr bwMode="auto">
          <a:xfrm>
            <a:off x="130628" y="1223039"/>
            <a:ext cx="5421086" cy="3291840"/>
          </a:xfrm>
          <a:prstGeom prst="rect">
            <a:avLst/>
          </a:prstGeom>
          <a:noFill/>
          <a:ln w="9525">
            <a:noFill/>
            <a:miter lim="800000"/>
            <a:headEnd/>
            <a:tailEnd/>
          </a:ln>
        </p:spPr>
        <p:txBody>
          <a:bodyPr/>
          <a:lstStyle/>
          <a:p>
            <a:pPr eaLnBrk="1" hangingPunct="1">
              <a:buFont typeface="Monotype Sorts" pitchFamily="2" charset="2"/>
              <a:buNone/>
              <a:defRPr/>
            </a:pPr>
            <a:r>
              <a:rPr lang="en-US" sz="1800" b="1" dirty="0" smtClean="0">
                <a:solidFill>
                  <a:schemeClr val="accent2"/>
                </a:solidFill>
                <a:latin typeface="Arial" charset="0"/>
                <a:ea typeface="+mn-ea"/>
              </a:rPr>
              <a:t>High-Endurance Flash (HEF)</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128B of non-volatile data </a:t>
            </a:r>
            <a:r>
              <a:rPr lang="en-US" altLang="en-US" sz="1400" dirty="0">
                <a:latin typeface="Arial" charset="0"/>
              </a:rPr>
              <a:t>m</a:t>
            </a:r>
            <a:r>
              <a:rPr lang="en-US" altLang="en-US" sz="1400" dirty="0" smtClean="0">
                <a:latin typeface="Arial" charset="0"/>
              </a:rPr>
              <a:t>emory</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Shared with </a:t>
            </a:r>
            <a:r>
              <a:rPr lang="en-US" altLang="en-US" sz="1400" dirty="0"/>
              <a:t>F</a:t>
            </a:r>
            <a:r>
              <a:rPr lang="en-US" altLang="en-US" sz="1400" dirty="0" smtClean="0">
                <a:latin typeface="Arial" charset="0"/>
              </a:rPr>
              <a:t>lash </a:t>
            </a:r>
            <a:r>
              <a:rPr lang="en-US" altLang="en-US" sz="1400" dirty="0">
                <a:latin typeface="Arial" charset="0"/>
              </a:rPr>
              <a:t>p</a:t>
            </a:r>
            <a:r>
              <a:rPr lang="en-US" altLang="en-US" sz="1400" dirty="0" smtClean="0">
                <a:latin typeface="Arial" charset="0"/>
              </a:rPr>
              <a:t>rogram memory</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100k E/W cycle </a:t>
            </a:r>
            <a:r>
              <a:rPr lang="en-US" altLang="en-US" sz="1400" dirty="0">
                <a:latin typeface="Arial" charset="0"/>
              </a:rPr>
              <a:t>h</a:t>
            </a:r>
            <a:r>
              <a:rPr lang="en-US" altLang="en-US" sz="1400" dirty="0" smtClean="0">
                <a:latin typeface="Arial" charset="0"/>
              </a:rPr>
              <a:t>igh </a:t>
            </a:r>
            <a:r>
              <a:rPr lang="en-US" altLang="en-US" sz="1400" dirty="0">
                <a:latin typeface="Arial" charset="0"/>
              </a:rPr>
              <a:t>e</a:t>
            </a:r>
            <a:r>
              <a:rPr lang="en-US" altLang="en-US" sz="1400" dirty="0" smtClean="0">
                <a:latin typeface="Arial" charset="0"/>
              </a:rPr>
              <a:t>ndurance Flash</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a:p>
            <a:pPr marL="342900" indent="-342900" eaLnBrk="0" hangingPunct="0">
              <a:spcBef>
                <a:spcPct val="20000"/>
              </a:spcBef>
              <a:buSzPct val="70000"/>
              <a:defRPr/>
            </a:pPr>
            <a:r>
              <a:rPr lang="en-US" sz="1800" b="1" dirty="0" smtClean="0">
                <a:solidFill>
                  <a:schemeClr val="accent2"/>
                </a:solidFill>
                <a:latin typeface="Arial" charset="0"/>
              </a:rPr>
              <a:t>Benefits</a:t>
            </a:r>
            <a:endParaRPr lang="en-US" sz="2000" b="1" dirty="0" smtClean="0">
              <a:solidFill>
                <a:schemeClr val="accent2"/>
              </a:solidFill>
              <a:latin typeface="Arial" charset="0"/>
            </a:endParaRP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Provides non-volatile data storage</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Low cost alternative to EEPROM</a:t>
            </a:r>
          </a:p>
          <a:p>
            <a:pPr marL="347663" lvl="1" indent="-347663" eaLnBrk="0" hangingPunct="0">
              <a:lnSpc>
                <a:spcPct val="80000"/>
              </a:lnSpc>
              <a:spcBef>
                <a:spcPct val="20000"/>
              </a:spcBef>
              <a:buSzPct val="70000"/>
              <a:buFont typeface="Wingdings" charset="2"/>
              <a:buChar char="q"/>
              <a:defRPr/>
            </a:pPr>
            <a:r>
              <a:rPr lang="en-US" altLang="en-US" sz="1400" dirty="0" smtClean="0">
                <a:latin typeface="Arial" charset="0"/>
              </a:rPr>
              <a:t>Robust data storage &amp; durability</a:t>
            </a:r>
          </a:p>
          <a:p>
            <a:pPr marL="347663" lvl="1" indent="-347663" eaLnBrk="0" hangingPunct="0">
              <a:lnSpc>
                <a:spcPct val="80000"/>
              </a:lnSpc>
              <a:spcBef>
                <a:spcPct val="20000"/>
              </a:spcBef>
              <a:buSzPct val="70000"/>
              <a:buFont typeface="Wingdings" charset="2"/>
              <a:buChar char="q"/>
              <a:defRPr/>
            </a:pPr>
            <a:endParaRPr lang="en-US" sz="1400" dirty="0" smtClean="0">
              <a:solidFill>
                <a:srgbClr val="000000"/>
              </a:solidFill>
              <a:latin typeface="Arial" charset="0"/>
              <a:ea typeface="ＭＳ Ｐゴシック" charset="-128"/>
            </a:endParaRPr>
          </a:p>
          <a:p>
            <a:pPr marL="342900" indent="-342900" eaLnBrk="0" hangingPunct="0">
              <a:spcBef>
                <a:spcPct val="20000"/>
              </a:spcBef>
              <a:buSzPct val="70000"/>
              <a:defRPr/>
            </a:pPr>
            <a:r>
              <a:rPr lang="en-US" sz="1800" b="1" dirty="0" smtClean="0">
                <a:solidFill>
                  <a:schemeClr val="accent2"/>
                </a:solidFill>
                <a:latin typeface="Arial" charset="0"/>
              </a:rPr>
              <a:t>Example Uses</a:t>
            </a:r>
          </a:p>
          <a:p>
            <a:pPr marL="347663" lvl="1" indent="-347663" eaLnBrk="0" hangingPunct="0">
              <a:lnSpc>
                <a:spcPct val="80000"/>
              </a:lnSpc>
              <a:spcBef>
                <a:spcPct val="20000"/>
              </a:spcBef>
              <a:buClr>
                <a:schemeClr val="tx1"/>
              </a:buClr>
              <a:buSzPct val="70000"/>
              <a:buFont typeface="Wingdings" charset="2"/>
              <a:buChar char="q"/>
              <a:defRPr/>
            </a:pPr>
            <a:r>
              <a:rPr lang="en-US" altLang="en-US" sz="1400" dirty="0" smtClean="0">
                <a:latin typeface="Arial" charset="0"/>
              </a:rPr>
              <a:t>Data logging</a:t>
            </a:r>
          </a:p>
          <a:p>
            <a:pPr marL="347663" lvl="1" indent="-347663" eaLnBrk="0" hangingPunct="0">
              <a:lnSpc>
                <a:spcPct val="80000"/>
              </a:lnSpc>
              <a:spcBef>
                <a:spcPct val="20000"/>
              </a:spcBef>
              <a:buClr>
                <a:schemeClr val="tx1"/>
              </a:buClr>
              <a:buSzPct val="70000"/>
              <a:buFont typeface="Wingdings" charset="2"/>
              <a:buChar char="q"/>
              <a:defRPr/>
            </a:pPr>
            <a:r>
              <a:rPr lang="en-US" altLang="en-US" sz="1400" dirty="0" smtClean="0">
                <a:latin typeface="Arial" charset="0"/>
              </a:rPr>
              <a:t>Look-up tables</a:t>
            </a:r>
          </a:p>
          <a:p>
            <a:pPr marL="347663" lvl="1" indent="-347663" eaLnBrk="0" hangingPunct="0">
              <a:lnSpc>
                <a:spcPct val="80000"/>
              </a:lnSpc>
              <a:spcBef>
                <a:spcPct val="20000"/>
              </a:spcBef>
              <a:buClr>
                <a:schemeClr val="tx1"/>
              </a:buClr>
              <a:buSzPct val="70000"/>
              <a:buFont typeface="Wingdings" charset="2"/>
              <a:buChar char="q"/>
              <a:defRPr/>
            </a:pPr>
            <a:r>
              <a:rPr lang="en-US" altLang="en-US" sz="1400" dirty="0" smtClean="0">
                <a:latin typeface="Arial" charset="0"/>
              </a:rPr>
              <a:t>Configuration &amp; calibration settings</a:t>
            </a:r>
          </a:p>
          <a:p>
            <a:pPr marL="347663" lvl="1" indent="-347663" eaLnBrk="0" hangingPunct="0">
              <a:lnSpc>
                <a:spcPct val="80000"/>
              </a:lnSpc>
              <a:spcBef>
                <a:spcPct val="20000"/>
              </a:spcBef>
              <a:buSzPct val="70000"/>
              <a:buFont typeface="Wingdings" charset="2"/>
              <a:buChar char="q"/>
              <a:defRPr/>
            </a:pPr>
            <a:endParaRPr lang="en-US" sz="1400" dirty="0" smtClean="0">
              <a:latin typeface="Arial" charset="0"/>
              <a:ea typeface="+mn-ea"/>
            </a:endParaRPr>
          </a:p>
        </p:txBody>
      </p:sp>
      <p:sp>
        <p:nvSpPr>
          <p:cNvPr id="9" name="Rectangle 8"/>
          <p:cNvSpPr/>
          <p:nvPr/>
        </p:nvSpPr>
        <p:spPr>
          <a:xfrm>
            <a:off x="5125901" y="1933136"/>
            <a:ext cx="2417899" cy="1985721"/>
          </a:xfrm>
          <a:prstGeom prst="rect">
            <a:avLst/>
          </a:prstGeom>
          <a:solidFill>
            <a:schemeClr val="bg1">
              <a:lumMod val="85000"/>
            </a:schemeClr>
          </a:solidFill>
          <a:ln>
            <a:noFill/>
          </a:ln>
          <a:scene3d>
            <a:camera prst="orthographicFront"/>
            <a:lightRig rig="threePt" dir="t"/>
          </a:scene3d>
          <a:sp3d prstMaterial="dkEdge">
            <a:bevelT/>
            <a:bevelB/>
          </a:sp3d>
        </p:spPr>
        <p:style>
          <a:lnRef idx="1">
            <a:schemeClr val="accent1"/>
          </a:lnRef>
          <a:fillRef idx="2">
            <a:schemeClr val="accent1"/>
          </a:fillRef>
          <a:effectRef idx="1">
            <a:schemeClr val="accent1"/>
          </a:effectRef>
          <a:fontRef idx="minor">
            <a:schemeClr val="dk1"/>
          </a:fontRef>
        </p:style>
        <p:txBody>
          <a:bodyPr rtlCol="0" anchor="t" anchorCtr="1"/>
          <a:lstStyle/>
          <a:p>
            <a:endParaRPr lang="en-US" sz="500" b="1" dirty="0" smtClean="0">
              <a:solidFill>
                <a:schemeClr val="dk1"/>
              </a:solidFill>
            </a:endParaRPr>
          </a:p>
          <a:p>
            <a:r>
              <a:rPr lang="en-US" sz="1800" b="1" dirty="0" smtClean="0">
                <a:solidFill>
                  <a:schemeClr val="dk1"/>
                </a:solidFill>
              </a:rPr>
              <a:t>PIC</a:t>
            </a:r>
            <a:r>
              <a:rPr lang="en-US" sz="1800" b="1" baseline="30000" dirty="0" smtClean="0">
                <a:solidFill>
                  <a:schemeClr val="dk1"/>
                </a:solidFill>
              </a:rPr>
              <a:t>®</a:t>
            </a:r>
            <a:r>
              <a:rPr lang="en-US" sz="1800" b="1" dirty="0" smtClean="0">
                <a:solidFill>
                  <a:schemeClr val="dk1"/>
                </a:solidFill>
              </a:rPr>
              <a:t> Microcontroller</a:t>
            </a:r>
            <a:endParaRPr lang="en-US" sz="1800" b="1" dirty="0">
              <a:solidFill>
                <a:schemeClr val="dk1"/>
              </a:solidFill>
            </a:endParaRPr>
          </a:p>
        </p:txBody>
      </p:sp>
      <p:sp>
        <p:nvSpPr>
          <p:cNvPr id="10" name="Rounded Rectangle 9"/>
          <p:cNvSpPr/>
          <p:nvPr/>
        </p:nvSpPr>
        <p:spPr>
          <a:xfrm>
            <a:off x="5244555" y="2470441"/>
            <a:ext cx="2103120" cy="1132731"/>
          </a:xfrm>
          <a:prstGeom prst="roundRect">
            <a:avLst>
              <a:gd name="adj" fmla="val 12141"/>
            </a:avLst>
          </a:prstGeom>
          <a:solidFill>
            <a:schemeClr val="accent3">
              <a:lumMod val="95000"/>
            </a:schemeClr>
          </a:solidFill>
          <a:ln/>
        </p:spPr>
        <p:style>
          <a:lnRef idx="0">
            <a:schemeClr val="accent1"/>
          </a:lnRef>
          <a:fillRef idx="3">
            <a:schemeClr val="accent1"/>
          </a:fillRef>
          <a:effectRef idx="3">
            <a:schemeClr val="accent1"/>
          </a:effectRef>
          <a:fontRef idx="minor">
            <a:schemeClr val="lt1"/>
          </a:fontRef>
        </p:style>
        <p:txBody>
          <a:bodyPr lIns="0" rIns="0" rtlCol="0" anchor="t" anchorCtr="1"/>
          <a:lstStyle/>
          <a:p>
            <a:pPr algn="ctr"/>
            <a:r>
              <a:rPr lang="en-US" sz="1400" dirty="0" smtClean="0">
                <a:solidFill>
                  <a:schemeClr val="tx1"/>
                </a:solidFill>
              </a:rPr>
              <a:t>Flash Program Memory</a:t>
            </a:r>
            <a:endParaRPr lang="en-US" sz="1400" dirty="0">
              <a:solidFill>
                <a:schemeClr val="tx1"/>
              </a:solidFill>
            </a:endParaRPr>
          </a:p>
        </p:txBody>
      </p:sp>
      <p:grpSp>
        <p:nvGrpSpPr>
          <p:cNvPr id="17" name="Group 16"/>
          <p:cNvGrpSpPr/>
          <p:nvPr/>
        </p:nvGrpSpPr>
        <p:grpSpPr>
          <a:xfrm>
            <a:off x="4122712" y="2804875"/>
            <a:ext cx="2560320" cy="2560320"/>
            <a:chOff x="4122712" y="2909050"/>
            <a:chExt cx="2560320" cy="2560320"/>
          </a:xfrm>
        </p:grpSpPr>
        <p:sp>
          <p:nvSpPr>
            <p:cNvPr id="21" name="Circular Arrow 20"/>
            <p:cNvSpPr>
              <a:spLocks noChangeAspect="1"/>
            </p:cNvSpPr>
            <p:nvPr/>
          </p:nvSpPr>
          <p:spPr bwMode="auto">
            <a:xfrm rot="16686423">
              <a:off x="4122712" y="2909050"/>
              <a:ext cx="2560320" cy="2560320"/>
            </a:xfrm>
            <a:prstGeom prst="circularArrow">
              <a:avLst>
                <a:gd name="adj1" fmla="val 12500"/>
                <a:gd name="adj2" fmla="val 1142319"/>
                <a:gd name="adj3" fmla="val 20457681"/>
                <a:gd name="adj4" fmla="val 8672112"/>
                <a:gd name="adj5" fmla="val 12500"/>
              </a:avLst>
            </a:prstGeom>
            <a:solidFill>
              <a:srgbClr val="0070C0"/>
            </a:solidFill>
            <a:ln w="25400" cap="flat" cmpd="sng" algn="ctr">
              <a:noFill/>
              <a:prstDash val="solid"/>
              <a:round/>
              <a:headEnd type="none" w="med" len="med"/>
              <a:tailEnd type="none" w="med" len="med"/>
            </a:ln>
            <a:effectLst/>
            <a:scene3d>
              <a:camera prst="perspectiveLeft"/>
              <a:lightRig rig="threePt" dir="t"/>
            </a:scene3d>
            <a:sp3d extrusionH="508000"/>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2" name="Rectangle 21"/>
            <p:cNvSpPr>
              <a:spLocks noChangeAspect="1"/>
            </p:cNvSpPr>
            <p:nvPr/>
          </p:nvSpPr>
          <p:spPr>
            <a:xfrm rot="16200000">
              <a:off x="4628426" y="3135561"/>
              <a:ext cx="1610231" cy="1920240"/>
            </a:xfrm>
            <a:prstGeom prst="rect">
              <a:avLst/>
            </a:prstGeom>
            <a:noFill/>
          </p:spPr>
          <p:txBody>
            <a:bodyPr wrap="none" lIns="91440" tIns="45720" rIns="91440" bIns="45720">
              <a:prstTxWarp prst="textArchUp">
                <a:avLst>
                  <a:gd name="adj" fmla="val 9709709"/>
                </a:avLst>
              </a:prstTxWarp>
              <a:spAutoFit/>
            </a:bodyPr>
            <a:lstStyle/>
            <a:p>
              <a:pPr algn="ctr"/>
              <a:r>
                <a:rPr lang="en-US" sz="18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Writes</a:t>
              </a:r>
              <a:endParaRPr lang="en-US" sz="18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grpSp>
      <p:grpSp>
        <p:nvGrpSpPr>
          <p:cNvPr id="15" name="Group 14"/>
          <p:cNvGrpSpPr/>
          <p:nvPr/>
        </p:nvGrpSpPr>
        <p:grpSpPr>
          <a:xfrm>
            <a:off x="5908748" y="2804875"/>
            <a:ext cx="2560320" cy="2560320"/>
            <a:chOff x="5908748" y="2804875"/>
            <a:chExt cx="2560320" cy="2560320"/>
          </a:xfrm>
        </p:grpSpPr>
        <p:sp>
          <p:nvSpPr>
            <p:cNvPr id="25" name="Circular Arrow 24"/>
            <p:cNvSpPr>
              <a:spLocks noChangeAspect="1"/>
            </p:cNvSpPr>
            <p:nvPr/>
          </p:nvSpPr>
          <p:spPr bwMode="auto">
            <a:xfrm rot="5400000">
              <a:off x="5908748" y="2804875"/>
              <a:ext cx="2560320" cy="2560320"/>
            </a:xfrm>
            <a:prstGeom prst="circularArrow">
              <a:avLst>
                <a:gd name="adj1" fmla="val 12500"/>
                <a:gd name="adj2" fmla="val 1142319"/>
                <a:gd name="adj3" fmla="val 20457681"/>
                <a:gd name="adj4" fmla="val 10089013"/>
                <a:gd name="adj5" fmla="val 12500"/>
              </a:avLst>
            </a:prstGeom>
            <a:solidFill>
              <a:srgbClr val="BA8CDC"/>
            </a:solidFill>
            <a:ln w="25400" cap="flat" cmpd="sng" algn="ctr">
              <a:noFill/>
              <a:prstDash val="solid"/>
              <a:round/>
              <a:headEnd type="none" w="med" len="med"/>
              <a:tailEnd type="none" w="med" len="med"/>
            </a:ln>
            <a:effectLst/>
            <a:scene3d>
              <a:camera prst="perspectiveRight"/>
              <a:lightRig rig="threePt" dir="t"/>
            </a:scene3d>
            <a:sp3d extrusionH="419100"/>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charset="0"/>
              </a:endParaRPr>
            </a:p>
          </p:txBody>
        </p:sp>
        <p:sp>
          <p:nvSpPr>
            <p:cNvPr id="26" name="Rectangle 25"/>
            <p:cNvSpPr>
              <a:spLocks noChangeAspect="1"/>
            </p:cNvSpPr>
            <p:nvPr/>
          </p:nvSpPr>
          <p:spPr>
            <a:xfrm rot="5400000">
              <a:off x="6352887" y="3085906"/>
              <a:ext cx="1610227" cy="1920240"/>
            </a:xfrm>
            <a:prstGeom prst="rect">
              <a:avLst/>
            </a:prstGeom>
            <a:noFill/>
            <a:scene3d>
              <a:camera prst="perspectiveRight"/>
              <a:lightRig rig="threePt" dir="t"/>
            </a:scene3d>
            <a:sp3d extrusionH="508000"/>
          </p:spPr>
          <p:txBody>
            <a:bodyPr wrap="none" lIns="91440" tIns="45720" rIns="91440" bIns="45720">
              <a:prstTxWarp prst="textArchUp">
                <a:avLst>
                  <a:gd name="adj" fmla="val 9709709"/>
                </a:avLst>
              </a:prstTxWarp>
              <a:spAutoFit/>
            </a:bodyPr>
            <a:lstStyle/>
            <a:p>
              <a:pPr algn="ctr"/>
              <a:r>
                <a:rPr lang="en-US" sz="1800" b="1" cap="none" spc="50" dirty="0" smtClean="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rPr>
                <a:t>Reads</a:t>
              </a:r>
              <a:endParaRPr lang="en-US" sz="1800" b="1" cap="none" spc="5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endParaRPr>
            </a:p>
          </p:txBody>
        </p:sp>
      </p:grpSp>
      <p:sp>
        <p:nvSpPr>
          <p:cNvPr id="11" name="Rectangle 43"/>
          <p:cNvSpPr>
            <a:spLocks noChangeArrowheads="1"/>
          </p:cNvSpPr>
          <p:nvPr/>
        </p:nvSpPr>
        <p:spPr bwMode="auto">
          <a:xfrm>
            <a:off x="5566459" y="2873823"/>
            <a:ext cx="1459312" cy="587833"/>
          </a:xfrm>
          <a:prstGeom prst="rect">
            <a:avLst/>
          </a:prstGeom>
          <a:solidFill>
            <a:srgbClr val="92D050"/>
          </a:solidFill>
          <a:ln>
            <a:headEnd/>
            <a:tailEnd/>
          </a:ln>
        </p:spPr>
        <p:style>
          <a:lnRef idx="0">
            <a:schemeClr val="accent2"/>
          </a:lnRef>
          <a:fillRef idx="3">
            <a:schemeClr val="accent2"/>
          </a:fillRef>
          <a:effectRef idx="3">
            <a:schemeClr val="accent2"/>
          </a:effectRef>
          <a:fontRef idx="minor">
            <a:schemeClr val="lt1"/>
          </a:fontRef>
        </p:style>
        <p:txBody>
          <a:bodyPr wrap="square" anchor="ctr" anchorCtr="1">
            <a:noAutofit/>
          </a:bodyPr>
          <a:lstStyle/>
          <a:p>
            <a:pPr marL="182880" indent="-182880" algn="ctr">
              <a:defRPr/>
            </a:pPr>
            <a:r>
              <a:rPr lang="en-US" sz="1600" b="1" dirty="0" smtClean="0"/>
              <a:t>HEF</a:t>
            </a:r>
          </a:p>
        </p:txBody>
      </p:sp>
      <p:sp>
        <p:nvSpPr>
          <p:cNvPr id="16" name="Rectangle 43"/>
          <p:cNvSpPr>
            <a:spLocks noChangeArrowheads="1"/>
          </p:cNvSpPr>
          <p:nvPr/>
        </p:nvSpPr>
        <p:spPr bwMode="auto">
          <a:xfrm>
            <a:off x="5425261" y="4310746"/>
            <a:ext cx="1741710" cy="1436914"/>
          </a:xfrm>
          <a:prstGeom prst="cloud">
            <a:avLst/>
          </a:prstGeom>
          <a:solidFill>
            <a:schemeClr val="accent6">
              <a:lumMod val="20000"/>
              <a:lumOff val="80000"/>
            </a:schemeClr>
          </a:solidFill>
          <a:ln w="12700">
            <a:solidFill>
              <a:schemeClr val="tx1"/>
            </a:solidFill>
            <a:prstDash val="lgDash"/>
            <a:headEnd/>
            <a:tailEnd/>
          </a:ln>
        </p:spPr>
        <p:style>
          <a:lnRef idx="0">
            <a:schemeClr val="accent2"/>
          </a:lnRef>
          <a:fillRef idx="3">
            <a:schemeClr val="accent2"/>
          </a:fillRef>
          <a:effectRef idx="3">
            <a:schemeClr val="accent2"/>
          </a:effectRef>
          <a:fontRef idx="minor">
            <a:schemeClr val="lt1"/>
          </a:fontRef>
        </p:style>
        <p:txBody>
          <a:bodyPr wrap="square" lIns="0" tIns="0" rIns="0" bIns="0" anchor="ctr" anchorCtr="1">
            <a:noAutofit/>
          </a:bodyPr>
          <a:lstStyle/>
          <a:p>
            <a:pPr algn="ctr">
              <a:defRPr/>
            </a:pPr>
            <a:r>
              <a:rPr lang="en-US" sz="1200" b="1" dirty="0" smtClean="0">
                <a:solidFill>
                  <a:schemeClr val="tx1"/>
                </a:solidFill>
                <a:latin typeface="Arial" pitchFamily="34" charset="0"/>
                <a:cs typeface="Arial" pitchFamily="34" charset="0"/>
              </a:rPr>
              <a:t>Non-volatile Application Data</a:t>
            </a:r>
            <a:endParaRPr lang="en-US" sz="1200" b="1"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xmlns="" val="140731797"/>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MCHP Corporate PowerPoint Template 7-2014 - test them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MCU8 Templet.pptx</Template>
  <TotalTime>37479</TotalTime>
  <Words>2811</Words>
  <Application>Microsoft Office PowerPoint</Application>
  <PresentationFormat>On-screen Show (4:3)</PresentationFormat>
  <Paragraphs>808</Paragraphs>
  <Slides>28</Slides>
  <Notes>22</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MCHP Corporate PowerPoint Template 7-2014 - test theme</vt:lpstr>
      <vt:lpstr> Announcing the  PIC16(L)F161X 8-bit MCUs  </vt:lpstr>
      <vt:lpstr>Slide 2</vt:lpstr>
      <vt:lpstr>Slide 3</vt:lpstr>
      <vt:lpstr>Slide 4</vt:lpstr>
      <vt:lpstr>PIC16F(L)161X Target End Equipment &amp; Functions</vt:lpstr>
      <vt:lpstr>PIC16(L)F161X Block Diagram</vt:lpstr>
      <vt:lpstr>Function Enablement Flexible Peripheral Integration</vt:lpstr>
      <vt:lpstr>Function Enablement Flexible Peripheral Integration</vt:lpstr>
      <vt:lpstr>Function Enablement Flexible Peripheral Integration</vt:lpstr>
      <vt:lpstr>Function Enablement</vt:lpstr>
      <vt:lpstr>Advantages of  Core Independent Peripherals</vt:lpstr>
      <vt:lpstr>Angular Timer  Demonstration Platform</vt:lpstr>
      <vt:lpstr>Advantages of  Core Independent Peripherals</vt:lpstr>
      <vt:lpstr>Slide 14</vt:lpstr>
      <vt:lpstr>Slide 15</vt:lpstr>
      <vt:lpstr>Thank you!  </vt:lpstr>
      <vt:lpstr>PIC16(L)F161X  Back-up </vt:lpstr>
      <vt:lpstr>Slide 18</vt:lpstr>
      <vt:lpstr>Slide 19</vt:lpstr>
      <vt:lpstr>Slide 20</vt:lpstr>
      <vt:lpstr>Math Accelerator Hardware Accelerated Math Functions</vt:lpstr>
      <vt:lpstr>Slide 22</vt:lpstr>
      <vt:lpstr>Slide 23</vt:lpstr>
      <vt:lpstr>Slide 24</vt:lpstr>
      <vt:lpstr>Slide 25</vt:lpstr>
      <vt:lpstr>Slide 26</vt:lpstr>
      <vt:lpstr>Zero Cross Detect High-Voltage AC Zero Crossing Detection</vt:lpstr>
      <vt:lpstr>High-Endurance Flash Non-Volatile Data Storage without EEPROM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C14559</dc:creator>
  <cp:lastModifiedBy>C15218</cp:lastModifiedBy>
  <cp:revision>1028</cp:revision>
  <cp:lastPrinted>2014-10-24T21:54:52Z</cp:lastPrinted>
  <dcterms:created xsi:type="dcterms:W3CDTF">2011-01-10T20:52:51Z</dcterms:created>
  <dcterms:modified xsi:type="dcterms:W3CDTF">2014-11-10T17:54:27Z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